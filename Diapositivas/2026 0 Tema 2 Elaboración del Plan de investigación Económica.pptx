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23" r:id="rId2"/>
    <p:sldId id="722" r:id="rId3"/>
    <p:sldId id="731" r:id="rId4"/>
    <p:sldId id="725" r:id="rId5"/>
    <p:sldId id="726" r:id="rId6"/>
    <p:sldId id="727" r:id="rId7"/>
    <p:sldId id="728" r:id="rId8"/>
    <p:sldId id="729" r:id="rId9"/>
    <p:sldId id="730" r:id="rId10"/>
    <p:sldId id="732" r:id="rId11"/>
    <p:sldId id="73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333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957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11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1765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65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170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879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903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35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272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7FBF6DC-539E-4B2A-A21E-CEA4B38187F9}" type="datetimeFigureOut">
              <a:rPr lang="es-PE" smtClean="0"/>
              <a:t>19/01/2026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C18E5E-983A-4DF2-968F-2684628FC6C3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23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87E447-5764-0A7D-8227-BED4ACC94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PE" sz="3600" dirty="0"/>
              <a:t>TEMA 2: </a:t>
            </a:r>
            <a:br>
              <a:rPr lang="es-PE" sz="3600" dirty="0"/>
            </a:br>
            <a:r>
              <a:rPr lang="es-PE" sz="3600" dirty="0"/>
              <a:t>ELABORACION DEL PLAN DE INVESTIGACION</a:t>
            </a:r>
            <a:br>
              <a:rPr lang="es-PE" sz="3600" dirty="0"/>
            </a:br>
            <a:r>
              <a:rPr lang="es-PE" sz="3600" dirty="0"/>
              <a:t>(IDEAS INICIALES)</a:t>
            </a:r>
            <a:br>
              <a:rPr lang="es-PE" sz="3600" dirty="0"/>
            </a:br>
            <a:r>
              <a:rPr lang="es-PE" sz="3600" dirty="0"/>
              <a:t>Ciclo 2025 0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8C09AEE-2084-F8D3-598F-B5D0FBAB0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Dr. Pedro Barrientos Felipa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B43FBE7-3F74-44E4-14D1-E6C31CD5F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28" y="420949"/>
            <a:ext cx="2383743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7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67E8A-F9D2-39DE-8EDD-FE4A5B78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PE" sz="2800" dirty="0"/>
              <a:t>TAREA 1: ELECCION DEL TEMA DE INVESTIGACIÓN Y SU JUSTIFICACION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D0A325-9017-D585-2FD8-8F2C44A47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19539"/>
          </a:xfrm>
        </p:spPr>
        <p:txBody>
          <a:bodyPr anchor="ctr">
            <a:normAutofit/>
          </a:bodyPr>
          <a:lstStyle/>
          <a:p>
            <a:pPr marL="538163" lvl="1" indent="-538163">
              <a:buFont typeface="Wingdings" panose="05000000000000000000" pitchFamily="2" charset="2"/>
              <a:buChar char="v"/>
            </a:pPr>
            <a:r>
              <a:rPr lang="es-PE" sz="2400" dirty="0"/>
              <a:t>Presentar en documento impreso. (A4</a:t>
            </a:r>
            <a:r>
              <a:rPr lang="es-MX" sz="2400" dirty="0"/>
              <a:t>)</a:t>
            </a:r>
            <a:endParaRPr lang="es-PE" sz="2400" dirty="0"/>
          </a:p>
          <a:p>
            <a:pPr marL="538163" lvl="1" indent="-538163">
              <a:buFont typeface="Wingdings" panose="05000000000000000000" pitchFamily="2" charset="2"/>
              <a:buChar char="v"/>
            </a:pPr>
            <a:r>
              <a:rPr lang="es-PE" sz="2400" dirty="0"/>
              <a:t>Uso del aplicativo Word</a:t>
            </a:r>
          </a:p>
          <a:p>
            <a:pPr marL="538163" lvl="1" indent="-538163">
              <a:buFont typeface="Wingdings" panose="05000000000000000000" pitchFamily="2" charset="2"/>
              <a:buChar char="v"/>
            </a:pPr>
            <a:r>
              <a:rPr lang="es-PE" sz="2400" dirty="0"/>
              <a:t>Aplique las Normas APA 7 en el texto y referencias.</a:t>
            </a:r>
          </a:p>
          <a:p>
            <a:pPr marL="538163" lvl="1" indent="-538163">
              <a:buFont typeface="Wingdings" panose="05000000000000000000" pitchFamily="2" charset="2"/>
              <a:buChar char="v"/>
            </a:pPr>
            <a:r>
              <a:rPr lang="es-PE" sz="2400" dirty="0"/>
              <a:t>Contenido del documento a presentar: </a:t>
            </a:r>
          </a:p>
          <a:p>
            <a:pPr marL="808038" lvl="2" indent="-269875">
              <a:buFont typeface="Wingdings" panose="05000000000000000000" pitchFamily="2" charset="2"/>
              <a:buChar char="v"/>
            </a:pPr>
            <a:r>
              <a:rPr lang="es-PE" sz="1800" dirty="0"/>
              <a:t>Carátula de acuerdo a lo expuesto en la sesión.</a:t>
            </a:r>
          </a:p>
          <a:p>
            <a:pPr marL="808038" lvl="2" indent="-269875">
              <a:buFont typeface="Wingdings" panose="05000000000000000000" pitchFamily="2" charset="2"/>
              <a:buChar char="v"/>
            </a:pPr>
            <a:r>
              <a:rPr lang="es-PE" sz="1800" dirty="0"/>
              <a:t>Índice del contenido del documento</a:t>
            </a:r>
          </a:p>
          <a:p>
            <a:pPr marL="808038" lvl="2" indent="-269875">
              <a:buFont typeface="Wingdings" panose="05000000000000000000" pitchFamily="2" charset="2"/>
              <a:buChar char="v"/>
            </a:pPr>
            <a:r>
              <a:rPr lang="es-PE" sz="1800" dirty="0"/>
              <a:t>Justificación : Mínimo 200 palabras</a:t>
            </a:r>
          </a:p>
          <a:p>
            <a:pPr marL="808038" lvl="2" indent="-269875">
              <a:buFont typeface="Wingdings" panose="05000000000000000000" pitchFamily="2" charset="2"/>
              <a:buChar char="v"/>
            </a:pPr>
            <a:r>
              <a:rPr lang="es-PE" sz="1800" dirty="0"/>
              <a:t>Referencias bibliográficas: Mínimo 10 artículos. </a:t>
            </a:r>
          </a:p>
          <a:p>
            <a:pPr marL="808038" lvl="2" indent="-269875">
              <a:buFont typeface="Wingdings" panose="05000000000000000000" pitchFamily="2" charset="2"/>
              <a:buChar char="v"/>
            </a:pPr>
            <a:r>
              <a:rPr lang="es-PE" sz="1800" dirty="0"/>
              <a:t>Repositorios a consultar: Scielo, </a:t>
            </a:r>
            <a:r>
              <a:rPr lang="es-PE" sz="1800" dirty="0" err="1"/>
              <a:t>Scopus</a:t>
            </a:r>
            <a:r>
              <a:rPr lang="es-PE" sz="1800" dirty="0"/>
              <a:t>, </a:t>
            </a:r>
            <a:r>
              <a:rPr lang="es-PE" sz="1800" dirty="0" err="1"/>
              <a:t>Wos</a:t>
            </a:r>
            <a:endParaRPr lang="es-PE" sz="1800" dirty="0"/>
          </a:p>
          <a:p>
            <a:pPr marL="721043" lvl="2" indent="-538163">
              <a:buFont typeface="Wingdings" panose="05000000000000000000" pitchFamily="2" charset="2"/>
              <a:buChar char="v"/>
            </a:pP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24849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5D152-A164-83E7-B1FA-1E8AD854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LA INVESTIGACION: PROCESO DOCUMENTAL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E8A1C6-33C0-7964-2CB9-6F62CF0843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92500" lnSpcReduction="10000"/>
          </a:bodyPr>
          <a:lstStyle/>
          <a:p>
            <a:pPr marL="571500" indent="-571500">
              <a:buFont typeface="+mj-lt"/>
              <a:buAutoNum type="romanUcPeriod"/>
            </a:pPr>
            <a:r>
              <a:rPr lang="es-PE" dirty="0"/>
              <a:t>RAZONES DE LA INVESTIGACION</a:t>
            </a:r>
          </a:p>
          <a:p>
            <a:pPr lvl="1"/>
            <a:r>
              <a:rPr lang="es-PE" dirty="0"/>
              <a:t>Tema</a:t>
            </a:r>
          </a:p>
          <a:p>
            <a:pPr lvl="1" algn="just"/>
            <a:r>
              <a:rPr lang="es-PE" dirty="0"/>
              <a:t>Justificación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s-PE" dirty="0"/>
              <a:t>PLAN DE INVESTIGACION</a:t>
            </a:r>
          </a:p>
          <a:p>
            <a:pPr lvl="1" algn="just"/>
            <a:r>
              <a:rPr lang="es-PE" dirty="0"/>
              <a:t>Proceso de investigación</a:t>
            </a:r>
          </a:p>
          <a:p>
            <a:pPr lvl="2" algn="just"/>
            <a:r>
              <a:rPr lang="es-PE" dirty="0"/>
              <a:t>Directiva 080 - UNMSM</a:t>
            </a:r>
          </a:p>
          <a:p>
            <a:pPr marL="457200" indent="-457200" algn="just">
              <a:buFont typeface="+mj-lt"/>
              <a:buAutoNum type="romanUcPeriod"/>
            </a:pPr>
            <a:r>
              <a:rPr lang="es-PE" dirty="0"/>
              <a:t>INVESTIGACION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C7AE60-A77E-A6C8-CE07-8BEF7342E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4166" y="1959429"/>
            <a:ext cx="3951514" cy="4274457"/>
          </a:xfrm>
          <a:solidFill>
            <a:schemeClr val="accent2"/>
          </a:solidFill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PE" sz="1600" b="1" dirty="0">
                <a:solidFill>
                  <a:schemeClr val="bg1"/>
                </a:solidFill>
              </a:rPr>
              <a:t>PLAN DE INVESTIGACION</a:t>
            </a:r>
            <a:r>
              <a:rPr lang="es-PE" sz="16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s-PE" sz="1600" dirty="0">
                <a:solidFill>
                  <a:schemeClr val="bg1"/>
                </a:solidFill>
              </a:rPr>
              <a:t>(Directiva 080 UNMSM)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PROBLEMA DE INVESTIGACION</a:t>
            </a:r>
          </a:p>
          <a:p>
            <a:pPr marL="1028700" lvl="1" indent="-398463">
              <a:buFont typeface="+mj-lt"/>
              <a:buAutoNum type="arabicPeriod"/>
            </a:pPr>
            <a:r>
              <a:rPr lang="es-PE" sz="1600" dirty="0">
                <a:solidFill>
                  <a:schemeClr val="bg1"/>
                </a:solidFill>
              </a:rPr>
              <a:t>Análisis del contexto</a:t>
            </a:r>
          </a:p>
          <a:p>
            <a:pPr marL="1028700" lvl="1" indent="-398463">
              <a:buFont typeface="+mj-lt"/>
              <a:buAutoNum type="arabicPeriod"/>
            </a:pPr>
            <a:r>
              <a:rPr lang="es-PE" sz="1600" dirty="0">
                <a:solidFill>
                  <a:schemeClr val="bg1"/>
                </a:solidFill>
              </a:rPr>
              <a:t>Formulación del problema</a:t>
            </a:r>
          </a:p>
          <a:p>
            <a:pPr marL="1028700" lvl="1" indent="-398463">
              <a:buFont typeface="+mj-lt"/>
              <a:buAutoNum type="arabicPeriod"/>
            </a:pPr>
            <a:r>
              <a:rPr lang="es-PE" sz="1600" dirty="0">
                <a:solidFill>
                  <a:schemeClr val="bg1"/>
                </a:solidFill>
              </a:rPr>
              <a:t>Justificación de la investigación</a:t>
            </a:r>
          </a:p>
          <a:p>
            <a:pPr marL="1028700" lvl="1" indent="-398463">
              <a:buFont typeface="+mj-lt"/>
              <a:buAutoNum type="arabicPeriod"/>
            </a:pPr>
            <a:r>
              <a:rPr lang="es-PE" sz="1600" dirty="0">
                <a:solidFill>
                  <a:schemeClr val="bg1"/>
                </a:solidFill>
              </a:rPr>
              <a:t>Objetivos de la investigación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MARCO TEORICO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HIPOTESIS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METODOLOGIA DE LA INVESTIGACIÓN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CONCLUSIONES Y RECOMENDACIONES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REFERENCIAS BIBLOGRÁFICAS</a:t>
            </a:r>
          </a:p>
          <a:p>
            <a:pPr marL="571500" indent="-571500">
              <a:buFont typeface="+mj-lt"/>
              <a:buAutoNum type="romanUcPeriod"/>
            </a:pPr>
            <a:r>
              <a:rPr lang="es-PE" sz="1600" dirty="0">
                <a:solidFill>
                  <a:schemeClr val="bg1"/>
                </a:solidFill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6796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42A21-DE52-CAB0-3F07-33E58AE5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2" anchor="ctr">
            <a:normAutofit/>
          </a:bodyPr>
          <a:lstStyle/>
          <a:p>
            <a:r>
              <a:rPr lang="es-PE" sz="2800" dirty="0"/>
              <a:t>FUENTES DE IDEAS PARA UNA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7ADB28-BDE5-0BD6-8BE5-A198BB6D1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1737360"/>
            <a:ext cx="10199914" cy="4755515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Existe una gran diversidad de fuentes que pueden generar ideas de investigación, entre las cuales podemos mencionar: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las necesidades y experiencias individuales, tanto propias como de otras personas,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materiales escritos (libros, artículos de revistas científicas o de divulgación popular, periódicos y tesis),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elementos audiovisuales y programas de radio, televisión, información disponible en internet (dentro de su amplia gama de posibilidades, como páginas web, foros de discusión, redes sociales y otras),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teorías expresadas en distintos medios, descubrimientos, desarrollos tecnológicos y productos fruto de investigaciones;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conversaciones personales,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observaciones de hechos,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las propias clases con los profesores, </a:t>
            </a:r>
          </a:p>
          <a:p>
            <a:pPr marL="541338" indent="-541338">
              <a:buFont typeface="Wingdings" panose="05000000000000000000" pitchFamily="2" charset="2"/>
              <a:buChar char="v"/>
            </a:pPr>
            <a:r>
              <a:rPr lang="es-MX" dirty="0"/>
              <a:t>creencias e incluso intuiciones y presentimientos.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0444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D6828-C6F2-E430-5F7D-125FA462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UNA NECESIDAD: LOS ANTECEDENTES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7C4CC8-17C6-A008-EDAA-DE0159277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1341912"/>
            <a:ext cx="6934200" cy="5150963"/>
          </a:xfrm>
        </p:spPr>
        <p:txBody>
          <a:bodyPr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MX" dirty="0"/>
              <a:t>Con la finalidad de concretar la idea de investigación es indispensable revisar estudios, investigaciones y trabajos anteriores, especialmente si uno no es experto en el tema. Conocer lo que se ha hecho respecto de una idea ayuda a:</a:t>
            </a:r>
          </a:p>
          <a:p>
            <a:pPr>
              <a:lnSpc>
                <a:spcPct val="100000"/>
              </a:lnSpc>
            </a:pPr>
            <a:r>
              <a:rPr lang="es-MX" dirty="0"/>
              <a:t>Evitar temas que ya se han investigado tan a fondo que se conocen ampliamente.</a:t>
            </a:r>
          </a:p>
          <a:p>
            <a:pPr>
              <a:lnSpc>
                <a:spcPct val="100000"/>
              </a:lnSpc>
            </a:pPr>
            <a:r>
              <a:rPr lang="es-MX" dirty="0"/>
              <a:t>Estructurar con mayor claridad la idea de investigación.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9FF2AC-944E-021E-3ACE-9EE83F68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54" y="2927317"/>
            <a:ext cx="3619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4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DBAF8-EA25-9670-D0D6-93EFF878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IDEAS CON POTENCIAL PARA INICIAR LA RUTA DE LA INVESTIGACION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B2E1B8-8F3C-9C93-6814-D122F82C7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MX" dirty="0"/>
              <a:t> Estructurar con mayor claridad la idea de investigación.</a:t>
            </a:r>
          </a:p>
          <a:p>
            <a:r>
              <a:rPr lang="es-MX" dirty="0"/>
              <a:t>Las ideas de investigación que producen conocimiento no son necesariamente nuevas, pero sí novedosas. </a:t>
            </a:r>
          </a:p>
          <a:p>
            <a:r>
              <a:rPr lang="es-MX" dirty="0"/>
              <a:t>Las buenas ideas de investigación pueden servir para elaborar teorías y solucionar problemáticas.</a:t>
            </a:r>
          </a:p>
          <a:p>
            <a:r>
              <a:rPr lang="es-MX" dirty="0"/>
              <a:t>Las ideas de investigación bien desarrolladas pueden fomentar nuevas interrogantes. </a:t>
            </a:r>
          </a:p>
          <a:p>
            <a:endParaRPr lang="es-MX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7333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B0EC1-2023-64BA-0FD4-F0BC2B9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SUGERENCIAS PARA DESARROLLAR IDEAS QUE GUIEN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B4572-6C14-D3AD-0D57-7CC502182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Selecciona temas que no sean demasiado generales.</a:t>
            </a:r>
          </a:p>
          <a:p>
            <a:r>
              <a:rPr lang="es-MX" dirty="0"/>
              <a:t>Asegurarse  que hay información disponible sobre tu idea. Para este fin busca revistas actuales relacionadas con tu tema (en internet hay una gran variedad).</a:t>
            </a:r>
          </a:p>
          <a:p>
            <a:r>
              <a:rPr lang="es-MX" dirty="0"/>
              <a:t>Comparte la idea con profesores, amigos, familiares y otras personas informadas (en persona y en redes sociales de internet) para conocer opiniones, datos y referencias. Hay redes específicas para investigadores, como </a:t>
            </a:r>
            <a:r>
              <a:rPr lang="es-MX" dirty="0" err="1"/>
              <a:t>Research</a:t>
            </a:r>
            <a:r>
              <a:rPr lang="es-MX" dirty="0"/>
              <a:t> Gate.</a:t>
            </a:r>
          </a:p>
          <a:p>
            <a:r>
              <a:rPr lang="es-MX" dirty="0"/>
              <a:t>Meditar y escribir sobre las implicaciones de estudiar la idea, no solamente enunciarla.</a:t>
            </a:r>
          </a:p>
          <a:p>
            <a:r>
              <a:rPr lang="es-MX" dirty="0"/>
              <a:t>Reflexiona sobre la idea para enfocarte en cierto aspecto. </a:t>
            </a:r>
          </a:p>
          <a:p>
            <a:r>
              <a:rPr lang="es-MX" dirty="0"/>
              <a:t>Determina palabras o términos que describan o se refieran a la idea (esto ayuda a precisarla y buscar información sobre ella). </a:t>
            </a:r>
          </a:p>
          <a:p>
            <a:r>
              <a:rPr lang="es-MX" dirty="0"/>
              <a:t>Relacionar nuestros intereses, ideas personales y experiencias con la idea de investigación.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9289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CC741-998C-32BB-F1E7-FEB97C5E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PE" sz="2800" dirty="0"/>
              <a:t>LA INVESTIGACION EN EL DESARROLLO PROFESIONAL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4346CEB-BAB9-B935-AD8C-219F4EB02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501930"/>
              </p:ext>
            </p:extLst>
          </p:nvPr>
        </p:nvGraphicFramePr>
        <p:xfrm>
          <a:off x="1096963" y="1846263"/>
          <a:ext cx="10058400" cy="3073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692">
                  <a:extLst>
                    <a:ext uri="{9D8B030D-6E8A-4147-A177-3AD203B41FA5}">
                      <a16:colId xmlns:a16="http://schemas.microsoft.com/office/drawing/2014/main" val="1780416448"/>
                    </a:ext>
                  </a:extLst>
                </a:gridCol>
                <a:gridCol w="6384708">
                  <a:extLst>
                    <a:ext uri="{9D8B030D-6E8A-4147-A177-3AD203B41FA5}">
                      <a16:colId xmlns:a16="http://schemas.microsoft.com/office/drawing/2014/main" val="4020641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Especialización en economía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Idea de investigación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98066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Finanzas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759040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Planeamiento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485714692"/>
                  </a:ext>
                </a:extLst>
              </a:tr>
              <a:tr h="477915">
                <a:tc>
                  <a:txBody>
                    <a:bodyPr/>
                    <a:lstStyle/>
                    <a:p>
                      <a:r>
                        <a:rPr lang="es-PE" dirty="0"/>
                        <a:t>Comercio internacional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158656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Instituciones internacionales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6058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Política Monetaria internacional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419765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Acuerdos comerciales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34186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Políticas pública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774132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93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4AEF7-8C9B-0666-A28E-5C95EEF74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2800" dirty="0"/>
              <a:t>EL PLAN DE INVESTIGACION</a:t>
            </a:r>
            <a:br>
              <a:rPr lang="es-PE" sz="2800" dirty="0"/>
            </a:br>
            <a:r>
              <a:rPr lang="es-PE" sz="2800" dirty="0"/>
              <a:t>Tema de investigación: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IMPACTO DEL COVID 19 EN LAS POLITICAS DE GOBIERNOEN EL COMERCIO EXTERIOR </a:t>
            </a:r>
            <a:endParaRPr lang="es-PE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D45663-2598-55C4-7D60-87AC141A6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39952"/>
            <a:ext cx="4303143" cy="727794"/>
          </a:xfrm>
          <a:solidFill>
            <a:schemeClr val="accent2"/>
          </a:solidFill>
        </p:spPr>
        <p:txBody>
          <a:bodyPr anchor="ctr"/>
          <a:lstStyle/>
          <a:p>
            <a:r>
              <a:rPr lang="es-PE" dirty="0">
                <a:solidFill>
                  <a:schemeClr val="bg1"/>
                </a:solidFill>
              </a:rPr>
              <a:t>TEMA DE INVESTIGACION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D1BD479-FEE4-995C-F3C7-636F37D7036D}"/>
              </a:ext>
            </a:extLst>
          </p:cNvPr>
          <p:cNvSpPr txBox="1">
            <a:spLocks/>
          </p:cNvSpPr>
          <p:nvPr/>
        </p:nvSpPr>
        <p:spPr>
          <a:xfrm>
            <a:off x="2322375" y="2761908"/>
            <a:ext cx="4881113" cy="98931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>
                <a:solidFill>
                  <a:schemeClr val="bg1"/>
                </a:solidFill>
              </a:rPr>
              <a:t>PROBLEMA DE INVESTIGACION: ¿Cuál es el impacto del </a:t>
            </a:r>
            <a:r>
              <a:rPr lang="es-PE" dirty="0" err="1">
                <a:solidFill>
                  <a:schemeClr val="bg1"/>
                </a:solidFill>
              </a:rPr>
              <a:t>covid</a:t>
            </a:r>
            <a:r>
              <a:rPr lang="es-PE" dirty="0">
                <a:solidFill>
                  <a:schemeClr val="bg1"/>
                </a:solidFill>
              </a:rPr>
              <a:t> 19 en las políticas de gobierno en comercio exterior?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14074FA-F55A-A5CB-9613-37CABD91837A}"/>
              </a:ext>
            </a:extLst>
          </p:cNvPr>
          <p:cNvSpPr txBox="1">
            <a:spLocks/>
          </p:cNvSpPr>
          <p:nvPr/>
        </p:nvSpPr>
        <p:spPr>
          <a:xfrm>
            <a:off x="3922143" y="3957061"/>
            <a:ext cx="4881113" cy="96615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>
                <a:solidFill>
                  <a:schemeClr val="bg1"/>
                </a:solidFill>
              </a:rPr>
              <a:t>OBJETIVOSDE INVESTIGACION. Determinar el impacto del </a:t>
            </a:r>
            <a:r>
              <a:rPr lang="es-PE" dirty="0" err="1">
                <a:solidFill>
                  <a:schemeClr val="bg1"/>
                </a:solidFill>
              </a:rPr>
              <a:t>Covid</a:t>
            </a:r>
            <a:r>
              <a:rPr lang="es-PE" dirty="0">
                <a:solidFill>
                  <a:schemeClr val="bg1"/>
                </a:solidFill>
              </a:rPr>
              <a:t> 19 en las políticas  de gobierno en comercio exterior.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50101F1-5376-323A-6E04-5A5F8D9C9CD1}"/>
              </a:ext>
            </a:extLst>
          </p:cNvPr>
          <p:cNvSpPr txBox="1">
            <a:spLocks/>
          </p:cNvSpPr>
          <p:nvPr/>
        </p:nvSpPr>
        <p:spPr>
          <a:xfrm>
            <a:off x="5452326" y="5117381"/>
            <a:ext cx="4881113" cy="85353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2000" dirty="0">
                <a:solidFill>
                  <a:schemeClr val="bg1"/>
                </a:solidFill>
              </a:rPr>
              <a:t>HIPOTESIS DE INVESTIGACION</a:t>
            </a:r>
          </a:p>
        </p:txBody>
      </p:sp>
      <p:sp>
        <p:nvSpPr>
          <p:cNvPr id="7" name="Flecha: curvada hacia la derecha 6">
            <a:extLst>
              <a:ext uri="{FF2B5EF4-FFF2-40B4-BE49-F238E27FC236}">
                <a16:creationId xmlns:a16="http://schemas.microsoft.com/office/drawing/2014/main" id="{A834E0FA-3E57-FCFD-93F2-9353250B2DEC}"/>
              </a:ext>
            </a:extLst>
          </p:cNvPr>
          <p:cNvSpPr/>
          <p:nvPr/>
        </p:nvSpPr>
        <p:spPr>
          <a:xfrm flipH="1">
            <a:off x="7429500" y="1943201"/>
            <a:ext cx="800100" cy="138684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8" name="Flecha: curvada hacia la derecha 7">
            <a:extLst>
              <a:ext uri="{FF2B5EF4-FFF2-40B4-BE49-F238E27FC236}">
                <a16:creationId xmlns:a16="http://schemas.microsoft.com/office/drawing/2014/main" id="{ADF337FA-2FC6-1590-00AC-57ED378D5CD3}"/>
              </a:ext>
            </a:extLst>
          </p:cNvPr>
          <p:cNvSpPr/>
          <p:nvPr/>
        </p:nvSpPr>
        <p:spPr>
          <a:xfrm flipH="1">
            <a:off x="9029268" y="3256564"/>
            <a:ext cx="800100" cy="138684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9" name="Flecha: curvada hacia la derecha 8">
            <a:extLst>
              <a:ext uri="{FF2B5EF4-FFF2-40B4-BE49-F238E27FC236}">
                <a16:creationId xmlns:a16="http://schemas.microsoft.com/office/drawing/2014/main" id="{9DD5A11F-DA5E-F56A-F74D-8DA0BC4FEB50}"/>
              </a:ext>
            </a:extLst>
          </p:cNvPr>
          <p:cNvSpPr/>
          <p:nvPr/>
        </p:nvSpPr>
        <p:spPr>
          <a:xfrm flipH="1">
            <a:off x="10559451" y="4330984"/>
            <a:ext cx="800100" cy="138684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8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67E8A-F9D2-39DE-8EDD-FE4A5B78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PE" sz="2800" dirty="0"/>
              <a:t>TAREA 2: DESARROLLO DEL PROBLEMA DE INVESTIGACION</a:t>
            </a:r>
            <a:br>
              <a:rPr lang="es-PE" sz="2800" dirty="0"/>
            </a:br>
            <a:r>
              <a:rPr lang="es-PE" sz="2800" dirty="0"/>
              <a:t>(</a:t>
            </a:r>
            <a:r>
              <a:rPr lang="es-PE" sz="2000" dirty="0"/>
              <a:t>para el 28 de setiembre, 2022)</a:t>
            </a:r>
            <a:endParaRPr lang="es-PE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D0A325-9017-D585-2FD8-8F2C44A4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201168" lvl="1" indent="0">
              <a:buNone/>
            </a:pPr>
            <a:r>
              <a:rPr lang="es-PE" sz="3200" dirty="0"/>
              <a:t>Presentar</a:t>
            </a:r>
          </a:p>
          <a:p>
            <a:pPr lvl="1"/>
            <a:r>
              <a:rPr lang="es-PE" sz="2400" dirty="0"/>
              <a:t>Análisis del contexto</a:t>
            </a:r>
          </a:p>
          <a:p>
            <a:pPr lvl="2"/>
            <a:r>
              <a:rPr lang="es-PE" sz="2400" dirty="0"/>
              <a:t>Formulación del problema</a:t>
            </a:r>
          </a:p>
          <a:p>
            <a:pPr lvl="3"/>
            <a:r>
              <a:rPr lang="es-PE" sz="2400" dirty="0"/>
              <a:t>Problema principal</a:t>
            </a:r>
          </a:p>
          <a:p>
            <a:pPr lvl="3"/>
            <a:r>
              <a:rPr lang="es-PE" sz="2400" dirty="0"/>
              <a:t>Problemas específicos</a:t>
            </a:r>
          </a:p>
          <a:p>
            <a:pPr lvl="2"/>
            <a:r>
              <a:rPr lang="es-PE" sz="2400" dirty="0"/>
              <a:t>Justificación de la investigación</a:t>
            </a:r>
          </a:p>
          <a:p>
            <a:pPr lvl="2"/>
            <a:r>
              <a:rPr lang="es-PE" sz="2400" dirty="0"/>
              <a:t>Objetivos de la investigación</a:t>
            </a:r>
          </a:p>
          <a:p>
            <a:pPr lvl="3"/>
            <a:r>
              <a:rPr lang="es-PE" sz="2400" dirty="0"/>
              <a:t>Objetivo principal</a:t>
            </a:r>
          </a:p>
          <a:p>
            <a:pPr lvl="3"/>
            <a:r>
              <a:rPr lang="es-PE" sz="2400" dirty="0"/>
              <a:t>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201222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40327" y="440575"/>
            <a:ext cx="110143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Justificacion</a:t>
            </a:r>
            <a:r>
              <a:rPr lang="es-MX" dirty="0" smtClean="0"/>
              <a:t>: la importancia del tema de investigación.</a:t>
            </a:r>
          </a:p>
          <a:p>
            <a:r>
              <a:rPr lang="es-MX" dirty="0" smtClean="0"/>
              <a:t>Teoría </a:t>
            </a:r>
          </a:p>
          <a:p>
            <a:r>
              <a:rPr lang="es-MX" dirty="0" smtClean="0"/>
              <a:t>Práctica </a:t>
            </a:r>
          </a:p>
          <a:p>
            <a:r>
              <a:rPr lang="es-MX" dirty="0" err="1" smtClean="0"/>
              <a:t>Metodologica</a:t>
            </a:r>
            <a:endParaRPr lang="es-MX" dirty="0" smtClean="0"/>
          </a:p>
          <a:p>
            <a:r>
              <a:rPr lang="es-MX" dirty="0" smtClean="0"/>
              <a:t>Problema de la Investigación. </a:t>
            </a:r>
          </a:p>
          <a:p>
            <a:r>
              <a:rPr lang="es-MX" dirty="0"/>
              <a:t>	</a:t>
            </a:r>
            <a:r>
              <a:rPr lang="es-MX" dirty="0" smtClean="0"/>
              <a:t>problema principal. </a:t>
            </a:r>
          </a:p>
          <a:p>
            <a:r>
              <a:rPr lang="es-MX" dirty="0"/>
              <a:t>	</a:t>
            </a:r>
            <a:r>
              <a:rPr lang="es-MX" b="1" dirty="0" smtClean="0"/>
              <a:t>¿Cuáles son los factores , de formalidad empresarial y de la percepción Institucional determinan la 	victimización por extorsión  en las microempresas de Huaycán ?</a:t>
            </a:r>
          </a:p>
          <a:p>
            <a:r>
              <a:rPr lang="es-MX" dirty="0"/>
              <a:t>	</a:t>
            </a:r>
            <a:r>
              <a:rPr lang="es-MX" dirty="0" smtClean="0"/>
              <a:t>problemas específicos entres 1-3 problemas específicos el profesor sugiere 2</a:t>
            </a:r>
          </a:p>
          <a:p>
            <a:r>
              <a:rPr lang="es-MX" dirty="0" smtClean="0"/>
              <a:t>	¿Cómo se relaciona la condición de formalidad de la microempresa </a:t>
            </a:r>
          </a:p>
          <a:p>
            <a:r>
              <a:rPr lang="es-MX" dirty="0" smtClean="0"/>
              <a:t>Objetivos de la investigación</a:t>
            </a:r>
          </a:p>
          <a:p>
            <a:r>
              <a:rPr lang="es-MX" dirty="0"/>
              <a:t>	</a:t>
            </a:r>
            <a:r>
              <a:rPr lang="es-MX" dirty="0" smtClean="0"/>
              <a:t>objetivo principal</a:t>
            </a:r>
          </a:p>
          <a:p>
            <a:r>
              <a:rPr lang="es-MX" dirty="0"/>
              <a:t>	</a:t>
            </a:r>
            <a:r>
              <a:rPr lang="es-MX" dirty="0" smtClean="0"/>
              <a:t>objetivos específicos (pasos o acciones que se espera hacer para dar un a respuesta a los problemas)</a:t>
            </a:r>
          </a:p>
          <a:p>
            <a:r>
              <a:rPr lang="es-MX" dirty="0"/>
              <a:t>	</a:t>
            </a:r>
            <a:r>
              <a:rPr lang="es-MX" dirty="0" smtClean="0"/>
              <a:t>	se suele comenzar con determinar, conocer , identificar.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879198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8094</TotalTime>
  <Words>670</Words>
  <Application>Microsoft Office PowerPoint</Application>
  <PresentationFormat>Panorámica</PresentationFormat>
  <Paragraphs>98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Retrospección</vt:lpstr>
      <vt:lpstr>TEMA 2:  ELABORACION DEL PLAN DE INVESTIGACION (IDEAS INICIALES) Ciclo 2025 0</vt:lpstr>
      <vt:lpstr>TAREA 1: ELECCION DEL TEMA DE INVESTIGACIÓN Y SU JUSTIFICACION</vt:lpstr>
      <vt:lpstr>LA INVESTIGACION: PROCESO DOCUMENTAL</vt:lpstr>
      <vt:lpstr>FUENTES DE IDEAS PARA UNA INVESTIGACIÓN</vt:lpstr>
      <vt:lpstr>UNA NECESIDAD: LOS ANTECEDENTES</vt:lpstr>
      <vt:lpstr>IDEAS CON POTENCIAL PARA INICIAR LA RUTA DE LA INVESTIGACION</vt:lpstr>
      <vt:lpstr>SUGERENCIAS PARA DESARROLLAR IDEAS QUE GUIEN</vt:lpstr>
      <vt:lpstr>LA INVESTIGACION EN EL DESARROLLO PROFESIONAL</vt:lpstr>
      <vt:lpstr>EL PLAN DE INVESTIGACION Tema de investigación: IMPACTO DEL COVID 19 EN LAS POLITICAS DE GOBIERNOEN EL COMERCIO EXTERIOR </vt:lpstr>
      <vt:lpstr>TAREA 2: DESARROLLO DEL PROBLEMA DE INVESTIGACION (para el 28 de setiembre, 2022)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METODOLOGIA DE LA INVESTIGACION ECONÓMICA</dc:title>
  <dc:creator>pedro barrientos</dc:creator>
  <cp:lastModifiedBy>UlisexxX</cp:lastModifiedBy>
  <cp:revision>31</cp:revision>
  <dcterms:created xsi:type="dcterms:W3CDTF">2022-09-14T15:10:21Z</dcterms:created>
  <dcterms:modified xsi:type="dcterms:W3CDTF">2026-01-21T15:21:04Z</dcterms:modified>
</cp:coreProperties>
</file>