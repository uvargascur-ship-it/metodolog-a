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465" r:id="rId3"/>
    <p:sldId id="707" r:id="rId4"/>
    <p:sldId id="708" r:id="rId5"/>
    <p:sldId id="494" r:id="rId6"/>
    <p:sldId id="257" r:id="rId7"/>
    <p:sldId id="710" r:id="rId8"/>
    <p:sldId id="711" r:id="rId9"/>
    <p:sldId id="712" r:id="rId10"/>
    <p:sldId id="709" r:id="rId11"/>
    <p:sldId id="713" r:id="rId12"/>
    <p:sldId id="715" r:id="rId13"/>
    <p:sldId id="716" r:id="rId14"/>
    <p:sldId id="714" r:id="rId15"/>
    <p:sldId id="717" r:id="rId16"/>
    <p:sldId id="718" r:id="rId17"/>
    <p:sldId id="719" r:id="rId18"/>
    <p:sldId id="720" r:id="rId19"/>
    <p:sldId id="723" r:id="rId20"/>
    <p:sldId id="724" r:id="rId21"/>
    <p:sldId id="725" r:id="rId22"/>
    <p:sldId id="726" r:id="rId23"/>
    <p:sldId id="722"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8" autoAdjust="0"/>
    <p:restoredTop sz="94660"/>
  </p:normalViewPr>
  <p:slideViewPr>
    <p:cSldViewPr snapToGrid="0">
      <p:cViewPr varScale="1">
        <p:scale>
          <a:sx n="102" d="100"/>
          <a:sy n="102" d="100"/>
        </p:scale>
        <p:origin x="72" y="2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57FBF6DC-539E-4B2A-A21E-CEA4B38187F9}" type="datetimeFigureOut">
              <a:rPr lang="es-PE" smtClean="0"/>
              <a:t>7/01/2026</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ACC18E5E-983A-4DF2-968F-2684628FC6C3}" type="slidenum">
              <a:rPr lang="es-PE" smtClean="0"/>
              <a:t>‹Nº›</a:t>
            </a:fld>
            <a:endParaRPr lang="es-PE"/>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09191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7FBF6DC-539E-4B2A-A21E-CEA4B38187F9}" type="datetimeFigureOut">
              <a:rPr lang="es-PE" smtClean="0"/>
              <a:t>7/01/2026</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ACC18E5E-983A-4DF2-968F-2684628FC6C3}" type="slidenum">
              <a:rPr lang="es-PE" smtClean="0"/>
              <a:t>‹Nº›</a:t>
            </a:fld>
            <a:endParaRPr lang="es-PE"/>
          </a:p>
        </p:txBody>
      </p:sp>
    </p:spTree>
    <p:extLst>
      <p:ext uri="{BB962C8B-B14F-4D97-AF65-F5344CB8AC3E}">
        <p14:creationId xmlns:p14="http://schemas.microsoft.com/office/powerpoint/2010/main" val="29586556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7FBF6DC-539E-4B2A-A21E-CEA4B38187F9}" type="datetimeFigureOut">
              <a:rPr lang="es-PE" smtClean="0"/>
              <a:t>7/01/2026</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ACC18E5E-983A-4DF2-968F-2684628FC6C3}" type="slidenum">
              <a:rPr lang="es-PE" smtClean="0"/>
              <a:t>‹Nº›</a:t>
            </a:fld>
            <a:endParaRPr lang="es-PE"/>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20998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57FBF6DC-539E-4B2A-A21E-CEA4B38187F9}" type="datetimeFigureOut">
              <a:rPr lang="es-PE" smtClean="0"/>
              <a:t>7/01/2026</a:t>
            </a:fld>
            <a:endParaRPr lang="es-PE"/>
          </a:p>
        </p:txBody>
      </p:sp>
      <p:sp>
        <p:nvSpPr>
          <p:cNvPr id="6" name="Footer Placeholder 5"/>
          <p:cNvSpPr>
            <a:spLocks noGrp="1"/>
          </p:cNvSpPr>
          <p:nvPr>
            <p:ph type="ftr" sz="quarter" idx="11"/>
          </p:nvPr>
        </p:nvSpPr>
        <p:spPr/>
        <p:txBody>
          <a:bodyPr/>
          <a:lstStyle/>
          <a:p>
            <a:endParaRPr lang="es-PE"/>
          </a:p>
        </p:txBody>
      </p:sp>
      <p:sp>
        <p:nvSpPr>
          <p:cNvPr id="7" name="Slide Number Placeholder 6"/>
          <p:cNvSpPr>
            <a:spLocks noGrp="1"/>
          </p:cNvSpPr>
          <p:nvPr>
            <p:ph type="sldNum" sz="quarter" idx="12"/>
          </p:nvPr>
        </p:nvSpPr>
        <p:spPr/>
        <p:txBody>
          <a:bodyPr/>
          <a:lstStyle/>
          <a:p>
            <a:fld id="{ACC18E5E-983A-4DF2-968F-2684628FC6C3}" type="slidenum">
              <a:rPr lang="es-PE" smtClean="0"/>
              <a:t>‹Nº›</a:t>
            </a:fld>
            <a:endParaRPr lang="es-PE"/>
          </a:p>
        </p:txBody>
      </p:sp>
    </p:spTree>
    <p:extLst>
      <p:ext uri="{BB962C8B-B14F-4D97-AF65-F5344CB8AC3E}">
        <p14:creationId xmlns:p14="http://schemas.microsoft.com/office/powerpoint/2010/main" val="19986958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097280" y="2582334"/>
            <a:ext cx="4937760" cy="33782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217920" y="2582334"/>
            <a:ext cx="4937760" cy="33782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57FBF6DC-539E-4B2A-A21E-CEA4B38187F9}" type="datetimeFigureOut">
              <a:rPr lang="es-PE" smtClean="0"/>
              <a:t>7/01/2026</a:t>
            </a:fld>
            <a:endParaRPr lang="es-PE"/>
          </a:p>
        </p:txBody>
      </p:sp>
      <p:sp>
        <p:nvSpPr>
          <p:cNvPr id="8" name="Footer Placeholder 7"/>
          <p:cNvSpPr>
            <a:spLocks noGrp="1"/>
          </p:cNvSpPr>
          <p:nvPr>
            <p:ph type="ftr" sz="quarter" idx="11"/>
          </p:nvPr>
        </p:nvSpPr>
        <p:spPr/>
        <p:txBody>
          <a:bodyPr/>
          <a:lstStyle/>
          <a:p>
            <a:endParaRPr lang="es-PE"/>
          </a:p>
        </p:txBody>
      </p:sp>
      <p:sp>
        <p:nvSpPr>
          <p:cNvPr id="9" name="Slide Number Placeholder 8"/>
          <p:cNvSpPr>
            <a:spLocks noGrp="1"/>
          </p:cNvSpPr>
          <p:nvPr>
            <p:ph type="sldNum" sz="quarter" idx="12"/>
          </p:nvPr>
        </p:nvSpPr>
        <p:spPr/>
        <p:txBody>
          <a:bodyPr/>
          <a:lstStyle/>
          <a:p>
            <a:fld id="{ACC18E5E-983A-4DF2-968F-2684628FC6C3}" type="slidenum">
              <a:rPr lang="es-PE" smtClean="0"/>
              <a:t>‹Nº›</a:t>
            </a:fld>
            <a:endParaRPr lang="es-PE"/>
          </a:p>
        </p:txBody>
      </p:sp>
    </p:spTree>
    <p:extLst>
      <p:ext uri="{BB962C8B-B14F-4D97-AF65-F5344CB8AC3E}">
        <p14:creationId xmlns:p14="http://schemas.microsoft.com/office/powerpoint/2010/main" val="38494126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57FBF6DC-539E-4B2A-A21E-CEA4B38187F9}" type="datetimeFigureOut">
              <a:rPr lang="es-PE" smtClean="0"/>
              <a:t>7/01/2026</a:t>
            </a:fld>
            <a:endParaRPr lang="es-PE"/>
          </a:p>
        </p:txBody>
      </p:sp>
      <p:sp>
        <p:nvSpPr>
          <p:cNvPr id="4" name="Footer Placeholder 3"/>
          <p:cNvSpPr>
            <a:spLocks noGrp="1"/>
          </p:cNvSpPr>
          <p:nvPr>
            <p:ph type="ftr" sz="quarter" idx="11"/>
          </p:nvPr>
        </p:nvSpPr>
        <p:spPr/>
        <p:txBody>
          <a:bodyPr/>
          <a:lstStyle/>
          <a:p>
            <a:endParaRPr lang="es-PE"/>
          </a:p>
        </p:txBody>
      </p:sp>
      <p:sp>
        <p:nvSpPr>
          <p:cNvPr id="5" name="Slide Number Placeholder 4"/>
          <p:cNvSpPr>
            <a:spLocks noGrp="1"/>
          </p:cNvSpPr>
          <p:nvPr>
            <p:ph type="sldNum" sz="quarter" idx="12"/>
          </p:nvPr>
        </p:nvSpPr>
        <p:spPr/>
        <p:txBody>
          <a:bodyPr/>
          <a:lstStyle/>
          <a:p>
            <a:fld id="{ACC18E5E-983A-4DF2-968F-2684628FC6C3}" type="slidenum">
              <a:rPr lang="es-PE" smtClean="0"/>
              <a:t>‹Nº›</a:t>
            </a:fld>
            <a:endParaRPr lang="es-PE"/>
          </a:p>
        </p:txBody>
      </p:sp>
    </p:spTree>
    <p:extLst>
      <p:ext uri="{BB962C8B-B14F-4D97-AF65-F5344CB8AC3E}">
        <p14:creationId xmlns:p14="http://schemas.microsoft.com/office/powerpoint/2010/main" val="9184772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7FBF6DC-539E-4B2A-A21E-CEA4B38187F9}" type="datetimeFigureOut">
              <a:rPr lang="es-PE" smtClean="0"/>
              <a:t>7/01/2026</a:t>
            </a:fld>
            <a:endParaRPr lang="es-PE"/>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s-PE"/>
          </a:p>
        </p:txBody>
      </p:sp>
      <p:sp>
        <p:nvSpPr>
          <p:cNvPr id="9" name="Slide Number Placeholder 8"/>
          <p:cNvSpPr>
            <a:spLocks noGrp="1"/>
          </p:cNvSpPr>
          <p:nvPr>
            <p:ph type="sldNum" sz="quarter" idx="12"/>
          </p:nvPr>
        </p:nvSpPr>
        <p:spPr/>
        <p:txBody>
          <a:bodyPr/>
          <a:lstStyle/>
          <a:p>
            <a:fld id="{ACC18E5E-983A-4DF2-968F-2684628FC6C3}" type="slidenum">
              <a:rPr lang="es-PE" smtClean="0"/>
              <a:t>‹Nº›</a:t>
            </a:fld>
            <a:endParaRPr lang="es-PE"/>
          </a:p>
        </p:txBody>
      </p:sp>
    </p:spTree>
    <p:extLst>
      <p:ext uri="{BB962C8B-B14F-4D97-AF65-F5344CB8AC3E}">
        <p14:creationId xmlns:p14="http://schemas.microsoft.com/office/powerpoint/2010/main" val="42186129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57FBF6DC-539E-4B2A-A21E-CEA4B38187F9}" type="datetimeFigureOut">
              <a:rPr lang="es-PE" smtClean="0"/>
              <a:t>7/01/2026</a:t>
            </a:fld>
            <a:endParaRPr lang="es-PE"/>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s-PE"/>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ACC18E5E-983A-4DF2-968F-2684628FC6C3}" type="slidenum">
              <a:rPr lang="es-PE" smtClean="0"/>
              <a:t>‹Nº›</a:t>
            </a:fld>
            <a:endParaRPr lang="es-PE"/>
          </a:p>
        </p:txBody>
      </p:sp>
    </p:spTree>
    <p:extLst>
      <p:ext uri="{BB962C8B-B14F-4D97-AF65-F5344CB8AC3E}">
        <p14:creationId xmlns:p14="http://schemas.microsoft.com/office/powerpoint/2010/main" val="17496088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7FBF6DC-539E-4B2A-A21E-CEA4B38187F9}" type="datetimeFigureOut">
              <a:rPr lang="es-PE" smtClean="0"/>
              <a:t>7/01/2026</a:t>
            </a:fld>
            <a:endParaRPr lang="es-PE"/>
          </a:p>
        </p:txBody>
      </p:sp>
      <p:sp>
        <p:nvSpPr>
          <p:cNvPr id="6" name="Footer Placeholder 5"/>
          <p:cNvSpPr>
            <a:spLocks noGrp="1"/>
          </p:cNvSpPr>
          <p:nvPr>
            <p:ph type="ftr" sz="quarter" idx="11"/>
          </p:nvPr>
        </p:nvSpPr>
        <p:spPr/>
        <p:txBody>
          <a:bodyPr/>
          <a:lstStyle/>
          <a:p>
            <a:endParaRPr lang="es-PE"/>
          </a:p>
        </p:txBody>
      </p:sp>
      <p:sp>
        <p:nvSpPr>
          <p:cNvPr id="7" name="Slide Number Placeholder 6"/>
          <p:cNvSpPr>
            <a:spLocks noGrp="1"/>
          </p:cNvSpPr>
          <p:nvPr>
            <p:ph type="sldNum" sz="quarter" idx="12"/>
          </p:nvPr>
        </p:nvSpPr>
        <p:spPr/>
        <p:txBody>
          <a:bodyPr/>
          <a:lstStyle/>
          <a:p>
            <a:fld id="{ACC18E5E-983A-4DF2-968F-2684628FC6C3}" type="slidenum">
              <a:rPr lang="es-PE" smtClean="0"/>
              <a:t>‹Nº›</a:t>
            </a:fld>
            <a:endParaRPr lang="es-PE"/>
          </a:p>
        </p:txBody>
      </p:sp>
    </p:spTree>
    <p:extLst>
      <p:ext uri="{BB962C8B-B14F-4D97-AF65-F5344CB8AC3E}">
        <p14:creationId xmlns:p14="http://schemas.microsoft.com/office/powerpoint/2010/main" val="4029637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7FBF6DC-539E-4B2A-A21E-CEA4B38187F9}" type="datetimeFigureOut">
              <a:rPr lang="es-PE" smtClean="0"/>
              <a:t>7/01/2026</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ACC18E5E-983A-4DF2-968F-2684628FC6C3}" type="slidenum">
              <a:rPr lang="es-PE" smtClean="0"/>
              <a:t>‹Nº›</a:t>
            </a:fld>
            <a:endParaRPr lang="es-PE"/>
          </a:p>
        </p:txBody>
      </p:sp>
    </p:spTree>
    <p:extLst>
      <p:ext uri="{BB962C8B-B14F-4D97-AF65-F5344CB8AC3E}">
        <p14:creationId xmlns:p14="http://schemas.microsoft.com/office/powerpoint/2010/main" val="15007448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7FBF6DC-539E-4B2A-A21E-CEA4B38187F9}" type="datetimeFigureOut">
              <a:rPr lang="es-PE" smtClean="0"/>
              <a:t>7/01/2026</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ACC18E5E-983A-4DF2-968F-2684628FC6C3}" type="slidenum">
              <a:rPr lang="es-PE" smtClean="0"/>
              <a:t>‹Nº›</a:t>
            </a:fld>
            <a:endParaRPr lang="es-PE"/>
          </a:p>
        </p:txBody>
      </p:sp>
    </p:spTree>
    <p:extLst>
      <p:ext uri="{BB962C8B-B14F-4D97-AF65-F5344CB8AC3E}">
        <p14:creationId xmlns:p14="http://schemas.microsoft.com/office/powerpoint/2010/main" val="34067465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7FBF6DC-539E-4B2A-A21E-CEA4B38187F9}" type="datetimeFigureOut">
              <a:rPr lang="es-PE" smtClean="0"/>
              <a:t>7/01/2026</a:t>
            </a:fld>
            <a:endParaRPr lang="es-PE"/>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s-PE"/>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ACC18E5E-983A-4DF2-968F-2684628FC6C3}" type="slidenum">
              <a:rPr lang="es-PE" smtClean="0"/>
              <a:t>‹Nº›</a:t>
            </a:fld>
            <a:endParaRPr lang="es-PE"/>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518250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hyperlink" Target="https://www.significados.com/investigacion/"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www.rosenbergresearch.com/2025/04/20/the-importance-of-economic-research-in-policy-making/#:~:text=La%20investigaci%C3%B3n%20econ%C3%B3mica%20proporciona%20la,y%20en%20todos%20los%20ciclos"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F5771A-6144-D438-0BD5-C8CADE44D0D3}"/>
              </a:ext>
            </a:extLst>
          </p:cNvPr>
          <p:cNvSpPr>
            <a:spLocks noGrp="1"/>
          </p:cNvSpPr>
          <p:nvPr>
            <p:ph type="ctrTitle"/>
          </p:nvPr>
        </p:nvSpPr>
        <p:spPr/>
        <p:txBody>
          <a:bodyPr anchor="ctr">
            <a:normAutofit/>
          </a:bodyPr>
          <a:lstStyle/>
          <a:p>
            <a:r>
              <a:rPr lang="es-PE" sz="3200" dirty="0"/>
              <a:t>CURSO</a:t>
            </a:r>
            <a:br>
              <a:rPr lang="es-PE" sz="3200" dirty="0"/>
            </a:br>
            <a:r>
              <a:rPr lang="es-PE" sz="3200" dirty="0"/>
              <a:t>METODOLOGIA DE LA INVESTIGACIÓN ECONÓMICA</a:t>
            </a:r>
            <a:br>
              <a:rPr lang="es-PE" sz="3200" dirty="0"/>
            </a:br>
            <a:r>
              <a:rPr lang="es-PE" sz="3200" dirty="0"/>
              <a:t>Ciclo 2025 0</a:t>
            </a:r>
          </a:p>
        </p:txBody>
      </p:sp>
      <p:sp>
        <p:nvSpPr>
          <p:cNvPr id="3" name="Subtítulo 2">
            <a:extLst>
              <a:ext uri="{FF2B5EF4-FFF2-40B4-BE49-F238E27FC236}">
                <a16:creationId xmlns:a16="http://schemas.microsoft.com/office/drawing/2014/main" id="{D18F3A7A-3231-D675-63A7-E4C4C86E1BA3}"/>
              </a:ext>
            </a:extLst>
          </p:cNvPr>
          <p:cNvSpPr>
            <a:spLocks noGrp="1"/>
          </p:cNvSpPr>
          <p:nvPr>
            <p:ph type="subTitle" idx="1"/>
          </p:nvPr>
        </p:nvSpPr>
        <p:spPr/>
        <p:txBody>
          <a:bodyPr anchor="ctr"/>
          <a:lstStyle/>
          <a:p>
            <a:r>
              <a:rPr lang="es-PE" dirty="0"/>
              <a:t>Profesor: Dr. Pedro Barrientos Felipa</a:t>
            </a:r>
          </a:p>
          <a:p>
            <a:endParaRPr lang="es-PE" dirty="0"/>
          </a:p>
        </p:txBody>
      </p:sp>
    </p:spTree>
    <p:extLst>
      <p:ext uri="{BB962C8B-B14F-4D97-AF65-F5344CB8AC3E}">
        <p14:creationId xmlns:p14="http://schemas.microsoft.com/office/powerpoint/2010/main" val="12786633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4AD1649E-F339-7FAA-D045-49E83165DA31}"/>
              </a:ext>
            </a:extLst>
          </p:cNvPr>
          <p:cNvSpPr>
            <a:spLocks noGrp="1" noChangeArrowheads="1"/>
          </p:cNvSpPr>
          <p:nvPr>
            <p:ph type="title"/>
          </p:nvPr>
        </p:nvSpPr>
        <p:spPr/>
        <p:txBody>
          <a:bodyPr anchor="ctr"/>
          <a:lstStyle/>
          <a:p>
            <a:pPr eaLnBrk="1" fontAlgn="auto" hangingPunct="1">
              <a:spcAft>
                <a:spcPts val="0"/>
              </a:spcAft>
              <a:defRPr/>
            </a:pPr>
            <a:r>
              <a:rPr lang="es-ES_tradnl" altLang="es-PE" sz="2800" b="1" dirty="0">
                <a:solidFill>
                  <a:schemeClr val="tx1">
                    <a:lumMod val="75000"/>
                    <a:lumOff val="25000"/>
                  </a:schemeClr>
                </a:solidFill>
              </a:rPr>
              <a:t>PROFESOR</a:t>
            </a:r>
            <a:br>
              <a:rPr lang="es-ES_tradnl" altLang="es-PE" sz="2800" b="1" dirty="0">
                <a:solidFill>
                  <a:schemeClr val="tx1">
                    <a:lumMod val="75000"/>
                    <a:lumOff val="25000"/>
                  </a:schemeClr>
                </a:solidFill>
              </a:rPr>
            </a:br>
            <a:r>
              <a:rPr lang="es-ES_tradnl" altLang="es-PE" sz="2800" b="1" dirty="0">
                <a:solidFill>
                  <a:schemeClr val="tx1">
                    <a:lumMod val="75000"/>
                    <a:lumOff val="25000"/>
                  </a:schemeClr>
                </a:solidFill>
              </a:rPr>
              <a:t>Dr. Pedro Barrientos F.</a:t>
            </a:r>
            <a:endParaRPr lang="es-ES" altLang="es-PE" sz="2800" b="1" dirty="0">
              <a:solidFill>
                <a:schemeClr val="tx1">
                  <a:lumMod val="75000"/>
                  <a:lumOff val="25000"/>
                </a:schemeClr>
              </a:solidFill>
            </a:endParaRPr>
          </a:p>
        </p:txBody>
      </p:sp>
      <p:sp>
        <p:nvSpPr>
          <p:cNvPr id="11267" name="Rectangle 3">
            <a:extLst>
              <a:ext uri="{FF2B5EF4-FFF2-40B4-BE49-F238E27FC236}">
                <a16:creationId xmlns:a16="http://schemas.microsoft.com/office/drawing/2014/main" id="{B40D2A8B-12E5-8B92-23AF-9F8ECA473B2C}"/>
              </a:ext>
            </a:extLst>
          </p:cNvPr>
          <p:cNvSpPr>
            <a:spLocks noGrp="1" noChangeArrowheads="1"/>
          </p:cNvSpPr>
          <p:nvPr>
            <p:ph idx="1"/>
          </p:nvPr>
        </p:nvSpPr>
        <p:spPr/>
        <p:txBody>
          <a:bodyPr anchor="ctr">
            <a:normAutofit/>
          </a:bodyPr>
          <a:lstStyle/>
          <a:p>
            <a:pPr marL="538163" indent="-538163" eaLnBrk="1" hangingPunct="1">
              <a:lnSpc>
                <a:spcPct val="110000"/>
              </a:lnSpc>
              <a:spcBef>
                <a:spcPct val="50000"/>
              </a:spcBef>
              <a:buFont typeface="Wingdings" panose="05000000000000000000" pitchFamily="2" charset="2"/>
              <a:buChar char="v"/>
            </a:pPr>
            <a:r>
              <a:rPr lang="es-ES_tradnl" altLang="es-PE" sz="1800" dirty="0"/>
              <a:t>Economista por la Universidad Ricardo Palma. Magister por la Universidad del Pacífico. Doctor en Administración de Negocios Globales.</a:t>
            </a:r>
          </a:p>
          <a:p>
            <a:pPr marL="538163" indent="-538163" eaLnBrk="1" hangingPunct="1">
              <a:lnSpc>
                <a:spcPct val="110000"/>
              </a:lnSpc>
              <a:spcBef>
                <a:spcPct val="50000"/>
              </a:spcBef>
              <a:buFont typeface="Wingdings" panose="05000000000000000000" pitchFamily="2" charset="2"/>
              <a:buChar char="v"/>
            </a:pPr>
            <a:r>
              <a:rPr lang="es-ES_tradnl" altLang="es-PE" sz="1800" dirty="0"/>
              <a:t>Profesor Principal de la Facultad de Ciencias Económicas – UNMSM. </a:t>
            </a:r>
          </a:p>
          <a:p>
            <a:pPr marL="538163" indent="-538163">
              <a:lnSpc>
                <a:spcPct val="110000"/>
              </a:lnSpc>
              <a:spcBef>
                <a:spcPct val="50000"/>
              </a:spcBef>
              <a:buFont typeface="Wingdings" panose="05000000000000000000" pitchFamily="2" charset="2"/>
              <a:buChar char="v"/>
            </a:pPr>
            <a:r>
              <a:rPr lang="es-ES_tradnl" altLang="es-PE" sz="1800" dirty="0"/>
              <a:t>Coordinador del Grupo de Investigación </a:t>
            </a:r>
            <a:r>
              <a:rPr lang="es-ES_tradnl" altLang="es-PE" sz="1800" b="1" dirty="0"/>
              <a:t>Economía y Agroexportación - ECOAGROX</a:t>
            </a:r>
          </a:p>
          <a:p>
            <a:pPr marL="538163" indent="-538163" eaLnBrk="1" hangingPunct="1">
              <a:lnSpc>
                <a:spcPct val="110000"/>
              </a:lnSpc>
              <a:spcBef>
                <a:spcPct val="50000"/>
              </a:spcBef>
              <a:buFont typeface="Wingdings" panose="05000000000000000000" pitchFamily="2" charset="2"/>
              <a:buChar char="v"/>
            </a:pPr>
            <a:r>
              <a:rPr lang="es-ES_tradnl" altLang="es-PE" sz="1800" dirty="0"/>
              <a:t>Autor de 7 libros relacionados  a su campo de especialización. Más de 50 artículos publicados arbitrados, en revistas nacionales y extranjeras.</a:t>
            </a:r>
          </a:p>
          <a:p>
            <a:pPr marL="538163" indent="-538163" eaLnBrk="1" hangingPunct="1">
              <a:lnSpc>
                <a:spcPct val="110000"/>
              </a:lnSpc>
              <a:spcBef>
                <a:spcPct val="50000"/>
              </a:spcBef>
              <a:buFont typeface="Wingdings" panose="05000000000000000000" pitchFamily="2" charset="2"/>
              <a:buChar char="v"/>
            </a:pPr>
            <a:r>
              <a:rPr lang="es-ES_tradnl" altLang="es-PE" sz="1800" dirty="0"/>
              <a:t>Experiencia gerencial en diversas empresas, en el campo del marketing y la investigación de mercados. Director General de </a:t>
            </a:r>
            <a:r>
              <a:rPr lang="es-ES_tradnl" altLang="es-PE" sz="1800" dirty="0" err="1">
                <a:solidFill>
                  <a:srgbClr val="990000"/>
                </a:solidFill>
                <a:latin typeface="Times New Roman" panose="02020603050405020304" pitchFamily="18" charset="0"/>
              </a:rPr>
              <a:t>B</a:t>
            </a:r>
            <a:r>
              <a:rPr lang="es-ES_tradnl" altLang="es-PE" sz="1800" dirty="0" err="1">
                <a:solidFill>
                  <a:srgbClr val="808080"/>
                </a:solidFill>
                <a:latin typeface="Times New Roman" panose="02020603050405020304" pitchFamily="18" charset="0"/>
              </a:rPr>
              <a:t>y</a:t>
            </a:r>
            <a:r>
              <a:rPr lang="es-ES_tradnl" altLang="es-PE" sz="1800" dirty="0" err="1">
                <a:solidFill>
                  <a:srgbClr val="990000"/>
                </a:solidFill>
                <a:latin typeface="Times New Roman" panose="02020603050405020304" pitchFamily="18" charset="0"/>
              </a:rPr>
              <a:t>Asociados</a:t>
            </a:r>
            <a:r>
              <a:rPr lang="es-ES_tradnl" altLang="es-PE" sz="1800" dirty="0">
                <a:solidFill>
                  <a:srgbClr val="990000"/>
                </a:solidFill>
                <a:latin typeface="Times New Roman" panose="02020603050405020304" pitchFamily="18" charset="0"/>
              </a:rPr>
              <a:t>.</a:t>
            </a:r>
            <a:r>
              <a:rPr lang="es-ES_tradnl" altLang="es-PE" sz="1800" dirty="0"/>
              <a:t> Consultores en Marketing. Miembro Principal de Instituto para el Desarrollo del Marketing Político – IDMP.</a:t>
            </a:r>
            <a:endParaRPr lang="es-ES" altLang="es-PE"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44F2C49F-174F-3329-FEC2-7C78C7C6DC8A}"/>
              </a:ext>
            </a:extLst>
          </p:cNvPr>
          <p:cNvSpPr>
            <a:spLocks noGrp="1" noChangeArrowheads="1"/>
          </p:cNvSpPr>
          <p:nvPr>
            <p:ph type="title"/>
          </p:nvPr>
        </p:nvSpPr>
        <p:spPr>
          <a:xfrm>
            <a:off x="839788" y="692151"/>
            <a:ext cx="7797800" cy="708386"/>
          </a:xfrm>
        </p:spPr>
        <p:txBody>
          <a:bodyPr/>
          <a:lstStyle/>
          <a:p>
            <a:pPr eaLnBrk="1" fontAlgn="auto" hangingPunct="1">
              <a:spcAft>
                <a:spcPts val="0"/>
              </a:spcAft>
              <a:defRPr/>
            </a:pPr>
            <a:r>
              <a:rPr lang="es-ES_tradnl" altLang="es-PE" sz="2800" b="1" dirty="0">
                <a:solidFill>
                  <a:schemeClr val="tx1">
                    <a:lumMod val="75000"/>
                    <a:lumOff val="25000"/>
                  </a:schemeClr>
                </a:solidFill>
              </a:rPr>
              <a:t>PROGRAMACION DEL CURSO</a:t>
            </a:r>
            <a:endParaRPr lang="es-ES" altLang="es-PE" sz="2800" b="1" dirty="0">
              <a:solidFill>
                <a:schemeClr val="tx1">
                  <a:lumMod val="75000"/>
                  <a:lumOff val="25000"/>
                </a:schemeClr>
              </a:solidFill>
            </a:endParaRPr>
          </a:p>
        </p:txBody>
      </p:sp>
      <p:sp>
        <p:nvSpPr>
          <p:cNvPr id="7171" name="Rectangle 3">
            <a:extLst>
              <a:ext uri="{FF2B5EF4-FFF2-40B4-BE49-F238E27FC236}">
                <a16:creationId xmlns:a16="http://schemas.microsoft.com/office/drawing/2014/main" id="{DD2369E4-BA7E-63FC-5457-3C41AF5F4E38}"/>
              </a:ext>
            </a:extLst>
          </p:cNvPr>
          <p:cNvSpPr>
            <a:spLocks noGrp="1" noChangeArrowheads="1"/>
          </p:cNvSpPr>
          <p:nvPr>
            <p:ph idx="1"/>
          </p:nvPr>
        </p:nvSpPr>
        <p:spPr>
          <a:xfrm>
            <a:off x="1127124" y="1784959"/>
            <a:ext cx="7058635" cy="4471792"/>
          </a:xfrm>
        </p:spPr>
        <p:txBody>
          <a:bodyPr rtlCol="0" anchor="ctr">
            <a:noAutofit/>
          </a:bodyPr>
          <a:lstStyle/>
          <a:p>
            <a:pPr marL="91440" indent="-91440" eaLnBrk="1" fontAlgn="auto" hangingPunct="1">
              <a:lnSpc>
                <a:spcPct val="100000"/>
              </a:lnSpc>
              <a:spcBef>
                <a:spcPts val="200"/>
              </a:spcBef>
              <a:defRPr/>
            </a:pPr>
            <a:r>
              <a:rPr lang="es-ES_tradnl" sz="1600" dirty="0">
                <a:solidFill>
                  <a:schemeClr val="tx1">
                    <a:lumMod val="75000"/>
                    <a:lumOff val="25000"/>
                  </a:schemeClr>
                </a:solidFill>
              </a:rPr>
              <a:t>Tema 1: 		Las rutas de la investigación económica</a:t>
            </a:r>
          </a:p>
          <a:p>
            <a:pPr marL="91440" indent="-91440" eaLnBrk="1" fontAlgn="auto" hangingPunct="1">
              <a:lnSpc>
                <a:spcPct val="100000"/>
              </a:lnSpc>
              <a:spcBef>
                <a:spcPts val="200"/>
              </a:spcBef>
              <a:defRPr/>
            </a:pPr>
            <a:r>
              <a:rPr lang="es-ES_tradnl" sz="1600" dirty="0">
                <a:solidFill>
                  <a:schemeClr val="tx1">
                    <a:lumMod val="75000"/>
                    <a:lumOff val="25000"/>
                  </a:schemeClr>
                </a:solidFill>
              </a:rPr>
              <a:t>Tema 2: 		Elaboración del plan de investigación</a:t>
            </a:r>
          </a:p>
          <a:p>
            <a:pPr marL="91440" indent="-91440" eaLnBrk="1" fontAlgn="auto" hangingPunct="1">
              <a:lnSpc>
                <a:spcPct val="100000"/>
              </a:lnSpc>
              <a:spcBef>
                <a:spcPts val="200"/>
              </a:spcBef>
              <a:defRPr/>
            </a:pPr>
            <a:r>
              <a:rPr lang="es-ES_tradnl" sz="1600" dirty="0">
                <a:solidFill>
                  <a:schemeClr val="tx1">
                    <a:lumMod val="75000"/>
                    <a:lumOff val="25000"/>
                  </a:schemeClr>
                </a:solidFill>
              </a:rPr>
              <a:t>Tema 3: 		Planteamiento del problema</a:t>
            </a:r>
            <a:endParaRPr lang="es-PE" sz="1600" dirty="0">
              <a:solidFill>
                <a:schemeClr val="tx1">
                  <a:lumMod val="75000"/>
                  <a:lumOff val="25000"/>
                </a:schemeClr>
              </a:solidFill>
            </a:endParaRPr>
          </a:p>
          <a:p>
            <a:pPr marL="91440" indent="-91440">
              <a:lnSpc>
                <a:spcPct val="100000"/>
              </a:lnSpc>
              <a:spcBef>
                <a:spcPts val="200"/>
              </a:spcBef>
              <a:defRPr/>
            </a:pPr>
            <a:r>
              <a:rPr lang="es-ES_tradnl" sz="1600" dirty="0">
                <a:solidFill>
                  <a:schemeClr val="tx1">
                    <a:lumMod val="75000"/>
                    <a:lumOff val="25000"/>
                  </a:schemeClr>
                </a:solidFill>
              </a:rPr>
              <a:t>Tema 4: 		Construcción de la referencia bibliográficas</a:t>
            </a:r>
          </a:p>
          <a:p>
            <a:pPr marL="91440" indent="-91440">
              <a:lnSpc>
                <a:spcPct val="100000"/>
              </a:lnSpc>
              <a:spcBef>
                <a:spcPts val="200"/>
              </a:spcBef>
              <a:defRPr/>
            </a:pPr>
            <a:r>
              <a:rPr lang="es-ES_tradnl" sz="1600" dirty="0">
                <a:solidFill>
                  <a:schemeClr val="tx1">
                    <a:lumMod val="75000"/>
                    <a:lumOff val="25000"/>
                  </a:schemeClr>
                </a:solidFill>
              </a:rPr>
              <a:t>Tema 5: 		Elaboración del marco teórico económico del tema</a:t>
            </a:r>
          </a:p>
          <a:p>
            <a:pPr marL="91440" indent="-91440">
              <a:lnSpc>
                <a:spcPct val="100000"/>
              </a:lnSpc>
              <a:spcBef>
                <a:spcPts val="200"/>
              </a:spcBef>
              <a:defRPr/>
            </a:pPr>
            <a:r>
              <a:rPr lang="es-ES_tradnl" sz="1600" dirty="0">
                <a:solidFill>
                  <a:schemeClr val="tx1">
                    <a:lumMod val="75000"/>
                    <a:lumOff val="25000"/>
                  </a:schemeClr>
                </a:solidFill>
              </a:rPr>
              <a:t>Tema 6:		Alcance de la investigación</a:t>
            </a:r>
            <a:endParaRPr lang="es-PE" sz="1600" dirty="0">
              <a:solidFill>
                <a:schemeClr val="tx1">
                  <a:lumMod val="75000"/>
                  <a:lumOff val="25000"/>
                </a:schemeClr>
              </a:solidFill>
            </a:endParaRPr>
          </a:p>
          <a:p>
            <a:pPr marL="91440" indent="-91440">
              <a:lnSpc>
                <a:spcPct val="100000"/>
              </a:lnSpc>
              <a:spcBef>
                <a:spcPts val="200"/>
              </a:spcBef>
              <a:defRPr/>
            </a:pPr>
            <a:r>
              <a:rPr lang="es-ES_tradnl" sz="1600" dirty="0">
                <a:solidFill>
                  <a:schemeClr val="tx1">
                    <a:lumMod val="75000"/>
                    <a:lumOff val="25000"/>
                  </a:schemeClr>
                </a:solidFill>
              </a:rPr>
              <a:t>Tema 7: 		Formulación de la hipótesis </a:t>
            </a:r>
          </a:p>
          <a:p>
            <a:pPr marL="91440" indent="-91440">
              <a:lnSpc>
                <a:spcPct val="100000"/>
              </a:lnSpc>
              <a:spcBef>
                <a:spcPts val="200"/>
              </a:spcBef>
              <a:defRPr/>
            </a:pPr>
            <a:r>
              <a:rPr lang="es-ES_tradnl" sz="1600" dirty="0">
                <a:solidFill>
                  <a:schemeClr val="tx1">
                    <a:lumMod val="75000"/>
                    <a:lumOff val="25000"/>
                  </a:schemeClr>
                </a:solidFill>
              </a:rPr>
              <a:t>Tema 8: 		Identificación de las variables</a:t>
            </a:r>
            <a:endParaRPr lang="es-PE" sz="1600" dirty="0">
              <a:solidFill>
                <a:schemeClr val="tx1">
                  <a:lumMod val="75000"/>
                  <a:lumOff val="25000"/>
                </a:schemeClr>
              </a:solidFill>
            </a:endParaRPr>
          </a:p>
          <a:p>
            <a:pPr marL="91440" indent="-91440">
              <a:lnSpc>
                <a:spcPct val="100000"/>
              </a:lnSpc>
              <a:spcBef>
                <a:spcPts val="200"/>
              </a:spcBef>
              <a:defRPr/>
            </a:pPr>
            <a:r>
              <a:rPr lang="es-ES_tradnl" sz="1600" dirty="0">
                <a:solidFill>
                  <a:schemeClr val="tx1">
                    <a:lumMod val="75000"/>
                    <a:lumOff val="25000"/>
                  </a:schemeClr>
                </a:solidFill>
              </a:rPr>
              <a:t>Tema 9: 		Diseño de la investigación</a:t>
            </a:r>
          </a:p>
          <a:p>
            <a:pPr marL="91440" indent="-91440">
              <a:lnSpc>
                <a:spcPct val="100000"/>
              </a:lnSpc>
              <a:spcBef>
                <a:spcPts val="200"/>
              </a:spcBef>
              <a:defRPr/>
            </a:pPr>
            <a:r>
              <a:rPr lang="es-ES_tradnl" sz="1600" dirty="0">
                <a:solidFill>
                  <a:schemeClr val="tx1">
                    <a:lumMod val="75000"/>
                    <a:lumOff val="25000"/>
                  </a:schemeClr>
                </a:solidFill>
              </a:rPr>
              <a:t>Tema 10:		Selección de la muestra</a:t>
            </a:r>
          </a:p>
          <a:p>
            <a:pPr marL="91440" indent="-91440">
              <a:lnSpc>
                <a:spcPct val="100000"/>
              </a:lnSpc>
              <a:spcBef>
                <a:spcPts val="200"/>
              </a:spcBef>
              <a:defRPr/>
            </a:pPr>
            <a:r>
              <a:rPr lang="es-ES_tradnl" sz="1600" dirty="0">
                <a:solidFill>
                  <a:schemeClr val="tx1">
                    <a:lumMod val="75000"/>
                    <a:lumOff val="25000"/>
                  </a:schemeClr>
                </a:solidFill>
              </a:rPr>
              <a:t>Tema 11: 		Recolección de datos</a:t>
            </a:r>
            <a:endParaRPr lang="es-PE" sz="1600" dirty="0">
              <a:solidFill>
                <a:schemeClr val="tx1">
                  <a:lumMod val="75000"/>
                  <a:lumOff val="25000"/>
                </a:schemeClr>
              </a:solidFill>
            </a:endParaRPr>
          </a:p>
          <a:p>
            <a:pPr marL="91440" indent="-91440">
              <a:lnSpc>
                <a:spcPct val="100000"/>
              </a:lnSpc>
              <a:spcBef>
                <a:spcPts val="200"/>
              </a:spcBef>
              <a:defRPr/>
            </a:pPr>
            <a:r>
              <a:rPr lang="es-ES_tradnl" sz="1600" dirty="0">
                <a:solidFill>
                  <a:schemeClr val="tx1">
                    <a:lumMod val="75000"/>
                    <a:lumOff val="25000"/>
                  </a:schemeClr>
                </a:solidFill>
              </a:rPr>
              <a:t>Tema 12: 		Análisis de datos</a:t>
            </a:r>
          </a:p>
          <a:p>
            <a:pPr marL="91440" indent="-91440">
              <a:lnSpc>
                <a:spcPct val="100000"/>
              </a:lnSpc>
              <a:spcBef>
                <a:spcPts val="200"/>
              </a:spcBef>
              <a:defRPr/>
            </a:pPr>
            <a:r>
              <a:rPr lang="es-ES_tradnl" sz="1600" dirty="0">
                <a:solidFill>
                  <a:schemeClr val="tx1">
                    <a:lumMod val="75000"/>
                    <a:lumOff val="25000"/>
                  </a:schemeClr>
                </a:solidFill>
              </a:rPr>
              <a:t>Tema 13: 		Elaboración y presentación del reporte de resultados</a:t>
            </a:r>
          </a:p>
          <a:p>
            <a:pPr marL="91440" indent="-91440">
              <a:lnSpc>
                <a:spcPct val="100000"/>
              </a:lnSpc>
              <a:spcBef>
                <a:spcPts val="200"/>
              </a:spcBef>
              <a:defRPr/>
            </a:pPr>
            <a:r>
              <a:rPr lang="es-ES_tradnl" sz="1600" dirty="0">
                <a:solidFill>
                  <a:schemeClr val="tx1">
                    <a:lumMod val="75000"/>
                    <a:lumOff val="25000"/>
                  </a:schemeClr>
                </a:solidFill>
              </a:rPr>
              <a:t>Tema 14: 		Elaboración y presentación del reporte de resultados</a:t>
            </a:r>
            <a:endParaRPr lang="es-PE" sz="1600" dirty="0">
              <a:solidFill>
                <a:schemeClr val="tx1">
                  <a:lumMod val="75000"/>
                  <a:lumOff val="25000"/>
                </a:schemeClr>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866A18F4-43A1-16E9-AF9C-89AD8F9A025B}"/>
              </a:ext>
            </a:extLst>
          </p:cNvPr>
          <p:cNvSpPr>
            <a:spLocks noGrp="1" noChangeArrowheads="1"/>
          </p:cNvSpPr>
          <p:nvPr>
            <p:ph type="title"/>
          </p:nvPr>
        </p:nvSpPr>
        <p:spPr/>
        <p:txBody>
          <a:bodyPr anchor="ctr"/>
          <a:lstStyle/>
          <a:p>
            <a:pPr eaLnBrk="1" fontAlgn="auto" hangingPunct="1">
              <a:spcAft>
                <a:spcPts val="0"/>
              </a:spcAft>
              <a:defRPr/>
            </a:pPr>
            <a:r>
              <a:rPr lang="es-ES" altLang="es-PE" sz="2800" b="1" dirty="0">
                <a:solidFill>
                  <a:schemeClr val="tx1">
                    <a:lumMod val="75000"/>
                    <a:lumOff val="25000"/>
                  </a:schemeClr>
                </a:solidFill>
              </a:rPr>
              <a:t>RECOMENDACIONES PARA EL CURSO</a:t>
            </a:r>
            <a:endParaRPr lang="es-ES_tradnl" altLang="es-PE" sz="2800" b="1" dirty="0">
              <a:solidFill>
                <a:schemeClr val="tx1">
                  <a:lumMod val="75000"/>
                  <a:lumOff val="25000"/>
                </a:schemeClr>
              </a:solidFill>
            </a:endParaRPr>
          </a:p>
        </p:txBody>
      </p:sp>
      <p:sp>
        <p:nvSpPr>
          <p:cNvPr id="13315" name="Rectangle 3">
            <a:extLst>
              <a:ext uri="{FF2B5EF4-FFF2-40B4-BE49-F238E27FC236}">
                <a16:creationId xmlns:a16="http://schemas.microsoft.com/office/drawing/2014/main" id="{2D0141F5-84A5-943C-0575-A392F33DF123}"/>
              </a:ext>
            </a:extLst>
          </p:cNvPr>
          <p:cNvSpPr>
            <a:spLocks noGrp="1" noChangeArrowheads="1"/>
          </p:cNvSpPr>
          <p:nvPr>
            <p:ph idx="1"/>
          </p:nvPr>
        </p:nvSpPr>
        <p:spPr>
          <a:xfrm>
            <a:off x="1066800" y="2060575"/>
            <a:ext cx="10058400" cy="4022725"/>
          </a:xfrm>
        </p:spPr>
        <p:txBody>
          <a:bodyPr anchor="ctr">
            <a:normAutofit/>
          </a:bodyPr>
          <a:lstStyle/>
          <a:p>
            <a:pPr marL="538163" indent="-538163" eaLnBrk="1" hangingPunct="1">
              <a:lnSpc>
                <a:spcPct val="120000"/>
              </a:lnSpc>
              <a:buFont typeface="Wingdings" panose="05000000000000000000" pitchFamily="2" charset="2"/>
              <a:buChar char="v"/>
            </a:pPr>
            <a:r>
              <a:rPr lang="es-ES" altLang="es-PE" dirty="0"/>
              <a:t>Cada participante elige un tema de investigación empírica, relacionado a la economía.</a:t>
            </a:r>
          </a:p>
          <a:p>
            <a:pPr marL="538163" indent="-538163" eaLnBrk="1" hangingPunct="1">
              <a:lnSpc>
                <a:spcPct val="120000"/>
              </a:lnSpc>
              <a:buFont typeface="Wingdings" panose="05000000000000000000" pitchFamily="2" charset="2"/>
              <a:buChar char="v"/>
            </a:pPr>
            <a:r>
              <a:rPr lang="es-ES" altLang="es-PE" dirty="0"/>
              <a:t>Revise las Normas de la Universidad respecto al documento que tiene que presentar.</a:t>
            </a:r>
          </a:p>
          <a:p>
            <a:pPr marL="538163" indent="-538163" eaLnBrk="1" hangingPunct="1">
              <a:lnSpc>
                <a:spcPct val="120000"/>
              </a:lnSpc>
              <a:buFont typeface="Wingdings" panose="05000000000000000000" pitchFamily="2" charset="2"/>
              <a:buChar char="v"/>
            </a:pPr>
            <a:r>
              <a:rPr lang="es-ES" altLang="es-PE" dirty="0"/>
              <a:t>Se avanza el curso de acuerdo a lo que explica el documento.</a:t>
            </a:r>
          </a:p>
          <a:p>
            <a:pPr marL="538163" indent="-538163" eaLnBrk="1" hangingPunct="1">
              <a:lnSpc>
                <a:spcPct val="120000"/>
              </a:lnSpc>
              <a:buFont typeface="Wingdings" panose="05000000000000000000" pitchFamily="2" charset="2"/>
              <a:buChar char="v"/>
            </a:pPr>
            <a:r>
              <a:rPr lang="es-ES" altLang="es-PE" dirty="0"/>
              <a:t>Los avances de cada sesión implican nota (aprendizaje continuo.</a:t>
            </a:r>
          </a:p>
          <a:p>
            <a:pPr marL="538163" indent="-538163" eaLnBrk="1" hangingPunct="1">
              <a:lnSpc>
                <a:spcPct val="120000"/>
              </a:lnSpc>
              <a:buFont typeface="Wingdings" panose="05000000000000000000" pitchFamily="2" charset="2"/>
              <a:buChar char="v"/>
            </a:pPr>
            <a:r>
              <a:rPr lang="es-ES" altLang="es-PE" dirty="0"/>
              <a:t>Revise documentos relacionados a su tema. Lleve ventaja.</a:t>
            </a:r>
          </a:p>
          <a:p>
            <a:pPr marL="538163" indent="-538163" eaLnBrk="1" hangingPunct="1">
              <a:lnSpc>
                <a:spcPct val="120000"/>
              </a:lnSpc>
              <a:buFont typeface="Wingdings" panose="05000000000000000000" pitchFamily="2" charset="2"/>
              <a:buChar char="v"/>
            </a:pPr>
            <a:r>
              <a:rPr lang="es-ES" altLang="es-PE" dirty="0"/>
              <a:t>Realice apuntes que se dan en clase que complementan lo expuesto en </a:t>
            </a:r>
            <a:r>
              <a:rPr lang="es-ES" altLang="es-PE" dirty="0" err="1"/>
              <a:t>ppt</a:t>
            </a:r>
            <a:r>
              <a:rPr lang="es-ES" altLang="es-PE" dirty="0"/>
              <a:t>.</a:t>
            </a:r>
          </a:p>
          <a:p>
            <a:pPr marL="538163" indent="-538163" eaLnBrk="1" hangingPunct="1">
              <a:lnSpc>
                <a:spcPct val="120000"/>
              </a:lnSpc>
              <a:buFont typeface="Wingdings" panose="05000000000000000000" pitchFamily="2" charset="2"/>
              <a:buChar char="v"/>
            </a:pPr>
            <a:r>
              <a:rPr lang="es-ES" altLang="es-PE" dirty="0"/>
              <a:t>Lo que elaboré tiene influencia en su desarrollo profesional.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97903FA1-1512-1AB7-FED9-C1D9A9F5787A}"/>
              </a:ext>
            </a:extLst>
          </p:cNvPr>
          <p:cNvSpPr>
            <a:spLocks noGrp="1" noChangeArrowheads="1"/>
          </p:cNvSpPr>
          <p:nvPr>
            <p:ph type="title"/>
          </p:nvPr>
        </p:nvSpPr>
        <p:spPr/>
        <p:txBody>
          <a:bodyPr/>
          <a:lstStyle/>
          <a:p>
            <a:pPr eaLnBrk="1" fontAlgn="auto" hangingPunct="1">
              <a:spcAft>
                <a:spcPts val="0"/>
              </a:spcAft>
              <a:defRPr/>
            </a:pPr>
            <a:r>
              <a:rPr lang="es-ES" altLang="es-PE" sz="2800" b="1">
                <a:solidFill>
                  <a:schemeClr val="tx1">
                    <a:lumMod val="75000"/>
                    <a:lumOff val="25000"/>
                  </a:schemeClr>
                </a:solidFill>
              </a:rPr>
              <a:t>BIBLIOGRAFIA</a:t>
            </a:r>
          </a:p>
        </p:txBody>
      </p:sp>
      <p:sp>
        <p:nvSpPr>
          <p:cNvPr id="14339" name="Rectangle 3">
            <a:extLst>
              <a:ext uri="{FF2B5EF4-FFF2-40B4-BE49-F238E27FC236}">
                <a16:creationId xmlns:a16="http://schemas.microsoft.com/office/drawing/2014/main" id="{535BE26E-D374-7D50-04C0-F514B16F93E0}"/>
              </a:ext>
            </a:extLst>
          </p:cNvPr>
          <p:cNvSpPr>
            <a:spLocks noGrp="1" noChangeArrowheads="1"/>
          </p:cNvSpPr>
          <p:nvPr>
            <p:ph idx="1"/>
          </p:nvPr>
        </p:nvSpPr>
        <p:spPr>
          <a:xfrm>
            <a:off x="911225" y="1844675"/>
            <a:ext cx="10244138" cy="4356100"/>
          </a:xfrm>
        </p:spPr>
        <p:txBody>
          <a:bodyPr rtlCol="0" anchor="ctr">
            <a:normAutofit/>
          </a:bodyPr>
          <a:lstStyle/>
          <a:p>
            <a:pPr marL="533400" indent="-533400" eaLnBrk="1" fontAlgn="auto" hangingPunct="1">
              <a:lnSpc>
                <a:spcPct val="120000"/>
              </a:lnSpc>
              <a:defRPr/>
            </a:pPr>
            <a:r>
              <a:rPr lang="es-ES" altLang="es-PE" dirty="0" err="1">
                <a:solidFill>
                  <a:schemeClr val="tx1">
                    <a:lumMod val="75000"/>
                    <a:lumOff val="25000"/>
                  </a:schemeClr>
                </a:solidFill>
              </a:rPr>
              <a:t>Baleriola</a:t>
            </a:r>
            <a:r>
              <a:rPr lang="es-ES" altLang="es-PE" dirty="0">
                <a:solidFill>
                  <a:schemeClr val="tx1">
                    <a:lumMod val="75000"/>
                    <a:lumOff val="25000"/>
                  </a:schemeClr>
                </a:solidFill>
              </a:rPr>
              <a:t> Escudero, E. (2017). Hacer investigación y no morir en el intento. EBAES. </a:t>
            </a:r>
          </a:p>
          <a:p>
            <a:pPr marL="533400" indent="-533400" eaLnBrk="1" fontAlgn="auto" hangingPunct="1">
              <a:lnSpc>
                <a:spcPct val="120000"/>
              </a:lnSpc>
              <a:defRPr/>
            </a:pPr>
            <a:r>
              <a:rPr lang="es-ES" altLang="es-PE" dirty="0">
                <a:solidFill>
                  <a:schemeClr val="tx1">
                    <a:lumMod val="75000"/>
                    <a:lumOff val="25000"/>
                  </a:schemeClr>
                </a:solidFill>
              </a:rPr>
              <a:t>Bernal, C. (2010) Metodología de la Investigación. Tercera edición. Pearson Educación.</a:t>
            </a:r>
          </a:p>
          <a:p>
            <a:pPr marL="533400" indent="-533400" eaLnBrk="1" fontAlgn="auto" hangingPunct="1">
              <a:lnSpc>
                <a:spcPct val="120000"/>
              </a:lnSpc>
              <a:defRPr/>
            </a:pPr>
            <a:r>
              <a:rPr lang="es-ES" altLang="es-PE" dirty="0">
                <a:solidFill>
                  <a:schemeClr val="tx1">
                    <a:lumMod val="75000"/>
                    <a:lumOff val="25000"/>
                  </a:schemeClr>
                </a:solidFill>
              </a:rPr>
              <a:t>Hernández-Sampieri, R. &amp; Mendoza Torres, Christian (2018). Metodología de la investigación: las rutas cuantitativa, cualitativa y mixta. McGraw-Hill Interamericana editores, S.A. de C.V.</a:t>
            </a:r>
          </a:p>
          <a:p>
            <a:pPr marL="533400" indent="-533400" eaLnBrk="1" fontAlgn="auto" hangingPunct="1">
              <a:lnSpc>
                <a:spcPct val="120000"/>
              </a:lnSpc>
              <a:defRPr/>
            </a:pPr>
            <a:r>
              <a:rPr lang="es-ES" altLang="es-PE" dirty="0">
                <a:solidFill>
                  <a:schemeClr val="tx1">
                    <a:lumMod val="75000"/>
                    <a:lumOff val="25000"/>
                  </a:schemeClr>
                </a:solidFill>
              </a:rPr>
              <a:t>Mari Mut, J. (2013). Manual de redacción científica. Ediciones digitales </a:t>
            </a:r>
            <a:r>
              <a:rPr lang="es-ES" altLang="es-PE" dirty="0" err="1">
                <a:solidFill>
                  <a:schemeClr val="tx1">
                    <a:lumMod val="75000"/>
                    <a:lumOff val="25000"/>
                  </a:schemeClr>
                </a:solidFill>
              </a:rPr>
              <a:t>Info</a:t>
            </a:r>
            <a:r>
              <a:rPr lang="es-ES" altLang="es-PE" dirty="0">
                <a:solidFill>
                  <a:schemeClr val="tx1">
                    <a:lumMod val="75000"/>
                    <a:lumOff val="25000"/>
                  </a:schemeClr>
                </a:solidFill>
              </a:rPr>
              <a:t>.</a:t>
            </a:r>
          </a:p>
          <a:p>
            <a:pPr marL="533400" indent="-533400" eaLnBrk="1" fontAlgn="auto" hangingPunct="1">
              <a:lnSpc>
                <a:spcPct val="120000"/>
              </a:lnSpc>
              <a:defRPr/>
            </a:pPr>
            <a:r>
              <a:rPr lang="es-ES" altLang="es-PE" dirty="0">
                <a:solidFill>
                  <a:schemeClr val="tx1">
                    <a:lumMod val="75000"/>
                    <a:lumOff val="25000"/>
                  </a:schemeClr>
                </a:solidFill>
              </a:rPr>
              <a:t>Strauss, A.; </a:t>
            </a:r>
            <a:r>
              <a:rPr lang="es-ES" altLang="es-PE" dirty="0" err="1">
                <a:solidFill>
                  <a:schemeClr val="tx1">
                    <a:lumMod val="75000"/>
                    <a:lumOff val="25000"/>
                  </a:schemeClr>
                </a:solidFill>
              </a:rPr>
              <a:t>Corbin</a:t>
            </a:r>
            <a:r>
              <a:rPr lang="es-ES" altLang="es-PE" dirty="0">
                <a:solidFill>
                  <a:schemeClr val="tx1">
                    <a:lumMod val="75000"/>
                    <a:lumOff val="25000"/>
                  </a:schemeClr>
                </a:solidFill>
              </a:rPr>
              <a:t>, J. (2016). Bases de la investigación cualitativa, técnicas y procedimientos para desarrollar la teoría fundamentada. Segunda reimpresión. Medellín: Universidad de Antioquía.</a:t>
            </a:r>
            <a:endParaRPr lang="es-ES_tradnl" altLang="es-PE" dirty="0">
              <a:solidFill>
                <a:schemeClr val="tx1">
                  <a:lumMod val="75000"/>
                  <a:lumOff val="25000"/>
                </a:schemeClr>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E387E447-5764-0A7D-8227-BED4ACC94863}"/>
              </a:ext>
            </a:extLst>
          </p:cNvPr>
          <p:cNvSpPr>
            <a:spLocks noGrp="1"/>
          </p:cNvSpPr>
          <p:nvPr>
            <p:ph type="ctrTitle"/>
          </p:nvPr>
        </p:nvSpPr>
        <p:spPr>
          <a:xfrm>
            <a:off x="1097280" y="2148214"/>
            <a:ext cx="10058400" cy="2176898"/>
          </a:xfrm>
        </p:spPr>
        <p:txBody>
          <a:bodyPr anchor="ctr">
            <a:normAutofit/>
          </a:bodyPr>
          <a:lstStyle/>
          <a:p>
            <a:pPr>
              <a:defRPr/>
            </a:pPr>
            <a:r>
              <a:rPr lang="es-PE" sz="3200" dirty="0"/>
              <a:t>TEMA 1: </a:t>
            </a:r>
            <a:br>
              <a:rPr lang="es-PE" sz="3200" dirty="0"/>
            </a:br>
            <a:r>
              <a:rPr lang="es-PE" sz="3200" dirty="0"/>
              <a:t>RUTAS DE LA INVESTIGACION CIENTIFICA</a:t>
            </a:r>
            <a:br>
              <a:rPr lang="es-PE" sz="3200" dirty="0"/>
            </a:br>
            <a:r>
              <a:rPr lang="es-ES" altLang="es-PE" sz="3200" dirty="0"/>
              <a:t>MATERIAL ELECTRONICO 1  - 2025 0</a:t>
            </a:r>
            <a:endParaRPr lang="es-PE" sz="3200" dirty="0"/>
          </a:p>
        </p:txBody>
      </p:sp>
      <p:sp>
        <p:nvSpPr>
          <p:cNvPr id="5" name="Subtítulo 4">
            <a:extLst>
              <a:ext uri="{FF2B5EF4-FFF2-40B4-BE49-F238E27FC236}">
                <a16:creationId xmlns:a16="http://schemas.microsoft.com/office/drawing/2014/main" id="{28C09AEE-2084-F8D3-598F-B5D0FBAB0F4A}"/>
              </a:ext>
            </a:extLst>
          </p:cNvPr>
          <p:cNvSpPr>
            <a:spLocks noGrp="1"/>
          </p:cNvSpPr>
          <p:nvPr>
            <p:ph type="subTitle" idx="1"/>
          </p:nvPr>
        </p:nvSpPr>
        <p:spPr/>
        <p:txBody>
          <a:bodyPr/>
          <a:lstStyle/>
          <a:p>
            <a:endParaRPr lang="es-PE" dirty="0"/>
          </a:p>
        </p:txBody>
      </p:sp>
      <p:pic>
        <p:nvPicPr>
          <p:cNvPr id="2" name="Picture 5" descr="Universidad Nacional Mayor de San Marcos - Wikiquote">
            <a:extLst>
              <a:ext uri="{FF2B5EF4-FFF2-40B4-BE49-F238E27FC236}">
                <a16:creationId xmlns:a16="http://schemas.microsoft.com/office/drawing/2014/main" id="{9A8F943F-1689-2C4B-33D1-25D4358AB1F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97280" y="852808"/>
            <a:ext cx="1042629" cy="1213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Imagen 2">
            <a:extLst>
              <a:ext uri="{FF2B5EF4-FFF2-40B4-BE49-F238E27FC236}">
                <a16:creationId xmlns:a16="http://schemas.microsoft.com/office/drawing/2014/main" id="{E2F9BE7A-031B-42E9-9C67-147B79343F4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37996" y="812150"/>
            <a:ext cx="943006" cy="1175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ángulo 5">
            <a:extLst>
              <a:ext uri="{FF2B5EF4-FFF2-40B4-BE49-F238E27FC236}">
                <a16:creationId xmlns:a16="http://schemas.microsoft.com/office/drawing/2014/main" id="{30E3BBD4-16F4-5831-2C67-807F4D1C4A41}"/>
              </a:ext>
            </a:extLst>
          </p:cNvPr>
          <p:cNvSpPr/>
          <p:nvPr/>
        </p:nvSpPr>
        <p:spPr>
          <a:xfrm rot="210940">
            <a:off x="2325474" y="759480"/>
            <a:ext cx="57279" cy="1306017"/>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s-PE"/>
          </a:p>
        </p:txBody>
      </p:sp>
    </p:spTree>
    <p:extLst>
      <p:ext uri="{BB962C8B-B14F-4D97-AF65-F5344CB8AC3E}">
        <p14:creationId xmlns:p14="http://schemas.microsoft.com/office/powerpoint/2010/main" val="17787977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2BB669-B9D5-5675-5D99-DD5C4B7FE4D8}"/>
              </a:ext>
            </a:extLst>
          </p:cNvPr>
          <p:cNvSpPr>
            <a:spLocks noGrp="1"/>
          </p:cNvSpPr>
          <p:nvPr>
            <p:ph type="title"/>
          </p:nvPr>
        </p:nvSpPr>
        <p:spPr/>
        <p:txBody>
          <a:bodyPr anchor="ctr">
            <a:normAutofit/>
          </a:bodyPr>
          <a:lstStyle/>
          <a:p>
            <a:r>
              <a:rPr lang="es-PE" sz="2800" dirty="0"/>
              <a:t>INVESTIGACION CIENTIFICA</a:t>
            </a:r>
          </a:p>
        </p:txBody>
      </p:sp>
      <p:sp>
        <p:nvSpPr>
          <p:cNvPr id="3" name="Marcador de contenido 2">
            <a:extLst>
              <a:ext uri="{FF2B5EF4-FFF2-40B4-BE49-F238E27FC236}">
                <a16:creationId xmlns:a16="http://schemas.microsoft.com/office/drawing/2014/main" id="{ABF2B71F-E769-CCF6-1A56-9A35C6C74C61}"/>
              </a:ext>
            </a:extLst>
          </p:cNvPr>
          <p:cNvSpPr>
            <a:spLocks noGrp="1"/>
          </p:cNvSpPr>
          <p:nvPr>
            <p:ph idx="1"/>
          </p:nvPr>
        </p:nvSpPr>
        <p:spPr>
          <a:xfrm>
            <a:off x="3607496" y="1881992"/>
            <a:ext cx="6969690" cy="4351338"/>
          </a:xfrm>
        </p:spPr>
        <p:txBody>
          <a:bodyPr anchor="ctr">
            <a:normAutofit/>
          </a:bodyPr>
          <a:lstStyle/>
          <a:p>
            <a:pPr marL="0" indent="0" algn="ctr">
              <a:lnSpc>
                <a:spcPct val="150000"/>
              </a:lnSpc>
              <a:buNone/>
            </a:pPr>
            <a:r>
              <a:rPr lang="es-MX" sz="2000" b="0" i="0" dirty="0">
                <a:solidFill>
                  <a:srgbClr val="404040"/>
                </a:solidFill>
                <a:effectLst/>
                <a:latin typeface="Open Sans" panose="020B0606030504020204" pitchFamily="34" charset="0"/>
              </a:rPr>
              <a:t>La investigación es el </a:t>
            </a:r>
            <a:r>
              <a:rPr lang="es-MX" sz="2000" b="1" i="0" dirty="0">
                <a:solidFill>
                  <a:srgbClr val="404040"/>
                </a:solidFill>
                <a:effectLst/>
                <a:latin typeface="Open Sans" panose="020B0606030504020204" pitchFamily="34" charset="0"/>
              </a:rPr>
              <a:t>proceso sistemático de análisis e indagación</a:t>
            </a:r>
            <a:r>
              <a:rPr lang="es-MX" sz="2000" b="0" i="0" dirty="0">
                <a:solidFill>
                  <a:srgbClr val="404040"/>
                </a:solidFill>
                <a:effectLst/>
                <a:latin typeface="Open Sans" panose="020B0606030504020204" pitchFamily="34" charset="0"/>
              </a:rPr>
              <a:t>, regido por la aplicación de una serie de métodos y técnicas, cuyo objetivo es la comprobación de una hipótesis planteada, así como la confirmación o desarrollo de teorías relativas a las ciencias fácticas.</a:t>
            </a:r>
            <a:endParaRPr lang="es-PE" sz="2000" dirty="0"/>
          </a:p>
        </p:txBody>
      </p:sp>
      <p:sp>
        <p:nvSpPr>
          <p:cNvPr id="5" name="CuadroTexto 4">
            <a:extLst>
              <a:ext uri="{FF2B5EF4-FFF2-40B4-BE49-F238E27FC236}">
                <a16:creationId xmlns:a16="http://schemas.microsoft.com/office/drawing/2014/main" id="{5D55E44D-5B84-779B-F2E5-8904998DFB3F}"/>
              </a:ext>
            </a:extLst>
          </p:cNvPr>
          <p:cNvSpPr txBox="1"/>
          <p:nvPr/>
        </p:nvSpPr>
        <p:spPr>
          <a:xfrm>
            <a:off x="1376423" y="6176963"/>
            <a:ext cx="4719577" cy="646331"/>
          </a:xfrm>
          <a:prstGeom prst="rect">
            <a:avLst/>
          </a:prstGeom>
          <a:noFill/>
        </p:spPr>
        <p:txBody>
          <a:bodyPr wrap="square">
            <a:spAutoFit/>
          </a:bodyPr>
          <a:lstStyle/>
          <a:p>
            <a:r>
              <a:rPr lang="es-PE" dirty="0">
                <a:hlinkClick r:id="rId2"/>
              </a:rPr>
              <a:t>https://www.significados.com/investigacion/</a:t>
            </a:r>
            <a:r>
              <a:rPr lang="es-PE" dirty="0"/>
              <a:t>/</a:t>
            </a:r>
          </a:p>
          <a:p>
            <a:r>
              <a:rPr lang="es-PE" dirty="0"/>
              <a:t>Fabian Coello</a:t>
            </a:r>
          </a:p>
        </p:txBody>
      </p:sp>
    </p:spTree>
    <p:extLst>
      <p:ext uri="{BB962C8B-B14F-4D97-AF65-F5344CB8AC3E}">
        <p14:creationId xmlns:p14="http://schemas.microsoft.com/office/powerpoint/2010/main" val="28629897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70D932-16C1-E006-AE30-2F247CA9E272}"/>
              </a:ext>
            </a:extLst>
          </p:cNvPr>
          <p:cNvSpPr>
            <a:spLocks noGrp="1"/>
          </p:cNvSpPr>
          <p:nvPr>
            <p:ph type="title"/>
          </p:nvPr>
        </p:nvSpPr>
        <p:spPr/>
        <p:txBody>
          <a:bodyPr anchor="ctr">
            <a:normAutofit/>
          </a:bodyPr>
          <a:lstStyle/>
          <a:p>
            <a:pPr algn="ctr"/>
            <a:r>
              <a:rPr lang="es-PE" sz="2800" dirty="0"/>
              <a:t>¿Cómo se define la investigación económica?</a:t>
            </a:r>
          </a:p>
        </p:txBody>
      </p:sp>
      <p:sp>
        <p:nvSpPr>
          <p:cNvPr id="3" name="Marcador de contenido 2">
            <a:extLst>
              <a:ext uri="{FF2B5EF4-FFF2-40B4-BE49-F238E27FC236}">
                <a16:creationId xmlns:a16="http://schemas.microsoft.com/office/drawing/2014/main" id="{D80EC977-8F24-9FBF-13D1-9545804A17E2}"/>
              </a:ext>
            </a:extLst>
          </p:cNvPr>
          <p:cNvSpPr>
            <a:spLocks noGrp="1"/>
          </p:cNvSpPr>
          <p:nvPr>
            <p:ph idx="1"/>
          </p:nvPr>
        </p:nvSpPr>
        <p:spPr>
          <a:xfrm>
            <a:off x="838201" y="1825625"/>
            <a:ext cx="6047508" cy="2607830"/>
          </a:xfrm>
        </p:spPr>
        <p:txBody>
          <a:bodyPr anchor="ctr"/>
          <a:lstStyle/>
          <a:p>
            <a:pPr marL="0" indent="0" algn="ctr">
              <a:lnSpc>
                <a:spcPct val="150000"/>
              </a:lnSpc>
              <a:buNone/>
            </a:pPr>
            <a:r>
              <a:rPr lang="es-MX" dirty="0"/>
              <a:t>La investigación económica es un proceso sistemático que busca comprender cómo las sociedades utilizan recursos escasos para satisfacer necesidades ilimitadas.</a:t>
            </a:r>
            <a:endParaRPr lang="es-PE" dirty="0"/>
          </a:p>
        </p:txBody>
      </p:sp>
      <p:sp>
        <p:nvSpPr>
          <p:cNvPr id="5" name="CuadroTexto 4">
            <a:extLst>
              <a:ext uri="{FF2B5EF4-FFF2-40B4-BE49-F238E27FC236}">
                <a16:creationId xmlns:a16="http://schemas.microsoft.com/office/drawing/2014/main" id="{69163337-AA8B-BB8B-EAA1-0D8AB8A18AA7}"/>
              </a:ext>
            </a:extLst>
          </p:cNvPr>
          <p:cNvSpPr txBox="1"/>
          <p:nvPr/>
        </p:nvSpPr>
        <p:spPr>
          <a:xfrm>
            <a:off x="4433455" y="4976634"/>
            <a:ext cx="7412181" cy="1200329"/>
          </a:xfrm>
          <a:prstGeom prst="rect">
            <a:avLst/>
          </a:prstGeom>
          <a:noFill/>
        </p:spPr>
        <p:txBody>
          <a:bodyPr wrap="square">
            <a:spAutoFit/>
          </a:bodyPr>
          <a:lstStyle/>
          <a:p>
            <a:r>
              <a:rPr lang="es-PE" dirty="0">
                <a:hlinkClick r:id="rId2"/>
              </a:rPr>
              <a:t>https://www.rosenbergresearch.com/2025/04/20/the-importance-of-economic-research-in-policy-making/#:~:text=La%20investigaci%C3%B3n%20econ%C3%B3mica%20proporciona%20la,y%20en%20todos%20los%20ciclos</a:t>
            </a:r>
            <a:r>
              <a:rPr lang="es-PE" dirty="0"/>
              <a:t>.</a:t>
            </a:r>
          </a:p>
        </p:txBody>
      </p:sp>
    </p:spTree>
    <p:extLst>
      <p:ext uri="{BB962C8B-B14F-4D97-AF65-F5344CB8AC3E}">
        <p14:creationId xmlns:p14="http://schemas.microsoft.com/office/powerpoint/2010/main" val="11220130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A7C0155-4A7B-A7FB-FFA5-B7DDB54633DB}"/>
              </a:ext>
            </a:extLst>
          </p:cNvPr>
          <p:cNvSpPr>
            <a:spLocks noGrp="1"/>
          </p:cNvSpPr>
          <p:nvPr>
            <p:ph type="title"/>
          </p:nvPr>
        </p:nvSpPr>
        <p:spPr/>
        <p:txBody>
          <a:bodyPr anchor="ctr">
            <a:normAutofit/>
          </a:bodyPr>
          <a:lstStyle/>
          <a:p>
            <a:pPr algn="ctr"/>
            <a:r>
              <a:rPr lang="es-PE" sz="2800" dirty="0"/>
              <a:t>¿Cómo comenzar a investigar?</a:t>
            </a:r>
          </a:p>
        </p:txBody>
      </p:sp>
      <p:sp>
        <p:nvSpPr>
          <p:cNvPr id="3" name="Marcador de contenido 2">
            <a:extLst>
              <a:ext uri="{FF2B5EF4-FFF2-40B4-BE49-F238E27FC236}">
                <a16:creationId xmlns:a16="http://schemas.microsoft.com/office/drawing/2014/main" id="{87B6E1F6-0E9D-5ECA-775D-DB27886A8264}"/>
              </a:ext>
            </a:extLst>
          </p:cNvPr>
          <p:cNvSpPr>
            <a:spLocks noGrp="1"/>
          </p:cNvSpPr>
          <p:nvPr>
            <p:ph idx="1"/>
          </p:nvPr>
        </p:nvSpPr>
        <p:spPr>
          <a:xfrm>
            <a:off x="4064696" y="1690688"/>
            <a:ext cx="7289103" cy="4486275"/>
          </a:xfrm>
        </p:spPr>
        <p:txBody>
          <a:bodyPr anchor="ctr">
            <a:normAutofit/>
          </a:bodyPr>
          <a:lstStyle/>
          <a:p>
            <a:pPr marL="0" indent="0" algn="ctr">
              <a:lnSpc>
                <a:spcPct val="150000"/>
              </a:lnSpc>
              <a:buNone/>
            </a:pPr>
            <a:r>
              <a:rPr lang="es-MX" sz="2000" dirty="0"/>
              <a:t>Toda investigación se inicia con una idea que se desarrolla paulatinamente. Pero para comenzar una investigación necesitas primero conocer las rutas que han sido construidas por las comunidades científicas para estudiar cualquier tema, fenómeno o planteamiento. Hay tres rutas fundamentales: </a:t>
            </a:r>
            <a:r>
              <a:rPr lang="es-MX" sz="2000" b="1" dirty="0">
                <a:solidFill>
                  <a:srgbClr val="FF0000"/>
                </a:solidFill>
              </a:rPr>
              <a:t>la cuantitativa, la cualitativa y la mixta</a:t>
            </a:r>
            <a:r>
              <a:rPr lang="es-MX" sz="2000" dirty="0"/>
              <a:t>.</a:t>
            </a:r>
            <a:endParaRPr lang="es-PE" sz="2000" dirty="0"/>
          </a:p>
        </p:txBody>
      </p:sp>
      <p:pic>
        <p:nvPicPr>
          <p:cNvPr id="4" name="Imagen 3">
            <a:extLst>
              <a:ext uri="{FF2B5EF4-FFF2-40B4-BE49-F238E27FC236}">
                <a16:creationId xmlns:a16="http://schemas.microsoft.com/office/drawing/2014/main" id="{3F003212-C943-6EEE-FE54-A4BA5EE32D53}"/>
              </a:ext>
            </a:extLst>
          </p:cNvPr>
          <p:cNvPicPr>
            <a:picLocks noChangeAspect="1"/>
          </p:cNvPicPr>
          <p:nvPr/>
        </p:nvPicPr>
        <p:blipFill>
          <a:blip r:embed="rId2"/>
          <a:stretch>
            <a:fillRect/>
          </a:stretch>
        </p:blipFill>
        <p:spPr>
          <a:xfrm>
            <a:off x="244257" y="2847858"/>
            <a:ext cx="2437462" cy="2437462"/>
          </a:xfrm>
          <a:prstGeom prst="rect">
            <a:avLst/>
          </a:prstGeom>
        </p:spPr>
      </p:pic>
    </p:spTree>
    <p:extLst>
      <p:ext uri="{BB962C8B-B14F-4D97-AF65-F5344CB8AC3E}">
        <p14:creationId xmlns:p14="http://schemas.microsoft.com/office/powerpoint/2010/main" val="26692859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55CE204-85D1-3C53-F7C1-5F49F5AA8689}"/>
              </a:ext>
            </a:extLst>
          </p:cNvPr>
          <p:cNvSpPr>
            <a:spLocks noGrp="1"/>
          </p:cNvSpPr>
          <p:nvPr>
            <p:ph type="title"/>
          </p:nvPr>
        </p:nvSpPr>
        <p:spPr>
          <a:xfrm>
            <a:off x="838200" y="318826"/>
            <a:ext cx="10515600" cy="1325563"/>
          </a:xfrm>
        </p:spPr>
        <p:txBody>
          <a:bodyPr>
            <a:normAutofit/>
          </a:bodyPr>
          <a:lstStyle/>
          <a:p>
            <a:r>
              <a:rPr lang="es-PE" sz="2800" dirty="0"/>
              <a:t>ESTRATEGIAS DE LOS TRES ENFOQUES</a:t>
            </a:r>
          </a:p>
        </p:txBody>
      </p:sp>
      <p:sp>
        <p:nvSpPr>
          <p:cNvPr id="3" name="Marcador de contenido 2">
            <a:extLst>
              <a:ext uri="{FF2B5EF4-FFF2-40B4-BE49-F238E27FC236}">
                <a16:creationId xmlns:a16="http://schemas.microsoft.com/office/drawing/2014/main" id="{AD884FAF-DDFB-48B6-5851-E86ED0F068C3}"/>
              </a:ext>
            </a:extLst>
          </p:cNvPr>
          <p:cNvSpPr>
            <a:spLocks noGrp="1"/>
          </p:cNvSpPr>
          <p:nvPr>
            <p:ph idx="1"/>
          </p:nvPr>
        </p:nvSpPr>
        <p:spPr>
          <a:xfrm>
            <a:off x="838200" y="1825624"/>
            <a:ext cx="10341279" cy="4713549"/>
          </a:xfrm>
        </p:spPr>
        <p:txBody>
          <a:bodyPr anchor="ctr">
            <a:normAutofit/>
          </a:bodyPr>
          <a:lstStyle/>
          <a:p>
            <a:pPr marL="0" indent="0">
              <a:lnSpc>
                <a:spcPct val="120000"/>
              </a:lnSpc>
              <a:buNone/>
            </a:pPr>
            <a:r>
              <a:rPr lang="es-MX" sz="2000" dirty="0"/>
              <a:t>Los tres enfoques utilizan procesos sistemáticos, reflexivos y empíricos en su esfuerzo de generar conocimiento, valiéndose de las siguientes estrategias: </a:t>
            </a:r>
          </a:p>
          <a:p>
            <a:pPr marL="514350" indent="-514350">
              <a:lnSpc>
                <a:spcPct val="120000"/>
              </a:lnSpc>
              <a:buFont typeface="+mj-lt"/>
              <a:buAutoNum type="arabicPeriod"/>
            </a:pPr>
            <a:r>
              <a:rPr lang="es-MX" sz="2000" dirty="0"/>
              <a:t>Observación y evaluación de fenómenos. </a:t>
            </a:r>
          </a:p>
          <a:p>
            <a:pPr marL="514350" indent="-514350">
              <a:lnSpc>
                <a:spcPct val="120000"/>
              </a:lnSpc>
              <a:buFont typeface="+mj-lt"/>
              <a:buAutoNum type="arabicPeriod"/>
            </a:pPr>
            <a:r>
              <a:rPr lang="es-MX" sz="2000" dirty="0"/>
              <a:t>Establecimiento de suposiciones como consecuencia de la observación y evaluación. </a:t>
            </a:r>
          </a:p>
          <a:p>
            <a:pPr marL="514350" indent="-514350">
              <a:lnSpc>
                <a:spcPct val="120000"/>
              </a:lnSpc>
              <a:buFont typeface="+mj-lt"/>
              <a:buAutoNum type="arabicPeriod"/>
            </a:pPr>
            <a:r>
              <a:rPr lang="es-MX" sz="2000" dirty="0"/>
              <a:t>Demostración del grado en que las suposiciones tienen o no fundamento o son ciertas en determinado contexto, mediante análisis y pruebas. </a:t>
            </a:r>
          </a:p>
          <a:p>
            <a:pPr marL="514350" indent="-514350">
              <a:lnSpc>
                <a:spcPct val="120000"/>
              </a:lnSpc>
              <a:buFont typeface="+mj-lt"/>
              <a:buAutoNum type="arabicPeriod"/>
            </a:pPr>
            <a:r>
              <a:rPr lang="es-MX" sz="2000" dirty="0"/>
              <a:t>Proponer nuevas observaciones y evaluaciones para consolidar, esclarecer o modificar las suposiciones; o incluso para generar otras.</a:t>
            </a:r>
          </a:p>
          <a:p>
            <a:pPr marL="0" indent="0">
              <a:lnSpc>
                <a:spcPct val="120000"/>
              </a:lnSpc>
              <a:buNone/>
            </a:pPr>
            <a:r>
              <a:rPr lang="es-MX" sz="2000" dirty="0"/>
              <a:t> Desde luego, cada enfoque posee sus propias características esenciales.</a:t>
            </a:r>
            <a:endParaRPr lang="es-PE" sz="2000" dirty="0"/>
          </a:p>
        </p:txBody>
      </p:sp>
    </p:spTree>
    <p:extLst>
      <p:ext uri="{BB962C8B-B14F-4D97-AF65-F5344CB8AC3E}">
        <p14:creationId xmlns:p14="http://schemas.microsoft.com/office/powerpoint/2010/main" val="32720459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54CA2A-802A-D0F4-0098-8BBF1AF9762C}"/>
              </a:ext>
            </a:extLst>
          </p:cNvPr>
          <p:cNvSpPr>
            <a:spLocks noGrp="1"/>
          </p:cNvSpPr>
          <p:nvPr>
            <p:ph type="title"/>
          </p:nvPr>
        </p:nvSpPr>
        <p:spPr/>
        <p:txBody>
          <a:bodyPr anchor="ctr">
            <a:normAutofit/>
          </a:bodyPr>
          <a:lstStyle/>
          <a:p>
            <a:r>
              <a:rPr lang="es-PE" sz="2800" dirty="0"/>
              <a:t>RUTA DE LA INVESTIGACION CUANTITATIVA</a:t>
            </a:r>
          </a:p>
        </p:txBody>
      </p:sp>
      <p:sp>
        <p:nvSpPr>
          <p:cNvPr id="3" name="Marcador de contenido 2">
            <a:extLst>
              <a:ext uri="{FF2B5EF4-FFF2-40B4-BE49-F238E27FC236}">
                <a16:creationId xmlns:a16="http://schemas.microsoft.com/office/drawing/2014/main" id="{0FF79762-B483-0B51-8403-8C72A37FECA1}"/>
              </a:ext>
            </a:extLst>
          </p:cNvPr>
          <p:cNvSpPr>
            <a:spLocks noGrp="1"/>
          </p:cNvSpPr>
          <p:nvPr>
            <p:ph idx="1"/>
          </p:nvPr>
        </p:nvSpPr>
        <p:spPr>
          <a:xfrm>
            <a:off x="838200" y="1825625"/>
            <a:ext cx="10515600" cy="4667250"/>
          </a:xfrm>
        </p:spPr>
        <p:txBody>
          <a:bodyPr anchor="ctr">
            <a:normAutofit/>
          </a:bodyPr>
          <a:lstStyle/>
          <a:p>
            <a:pPr marL="514350" indent="-514350">
              <a:buFont typeface="+mj-lt"/>
              <a:buAutoNum type="arabicPeriod"/>
            </a:pPr>
            <a:r>
              <a:rPr lang="es-MX" sz="2000" dirty="0"/>
              <a:t>El investigador plantea en un contexto concreto un problema de estudio acotado sobre el fenómeno de interés (el qué), aunque en evolución. </a:t>
            </a:r>
          </a:p>
          <a:p>
            <a:pPr marL="514350" indent="-514350">
              <a:buFont typeface="+mj-lt"/>
              <a:buAutoNum type="arabicPeriod"/>
            </a:pPr>
            <a:r>
              <a:rPr lang="es-MX" sz="2000" dirty="0"/>
              <a:t>Una vez planteado el problema, el investigador examina lo que se ha indagado previamente y construye un marco teórico, del cual deriva una o varias hipótesis y las somete a prueba mediante el empleo de un diseño de investigación apropiado. </a:t>
            </a:r>
          </a:p>
          <a:p>
            <a:pPr marL="514350" indent="-514350">
              <a:buFont typeface="+mj-lt"/>
              <a:buAutoNum type="arabicPeriod"/>
            </a:pPr>
            <a:r>
              <a:rPr lang="es-MX" sz="2000" dirty="0"/>
              <a:t>Las hipótesis se generan antes de recolectar y analizar los datos. </a:t>
            </a:r>
          </a:p>
          <a:p>
            <a:pPr marL="514350" indent="-514350">
              <a:buFont typeface="+mj-lt"/>
              <a:buAutoNum type="arabicPeriod"/>
            </a:pPr>
            <a:r>
              <a:rPr lang="es-MX" sz="2000" dirty="0"/>
              <a:t>Los datos se encuentran en forma de números y, por tanto, su recolección se fundamenta en la medición (en los casos se miden las variables contenidas en las hipótesis). </a:t>
            </a:r>
            <a:endParaRPr lang="es-PE" sz="2000" dirty="0"/>
          </a:p>
        </p:txBody>
      </p:sp>
    </p:spTree>
    <p:extLst>
      <p:ext uri="{BB962C8B-B14F-4D97-AF65-F5344CB8AC3E}">
        <p14:creationId xmlns:p14="http://schemas.microsoft.com/office/powerpoint/2010/main" val="18967494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54CA2A-802A-D0F4-0098-8BBF1AF9762C}"/>
              </a:ext>
            </a:extLst>
          </p:cNvPr>
          <p:cNvSpPr>
            <a:spLocks noGrp="1"/>
          </p:cNvSpPr>
          <p:nvPr>
            <p:ph type="title"/>
          </p:nvPr>
        </p:nvSpPr>
        <p:spPr/>
        <p:txBody>
          <a:bodyPr>
            <a:normAutofit/>
          </a:bodyPr>
          <a:lstStyle/>
          <a:p>
            <a:pPr algn="r"/>
            <a:r>
              <a:rPr lang="es-PE" sz="2800" dirty="0"/>
              <a:t>RUTA DE LA INVESTIGACION CUANTITATIVA</a:t>
            </a:r>
          </a:p>
        </p:txBody>
      </p:sp>
      <p:sp>
        <p:nvSpPr>
          <p:cNvPr id="3" name="Marcador de contenido 2">
            <a:extLst>
              <a:ext uri="{FF2B5EF4-FFF2-40B4-BE49-F238E27FC236}">
                <a16:creationId xmlns:a16="http://schemas.microsoft.com/office/drawing/2014/main" id="{0FF79762-B483-0B51-8403-8C72A37FECA1}"/>
              </a:ext>
            </a:extLst>
          </p:cNvPr>
          <p:cNvSpPr>
            <a:spLocks noGrp="1"/>
          </p:cNvSpPr>
          <p:nvPr>
            <p:ph idx="1"/>
          </p:nvPr>
        </p:nvSpPr>
        <p:spPr>
          <a:xfrm>
            <a:off x="3136739" y="1825625"/>
            <a:ext cx="8421788" cy="4667250"/>
          </a:xfrm>
        </p:spPr>
        <p:txBody>
          <a:bodyPr anchor="ctr">
            <a:normAutofit/>
          </a:bodyPr>
          <a:lstStyle/>
          <a:p>
            <a:pPr marL="514350" indent="-514350">
              <a:buFont typeface="+mj-lt"/>
              <a:buAutoNum type="arabicPeriod" startAt="5"/>
            </a:pPr>
            <a:r>
              <a:rPr lang="es-MX" sz="2000" dirty="0"/>
              <a:t>Ya que los datos son numéricos se deben analizar con métodos estadísticos. </a:t>
            </a:r>
          </a:p>
          <a:p>
            <a:pPr marL="514350" indent="-514350">
              <a:buFont typeface="+mj-lt"/>
              <a:buAutoNum type="arabicPeriod" startAt="5"/>
            </a:pPr>
            <a:r>
              <a:rPr lang="es-MX" sz="2000" dirty="0"/>
              <a:t>En el proceso se trata de alcanzar el mayor control para lograr que otras posibles explicaciones, distintas o “rivales” a la propuesta del estudio (hipótesis), se desechen y se excluya la incertidumbre y minimice el error. </a:t>
            </a:r>
          </a:p>
          <a:p>
            <a:pPr marL="514350" indent="-514350">
              <a:buFont typeface="+mj-lt"/>
              <a:buAutoNum type="arabicPeriod" startAt="5"/>
            </a:pPr>
            <a:r>
              <a:rPr lang="es-MX" sz="2000" dirty="0"/>
              <a:t>Los resultados se interpretan en relación con las suposiciones o predicciones iniciales (hipótesis) y de estudios previos (teoría). </a:t>
            </a:r>
            <a:endParaRPr lang="es-PE" sz="2000" dirty="0"/>
          </a:p>
        </p:txBody>
      </p:sp>
      <p:pic>
        <p:nvPicPr>
          <p:cNvPr id="4" name="Imagen 3">
            <a:extLst>
              <a:ext uri="{FF2B5EF4-FFF2-40B4-BE49-F238E27FC236}">
                <a16:creationId xmlns:a16="http://schemas.microsoft.com/office/drawing/2014/main" id="{A037CB12-1BCF-2672-3CB6-1D1E77EE3856}"/>
              </a:ext>
            </a:extLst>
          </p:cNvPr>
          <p:cNvPicPr>
            <a:picLocks noChangeAspect="1"/>
          </p:cNvPicPr>
          <p:nvPr/>
        </p:nvPicPr>
        <p:blipFill>
          <a:blip r:embed="rId2"/>
          <a:stretch>
            <a:fillRect/>
          </a:stretch>
        </p:blipFill>
        <p:spPr>
          <a:xfrm>
            <a:off x="56367" y="2832676"/>
            <a:ext cx="2990978" cy="2891720"/>
          </a:xfrm>
          <a:prstGeom prst="rect">
            <a:avLst/>
          </a:prstGeom>
        </p:spPr>
      </p:pic>
    </p:spTree>
    <p:extLst>
      <p:ext uri="{BB962C8B-B14F-4D97-AF65-F5344CB8AC3E}">
        <p14:creationId xmlns:p14="http://schemas.microsoft.com/office/powerpoint/2010/main" val="42257792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584E90-5D1E-2FCA-F61A-8B4D05AFDE86}"/>
              </a:ext>
            </a:extLst>
          </p:cNvPr>
          <p:cNvSpPr>
            <a:spLocks noGrp="1"/>
          </p:cNvSpPr>
          <p:nvPr>
            <p:ph type="title"/>
          </p:nvPr>
        </p:nvSpPr>
        <p:spPr/>
        <p:txBody>
          <a:bodyPr anchor="ctr">
            <a:normAutofit/>
          </a:bodyPr>
          <a:lstStyle/>
          <a:p>
            <a:pPr algn="ctr"/>
            <a:r>
              <a:rPr lang="es-PE" sz="2800" dirty="0"/>
              <a:t>CARACTERISTICAS ESENCIALES DEL ENFOQUE CUANTITATIVO</a:t>
            </a:r>
          </a:p>
        </p:txBody>
      </p:sp>
      <p:sp>
        <p:nvSpPr>
          <p:cNvPr id="3" name="Marcador de contenido 2">
            <a:extLst>
              <a:ext uri="{FF2B5EF4-FFF2-40B4-BE49-F238E27FC236}">
                <a16:creationId xmlns:a16="http://schemas.microsoft.com/office/drawing/2014/main" id="{A28280FA-08EC-3A40-0E5D-9C8D9ED819F9}"/>
              </a:ext>
            </a:extLst>
          </p:cNvPr>
          <p:cNvSpPr>
            <a:spLocks noGrp="1"/>
          </p:cNvSpPr>
          <p:nvPr>
            <p:ph idx="1"/>
          </p:nvPr>
        </p:nvSpPr>
        <p:spPr>
          <a:xfrm>
            <a:off x="838200" y="1781783"/>
            <a:ext cx="10515600" cy="4771945"/>
          </a:xfrm>
        </p:spPr>
        <p:txBody>
          <a:bodyPr>
            <a:normAutofit fontScale="92500" lnSpcReduction="10000"/>
          </a:bodyPr>
          <a:lstStyle/>
          <a:p>
            <a:pPr marL="514350" indent="-514350">
              <a:buFont typeface="+mj-lt"/>
              <a:buAutoNum type="arabicPeriod"/>
            </a:pPr>
            <a:r>
              <a:rPr lang="es-MX" sz="1600" dirty="0"/>
              <a:t>Búsqueda de la mayor objetividad posible en todo el proceso o ruta. Los fenómenos que se observan o miden no deben ser influidos por el investigador, el cual debe evitar en lo posible que sus sentimientos, creencias, deseos y tendencias afecten los resultados del estudio o interfieran en los procesos. </a:t>
            </a:r>
          </a:p>
          <a:p>
            <a:pPr marL="514350" indent="-514350">
              <a:buFont typeface="+mj-lt"/>
              <a:buAutoNum type="arabicPeriod"/>
            </a:pPr>
            <a:r>
              <a:rPr lang="es-MX" sz="1600" dirty="0"/>
              <a:t>En la ruta cuantitativa se sigue un patrón predecible y estructurado y se debe tener presente que las decisiones críticas sobre los métodos se toman antes de recolectar los datos, guiadas por el diseño (mapa). </a:t>
            </a:r>
          </a:p>
          <a:p>
            <a:pPr marL="514350" indent="-514350">
              <a:buFont typeface="+mj-lt"/>
              <a:buAutoNum type="arabicPeriod"/>
            </a:pPr>
            <a:r>
              <a:rPr lang="es-MX" sz="1600" dirty="0"/>
              <a:t> En la mayoría de los estudios cuantitativos se pretende generalizar los resultados y descubrimientos encontrados en los casos (muestra) a un universo mayor (población). Asimismo, en ocasiones es deseable que las investigaciones efectuadas puedan replicarse. </a:t>
            </a:r>
          </a:p>
          <a:p>
            <a:pPr marL="514350" indent="-514350">
              <a:buFont typeface="+mj-lt"/>
              <a:buAutoNum type="arabicPeriod"/>
            </a:pPr>
            <a:r>
              <a:rPr lang="es-MX" sz="1600" dirty="0"/>
              <a:t>Se pretende describir, explicar y predecir los fenómenos investigados, buscando regularidades y relaciones causales entre elementos (variables). Esto significa que la meta principal es la prueba de hipótesis y la formulación y demostración de teorías. </a:t>
            </a:r>
          </a:p>
          <a:p>
            <a:pPr marL="514350" indent="-514350">
              <a:buFont typeface="+mj-lt"/>
              <a:buAutoNum type="arabicPeriod"/>
            </a:pPr>
            <a:r>
              <a:rPr lang="es-MX" sz="1600" dirty="0"/>
              <a:t> si se sigue rigurosamente el proceso y, de acuerdo con ciertas reglas lógicas, los datos generados poseen los estándares de validez y confiabilidad deseados, y las conclusiones derivadas contribuirán a la generación de conocimiento. </a:t>
            </a:r>
          </a:p>
          <a:p>
            <a:pPr marL="514350" indent="-514350">
              <a:buFont typeface="+mj-lt"/>
              <a:buAutoNum type="arabicPeriod"/>
            </a:pPr>
            <a:r>
              <a:rPr lang="es-MX" sz="1600" dirty="0"/>
              <a:t>Esta ruta se vale de la lógica o razonamiento deductivo, que parte de la teoría, de la cual se derivan las hipótesis que el investigador somete a prueba. De lo general a lo particular.</a:t>
            </a:r>
          </a:p>
          <a:p>
            <a:pPr marL="514350" indent="-514350">
              <a:buFont typeface="+mj-lt"/>
              <a:buAutoNum type="arabicPeriod"/>
            </a:pPr>
            <a:r>
              <a:rPr lang="es-MX" sz="1600" dirty="0"/>
              <a:t>Un destino de la ruta cuantitativa es identificar leyes universales y causales. </a:t>
            </a:r>
          </a:p>
          <a:p>
            <a:pPr marL="514350" indent="-514350">
              <a:buFont typeface="+mj-lt"/>
              <a:buAutoNum type="arabicPeriod"/>
            </a:pPr>
            <a:r>
              <a:rPr lang="es-MX" sz="1600" dirty="0"/>
              <a:t>Se busca conocer o capturar la realidad externa o fenómeno estudiado tal y como es, o al menos, aproximarse lo mejor posible a ello. Nuestras suposiciones deben ajustarse a dicha realidad y no al revés, si no coinciden, lo que tenemos que cambiar son las suposiciones o hipótesis.</a:t>
            </a:r>
            <a:endParaRPr lang="es-PE" sz="1600" dirty="0"/>
          </a:p>
        </p:txBody>
      </p:sp>
    </p:spTree>
    <p:extLst>
      <p:ext uri="{BB962C8B-B14F-4D97-AF65-F5344CB8AC3E}">
        <p14:creationId xmlns:p14="http://schemas.microsoft.com/office/powerpoint/2010/main" val="5231699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9C7C7E-CC52-8A1F-3014-B6E5974E86B0}"/>
              </a:ext>
            </a:extLst>
          </p:cNvPr>
          <p:cNvSpPr>
            <a:spLocks noGrp="1"/>
          </p:cNvSpPr>
          <p:nvPr>
            <p:ph type="title"/>
          </p:nvPr>
        </p:nvSpPr>
        <p:spPr/>
        <p:txBody>
          <a:bodyPr anchor="ctr">
            <a:normAutofit/>
          </a:bodyPr>
          <a:lstStyle/>
          <a:p>
            <a:r>
              <a:rPr lang="es-PE" sz="2800" dirty="0"/>
              <a:t>RUTA CUALITATIVA DE LA INVESTIGACION</a:t>
            </a:r>
          </a:p>
        </p:txBody>
      </p:sp>
      <p:sp>
        <p:nvSpPr>
          <p:cNvPr id="3" name="Marcador de contenido 2">
            <a:extLst>
              <a:ext uri="{FF2B5EF4-FFF2-40B4-BE49-F238E27FC236}">
                <a16:creationId xmlns:a16="http://schemas.microsoft.com/office/drawing/2014/main" id="{8DE51E17-FC76-D1B0-544B-62A6171DD299}"/>
              </a:ext>
            </a:extLst>
          </p:cNvPr>
          <p:cNvSpPr>
            <a:spLocks noGrp="1"/>
          </p:cNvSpPr>
          <p:nvPr>
            <p:ph idx="1"/>
          </p:nvPr>
        </p:nvSpPr>
        <p:spPr>
          <a:xfrm>
            <a:off x="1280306" y="1976234"/>
            <a:ext cx="9875374" cy="3987670"/>
          </a:xfrm>
        </p:spPr>
        <p:txBody>
          <a:bodyPr anchor="ctr">
            <a:normAutofit/>
          </a:bodyPr>
          <a:lstStyle/>
          <a:p>
            <a:pPr marL="0" indent="0" algn="ctr">
              <a:lnSpc>
                <a:spcPct val="150000"/>
              </a:lnSpc>
              <a:buNone/>
            </a:pPr>
            <a:r>
              <a:rPr lang="es-MX" sz="2000" dirty="0"/>
              <a:t>Con el enfoque cualitativo también se estudian fenómenos de manera sistemática. Sin embargo, en lugar de comenzar con una teoría y luego “voltear” al mundo empírico para confirmar si esta es apoyada por los datos y resultados, el investigador comienza el proceso examinando los hechos en sí y revisado los estudios previos, ambas acciones de manera simultánea, a fin de generar una teoría que sea consistente con lo que está observando que ocurre.</a:t>
            </a:r>
            <a:endParaRPr lang="es-PE" sz="2000" dirty="0"/>
          </a:p>
        </p:txBody>
      </p:sp>
    </p:spTree>
    <p:extLst>
      <p:ext uri="{BB962C8B-B14F-4D97-AF65-F5344CB8AC3E}">
        <p14:creationId xmlns:p14="http://schemas.microsoft.com/office/powerpoint/2010/main" val="31926257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C51BD6-7764-3F89-3881-01F06B7D85F1}"/>
              </a:ext>
            </a:extLst>
          </p:cNvPr>
          <p:cNvSpPr>
            <a:spLocks noGrp="1"/>
          </p:cNvSpPr>
          <p:nvPr>
            <p:ph type="title"/>
          </p:nvPr>
        </p:nvSpPr>
        <p:spPr/>
        <p:txBody>
          <a:bodyPr anchor="ctr">
            <a:normAutofit/>
          </a:bodyPr>
          <a:lstStyle/>
          <a:p>
            <a:pPr algn="ctr"/>
            <a:r>
              <a:rPr lang="es-PE" sz="2800" dirty="0"/>
              <a:t>CARACTERISTICAS ESENCIALES DEL ENFOQUE CUALITATIVO</a:t>
            </a:r>
          </a:p>
        </p:txBody>
      </p:sp>
      <p:sp>
        <p:nvSpPr>
          <p:cNvPr id="3" name="Marcador de contenido 2">
            <a:extLst>
              <a:ext uri="{FF2B5EF4-FFF2-40B4-BE49-F238E27FC236}">
                <a16:creationId xmlns:a16="http://schemas.microsoft.com/office/drawing/2014/main" id="{48D667B7-E3CA-9234-228A-6D4F5615C7B5}"/>
              </a:ext>
            </a:extLst>
          </p:cNvPr>
          <p:cNvSpPr>
            <a:spLocks noGrp="1"/>
          </p:cNvSpPr>
          <p:nvPr>
            <p:ph idx="1"/>
          </p:nvPr>
        </p:nvSpPr>
        <p:spPr>
          <a:xfrm>
            <a:off x="838200" y="1825625"/>
            <a:ext cx="10515600" cy="4667250"/>
          </a:xfrm>
        </p:spPr>
        <p:txBody>
          <a:bodyPr>
            <a:normAutofit fontScale="92500" lnSpcReduction="20000"/>
          </a:bodyPr>
          <a:lstStyle/>
          <a:p>
            <a:pPr marL="514350" indent="-514350">
              <a:buFont typeface="+mj-lt"/>
              <a:buAutoNum type="arabicPeriod"/>
            </a:pPr>
            <a:r>
              <a:rPr lang="es-MX" dirty="0"/>
              <a:t>El investigador plantea un problema, pero no sigue un proceso preestablecido con claridad. Sus planteamientos iniciales no son tan delimitados como en el enfoque cuantitativo y las preguntas de investigación no siempre se han conceptualizado ni definido por completo.</a:t>
            </a:r>
          </a:p>
          <a:p>
            <a:pPr marL="514350" indent="-514350">
              <a:buFont typeface="+mj-lt"/>
              <a:buAutoNum type="arabicPeriod"/>
            </a:pPr>
            <a:r>
              <a:rPr lang="es-MX" dirty="0"/>
              <a:t>Predomina la lógica o razonamiento inductivo, dirigiéndose de lo particular a lo general. Primero explorar y describir individualidades, para posteriormente generar teoría. </a:t>
            </a:r>
          </a:p>
          <a:p>
            <a:pPr marL="514350" indent="-514350">
              <a:buFont typeface="+mj-lt"/>
              <a:buAutoNum type="arabicPeriod"/>
            </a:pPr>
            <a:r>
              <a:rPr lang="es-MX" dirty="0"/>
              <a:t>El proceso de indagación resulta más flexible y se desplaza entre la experiencia, la acción y los resultados, por una parte; y el desarrollo de la teoría, por la otra. Su propósito es “reconstruir” la realidad, tal como la observan los actores de un sistema social definido previamente. </a:t>
            </a:r>
          </a:p>
          <a:p>
            <a:pPr marL="514350" indent="-514350">
              <a:buFont typeface="+mj-lt"/>
              <a:buAutoNum type="arabicPeriod"/>
            </a:pPr>
            <a:r>
              <a:rPr lang="es-MX" dirty="0"/>
              <a:t>En la mayoría de los estudios cualitativos no se prueban hipótesis, sino que se generan durante el proceso y van refinándose conforme se recaban más datos; son un resultado del estudio. </a:t>
            </a:r>
          </a:p>
          <a:p>
            <a:pPr marL="514350" indent="-514350">
              <a:buFont typeface="+mj-lt"/>
              <a:buAutoNum type="arabicPeriod"/>
            </a:pPr>
            <a:r>
              <a:rPr lang="es-MX" dirty="0"/>
              <a:t>La ruta cualitativa es naturalista porque: a) se estudia a los casos (personas y sus expresiones o </a:t>
            </a:r>
            <a:r>
              <a:rPr lang="es-MX" dirty="0" err="1"/>
              <a:t>animales,organizaciones</a:t>
            </a:r>
            <a:r>
              <a:rPr lang="es-MX" dirty="0"/>
              <a:t>) en sus contextos o ambientes naturales y en su cotidianidad, y b) porque los eventos se analizan tal y como sucedieron, es decir, su desarrollo natural, no hay manipulación ni estimulación de la realidad.</a:t>
            </a:r>
          </a:p>
          <a:p>
            <a:pPr marL="514350" indent="-514350">
              <a:buFont typeface="+mj-lt"/>
              <a:buAutoNum type="arabicPeriod"/>
            </a:pPr>
            <a:r>
              <a:rPr lang="es-MX" dirty="0"/>
              <a:t>Resulta interpretativa pues pretende encontrar sentido a los fenómenos y hechos en función de los significados que las personas les otorguen. No solamente se registran sucesos objetivos.</a:t>
            </a:r>
            <a:endParaRPr lang="es-PE" dirty="0"/>
          </a:p>
        </p:txBody>
      </p:sp>
    </p:spTree>
    <p:extLst>
      <p:ext uri="{BB962C8B-B14F-4D97-AF65-F5344CB8AC3E}">
        <p14:creationId xmlns:p14="http://schemas.microsoft.com/office/powerpoint/2010/main" val="35145658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C51BD6-7764-3F89-3881-01F06B7D85F1}"/>
              </a:ext>
            </a:extLst>
          </p:cNvPr>
          <p:cNvSpPr>
            <a:spLocks noGrp="1"/>
          </p:cNvSpPr>
          <p:nvPr>
            <p:ph type="title"/>
          </p:nvPr>
        </p:nvSpPr>
        <p:spPr/>
        <p:txBody>
          <a:bodyPr anchor="ctr">
            <a:normAutofit/>
          </a:bodyPr>
          <a:lstStyle/>
          <a:p>
            <a:pPr algn="ctr"/>
            <a:r>
              <a:rPr lang="es-PE" sz="2800" dirty="0"/>
              <a:t>CARACTERISTICAS ESENCIALES DEL ENFOQUE CUALITATIVO</a:t>
            </a:r>
          </a:p>
        </p:txBody>
      </p:sp>
      <p:sp>
        <p:nvSpPr>
          <p:cNvPr id="3" name="Marcador de contenido 2">
            <a:extLst>
              <a:ext uri="{FF2B5EF4-FFF2-40B4-BE49-F238E27FC236}">
                <a16:creationId xmlns:a16="http://schemas.microsoft.com/office/drawing/2014/main" id="{48D667B7-E3CA-9234-228A-6D4F5615C7B5}"/>
              </a:ext>
            </a:extLst>
          </p:cNvPr>
          <p:cNvSpPr>
            <a:spLocks noGrp="1"/>
          </p:cNvSpPr>
          <p:nvPr>
            <p:ph idx="1"/>
          </p:nvPr>
        </p:nvSpPr>
        <p:spPr>
          <a:xfrm>
            <a:off x="838200" y="1737360"/>
            <a:ext cx="10504118" cy="4755515"/>
          </a:xfrm>
        </p:spPr>
        <p:txBody>
          <a:bodyPr anchor="ctr">
            <a:normAutofit fontScale="92500"/>
          </a:bodyPr>
          <a:lstStyle/>
          <a:p>
            <a:pPr marL="514350" indent="-514350">
              <a:buFont typeface="+mj-lt"/>
              <a:buAutoNum type="arabicPeriod" startAt="7"/>
            </a:pPr>
            <a:r>
              <a:rPr lang="es-MX" dirty="0"/>
              <a:t>Se define a través de las interpretaciones de los participantes y del investigador respecto de sus propias realidades. De este modo, convergen varios puntos de vista, por lo menos los de los participantes, los del investigador y los que se producen mediante la interacción de todos los actores. </a:t>
            </a:r>
          </a:p>
          <a:p>
            <a:pPr marL="514350" indent="-514350">
              <a:buFont typeface="+mj-lt"/>
              <a:buAutoNum type="arabicPeriod" startAt="7"/>
            </a:pPr>
            <a:r>
              <a:rPr lang="es-MX" dirty="0"/>
              <a:t>El investigador se introduce y recopila información sobre las percepciones, emociones, prioridades, vivencias, historias, significados y cualidades de los participantes, y construye el conocimiento, siempre consciente de que es parte del fenómeno analizado. </a:t>
            </a:r>
          </a:p>
          <a:p>
            <a:pPr marL="514350" indent="-514350">
              <a:buFont typeface="+mj-lt"/>
              <a:buAutoNum type="arabicPeriod" startAt="7"/>
            </a:pPr>
            <a:r>
              <a:rPr lang="es-MX" dirty="0"/>
              <a:t>Se basa en métodos de recolección de datos no estandarizados al inicio ni completamente predeterminados. Por lo anterior, en las investigaciones cualitativas se producen datos y resultados en forma de notas, diagramas, mapas o “cuadros humanos” para generar descripciones detalladas. </a:t>
            </a:r>
          </a:p>
          <a:p>
            <a:pPr marL="514350" indent="-514350">
              <a:buFont typeface="+mj-lt"/>
              <a:buAutoNum type="arabicPeriod" startAt="7"/>
            </a:pPr>
            <a:r>
              <a:rPr lang="es-MX" dirty="0"/>
              <a:t>El explorador cualitativo ante todo extrae significado de los datos y no necesita reducirlos a números ni analizarlos estadísticamente, aunque el conteo de regularidades y diferencias puede utilizarse para fortalecer el análisis. </a:t>
            </a:r>
          </a:p>
          <a:p>
            <a:pPr marL="514350" indent="-514350">
              <a:buFont typeface="+mj-lt"/>
              <a:buAutoNum type="arabicPeriod" startAt="7"/>
            </a:pPr>
            <a:r>
              <a:rPr lang="es-MX" dirty="0"/>
              <a:t>Los estudios cualitativos regularmente no pretenden generalizar de manera probabilística los resultados a poblaciones más amplias ni obtener necesariamente muestras representativas; incluso en ocasiones no buscan que las investigaciones se repliquen. </a:t>
            </a:r>
            <a:endParaRPr lang="es-PE" dirty="0"/>
          </a:p>
        </p:txBody>
      </p:sp>
    </p:spTree>
    <p:extLst>
      <p:ext uri="{BB962C8B-B14F-4D97-AF65-F5344CB8AC3E}">
        <p14:creationId xmlns:p14="http://schemas.microsoft.com/office/powerpoint/2010/main" val="33452005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229458-C0FC-1F62-C206-C4AAB56AEFEA}"/>
              </a:ext>
            </a:extLst>
          </p:cNvPr>
          <p:cNvSpPr>
            <a:spLocks noGrp="1"/>
          </p:cNvSpPr>
          <p:nvPr>
            <p:ph type="title"/>
          </p:nvPr>
        </p:nvSpPr>
        <p:spPr/>
        <p:txBody>
          <a:bodyPr anchor="ctr">
            <a:normAutofit/>
          </a:bodyPr>
          <a:lstStyle/>
          <a:p>
            <a:r>
              <a:rPr lang="es-PE" sz="2800" dirty="0"/>
              <a:t>LA RUTA MIXTA</a:t>
            </a:r>
          </a:p>
        </p:txBody>
      </p:sp>
      <p:sp>
        <p:nvSpPr>
          <p:cNvPr id="3" name="Marcador de contenido 2">
            <a:extLst>
              <a:ext uri="{FF2B5EF4-FFF2-40B4-BE49-F238E27FC236}">
                <a16:creationId xmlns:a16="http://schemas.microsoft.com/office/drawing/2014/main" id="{D6773C95-1747-32DC-9A00-9F1A0085B007}"/>
              </a:ext>
            </a:extLst>
          </p:cNvPr>
          <p:cNvSpPr>
            <a:spLocks noGrp="1"/>
          </p:cNvSpPr>
          <p:nvPr>
            <p:ph idx="1"/>
          </p:nvPr>
        </p:nvSpPr>
        <p:spPr>
          <a:xfrm>
            <a:off x="3125244" y="1822537"/>
            <a:ext cx="8030436" cy="4046557"/>
          </a:xfrm>
        </p:spPr>
        <p:txBody>
          <a:bodyPr anchor="ctr">
            <a:normAutofit lnSpcReduction="10000"/>
          </a:bodyPr>
          <a:lstStyle/>
          <a:p>
            <a:pPr marL="0" indent="0" algn="r">
              <a:lnSpc>
                <a:spcPct val="150000"/>
              </a:lnSpc>
              <a:buNone/>
            </a:pPr>
            <a:r>
              <a:rPr lang="es-MX" dirty="0"/>
              <a:t>Esta tercera vía para realizar investigación entrelaza a las dos anteriores (cuantitativa y cualitativa) y las mezcla, pero es más que la suma de las dos anteriores e implica su interacción y potenciación. Los métodos mixtos o híbridos representan un conjunto de procesos sistemáticos, empíricos y críticos de investigación e implican la recolección y el análisis de datos tanto cuantitativos como cualitativos, así como su integración y discusión conjunta, para realizar inferencias producto de toda la información recabada (denominadas </a:t>
            </a:r>
            <a:r>
              <a:rPr lang="es-MX" dirty="0" err="1"/>
              <a:t>metainferencias</a:t>
            </a:r>
            <a:r>
              <a:rPr lang="es-MX" dirty="0"/>
              <a:t>) y lograr un mayor entendimiento del fenómeno bajo estudio.</a:t>
            </a:r>
            <a:endParaRPr lang="es-PE" dirty="0"/>
          </a:p>
        </p:txBody>
      </p:sp>
    </p:spTree>
    <p:extLst>
      <p:ext uri="{BB962C8B-B14F-4D97-AF65-F5344CB8AC3E}">
        <p14:creationId xmlns:p14="http://schemas.microsoft.com/office/powerpoint/2010/main" val="42761686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DA1BB0EF-710E-C024-15FC-EE89697019DE}"/>
              </a:ext>
            </a:extLst>
          </p:cNvPr>
          <p:cNvPicPr>
            <a:picLocks noChangeAspect="1"/>
          </p:cNvPicPr>
          <p:nvPr/>
        </p:nvPicPr>
        <p:blipFill>
          <a:blip r:embed="rId2"/>
          <a:stretch>
            <a:fillRect/>
          </a:stretch>
        </p:blipFill>
        <p:spPr>
          <a:xfrm>
            <a:off x="0" y="2341161"/>
            <a:ext cx="2865783" cy="3332306"/>
          </a:xfrm>
          <a:prstGeom prst="rect">
            <a:avLst/>
          </a:prstGeom>
        </p:spPr>
      </p:pic>
      <p:sp>
        <p:nvSpPr>
          <p:cNvPr id="2" name="Título 1">
            <a:extLst>
              <a:ext uri="{FF2B5EF4-FFF2-40B4-BE49-F238E27FC236}">
                <a16:creationId xmlns:a16="http://schemas.microsoft.com/office/drawing/2014/main" id="{3BE30185-6068-DB7F-9343-3E7DE7077577}"/>
              </a:ext>
            </a:extLst>
          </p:cNvPr>
          <p:cNvSpPr>
            <a:spLocks noGrp="1"/>
          </p:cNvSpPr>
          <p:nvPr>
            <p:ph type="title"/>
          </p:nvPr>
        </p:nvSpPr>
        <p:spPr>
          <a:xfrm>
            <a:off x="838200" y="318826"/>
            <a:ext cx="10515600" cy="1325563"/>
          </a:xfrm>
        </p:spPr>
        <p:txBody>
          <a:bodyPr anchor="ctr">
            <a:normAutofit/>
          </a:bodyPr>
          <a:lstStyle/>
          <a:p>
            <a:pPr algn="ctr"/>
            <a:r>
              <a:rPr lang="es-PE" sz="2800" dirty="0"/>
              <a:t>LA MEJOR RUTA</a:t>
            </a:r>
          </a:p>
        </p:txBody>
      </p:sp>
      <p:sp>
        <p:nvSpPr>
          <p:cNvPr id="3" name="Marcador de contenido 2">
            <a:extLst>
              <a:ext uri="{FF2B5EF4-FFF2-40B4-BE49-F238E27FC236}">
                <a16:creationId xmlns:a16="http://schemas.microsoft.com/office/drawing/2014/main" id="{F397FDCB-B567-EE5D-2F0D-3E29383E1049}"/>
              </a:ext>
            </a:extLst>
          </p:cNvPr>
          <p:cNvSpPr>
            <a:spLocks noGrp="1"/>
          </p:cNvSpPr>
          <p:nvPr>
            <p:ph idx="1"/>
          </p:nvPr>
        </p:nvSpPr>
        <p:spPr>
          <a:xfrm>
            <a:off x="2761990" y="2455101"/>
            <a:ext cx="8945082" cy="2668044"/>
          </a:xfrm>
        </p:spPr>
        <p:txBody>
          <a:bodyPr anchor="ctr">
            <a:normAutofit/>
          </a:bodyPr>
          <a:lstStyle/>
          <a:p>
            <a:pPr marL="0" indent="0" algn="ctr">
              <a:lnSpc>
                <a:spcPct val="150000"/>
              </a:lnSpc>
              <a:buNone/>
            </a:pPr>
            <a:r>
              <a:rPr lang="es-MX" sz="2000" dirty="0"/>
              <a:t>Las tres rutas esenciales (cuantitativa, cualitativa y mixta) nos han conducido por el camino del conocimiento y han proporcionado notables aportaciones en todas las ciencias y el desarrollo tecnológico, así como a la práctica de todas las profesiones. Ninguna es intrínsecamente mejor que la otra, solo constituyen diferentes aproximaciones al estudio de un fenómeno.</a:t>
            </a:r>
            <a:endParaRPr lang="es-PE" sz="2000" dirty="0"/>
          </a:p>
        </p:txBody>
      </p:sp>
    </p:spTree>
    <p:extLst>
      <p:ext uri="{BB962C8B-B14F-4D97-AF65-F5344CB8AC3E}">
        <p14:creationId xmlns:p14="http://schemas.microsoft.com/office/powerpoint/2010/main" val="16542726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477DFB-67D4-C769-CA53-0A6426A33904}"/>
              </a:ext>
            </a:extLst>
          </p:cNvPr>
          <p:cNvSpPr>
            <a:spLocks noGrp="1"/>
          </p:cNvSpPr>
          <p:nvPr>
            <p:ph type="title"/>
          </p:nvPr>
        </p:nvSpPr>
        <p:spPr/>
        <p:txBody>
          <a:bodyPr anchor="ctr">
            <a:normAutofit/>
          </a:bodyPr>
          <a:lstStyle/>
          <a:p>
            <a:r>
              <a:rPr lang="es-PE" sz="2800" dirty="0"/>
              <a:t>IMPORTANCIA DE LA INVESTIGACION ECONÓMICA</a:t>
            </a:r>
          </a:p>
        </p:txBody>
      </p:sp>
      <p:sp>
        <p:nvSpPr>
          <p:cNvPr id="4" name="Rectangle 1">
            <a:extLst>
              <a:ext uri="{FF2B5EF4-FFF2-40B4-BE49-F238E27FC236}">
                <a16:creationId xmlns:a16="http://schemas.microsoft.com/office/drawing/2014/main" id="{80B0AE78-BC59-3D02-F10B-C171F915D842}"/>
              </a:ext>
            </a:extLst>
          </p:cNvPr>
          <p:cNvSpPr>
            <a:spLocks noGrp="1" noChangeArrowheads="1"/>
          </p:cNvSpPr>
          <p:nvPr>
            <p:ph idx="1"/>
          </p:nvPr>
        </p:nvSpPr>
        <p:spPr bwMode="auto">
          <a:xfrm>
            <a:off x="1097280" y="2820668"/>
            <a:ext cx="9959444" cy="192676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2849" rIns="0" bIns="85698"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0" fontAlgn="base" latinLnBrk="0" hangingPunct="0">
              <a:lnSpc>
                <a:spcPct val="150000"/>
              </a:lnSpc>
              <a:spcBef>
                <a:spcPct val="0"/>
              </a:spcBef>
              <a:spcAft>
                <a:spcPct val="0"/>
              </a:spcAft>
              <a:buClrTx/>
              <a:buSzTx/>
              <a:buFontTx/>
              <a:buNone/>
              <a:tabLst/>
            </a:pPr>
            <a:r>
              <a:rPr kumimoji="0" lang="es-PE" altLang="es-PE" b="0" i="0" u="none" strike="noStrike" cap="none" normalizeH="0" baseline="0" dirty="0">
                <a:ln>
                  <a:noFill/>
                </a:ln>
                <a:solidFill>
                  <a:srgbClr val="0A0A0A"/>
                </a:solidFill>
                <a:effectLst/>
                <a:latin typeface="Google Sans"/>
              </a:rPr>
              <a:t>La investigación económica es crucial porque </a:t>
            </a:r>
            <a:r>
              <a:rPr kumimoji="0" lang="es-PE" altLang="es-PE" b="1" i="0" u="none" strike="noStrike" cap="none" normalizeH="0" baseline="0" dirty="0">
                <a:ln>
                  <a:noFill/>
                </a:ln>
                <a:solidFill>
                  <a:srgbClr val="0A0A0A"/>
                </a:solidFill>
                <a:effectLst/>
                <a:latin typeface="Google Sans"/>
              </a:rPr>
              <a:t>informa la toma de decisiones</a:t>
            </a:r>
            <a:r>
              <a:rPr kumimoji="0" lang="es-PE" altLang="es-PE" b="0" i="0" u="none" strike="noStrike" cap="none" normalizeH="0" baseline="0" dirty="0">
                <a:ln>
                  <a:noFill/>
                </a:ln>
                <a:solidFill>
                  <a:srgbClr val="0A0A0A"/>
                </a:solidFill>
                <a:effectLst/>
                <a:latin typeface="Google Sans"/>
              </a:rPr>
              <a:t> (públicas y privadas), </a:t>
            </a:r>
            <a:r>
              <a:rPr kumimoji="0" lang="es-PE" altLang="es-PE" b="1" i="0" u="none" strike="noStrike" cap="none" normalizeH="0" baseline="0" dirty="0">
                <a:ln>
                  <a:noFill/>
                </a:ln>
                <a:solidFill>
                  <a:srgbClr val="0A0A0A"/>
                </a:solidFill>
                <a:effectLst/>
                <a:latin typeface="Google Sans"/>
              </a:rPr>
              <a:t>anticipa problemas</a:t>
            </a:r>
            <a:r>
              <a:rPr kumimoji="0" lang="es-PE" altLang="es-PE" b="0" i="0" u="none" strike="noStrike" cap="none" normalizeH="0" baseline="0" dirty="0">
                <a:ln>
                  <a:noFill/>
                </a:ln>
                <a:solidFill>
                  <a:srgbClr val="0A0A0A"/>
                </a:solidFill>
                <a:effectLst/>
                <a:latin typeface="Google Sans"/>
              </a:rPr>
              <a:t>, impulsa el </a:t>
            </a:r>
            <a:r>
              <a:rPr kumimoji="0" lang="es-PE" altLang="es-PE" b="1" i="0" u="none" strike="noStrike" cap="none" normalizeH="0" baseline="0" dirty="0">
                <a:ln>
                  <a:noFill/>
                </a:ln>
                <a:solidFill>
                  <a:srgbClr val="0A0A0A"/>
                </a:solidFill>
                <a:effectLst/>
                <a:latin typeface="Google Sans"/>
              </a:rPr>
              <a:t>crecimiento y bienestar social</a:t>
            </a:r>
            <a:r>
              <a:rPr kumimoji="0" lang="es-PE" altLang="es-PE" b="0" i="0" u="none" strike="noStrike" cap="none" normalizeH="0" baseline="0" dirty="0">
                <a:ln>
                  <a:noFill/>
                </a:ln>
                <a:solidFill>
                  <a:srgbClr val="0A0A0A"/>
                </a:solidFill>
                <a:effectLst/>
                <a:latin typeface="Google Sans"/>
              </a:rPr>
              <a:t> al entender mercados y recursos, y guía políticas para </a:t>
            </a:r>
            <a:r>
              <a:rPr kumimoji="0" lang="es-PE" altLang="es-PE" b="1" i="0" u="none" strike="noStrike" cap="none" normalizeH="0" baseline="0" dirty="0">
                <a:ln>
                  <a:noFill/>
                </a:ln>
                <a:solidFill>
                  <a:srgbClr val="0A0A0A"/>
                </a:solidFill>
                <a:effectLst/>
                <a:latin typeface="Google Sans"/>
              </a:rPr>
              <a:t>mejorar la calidad de vida</a:t>
            </a:r>
            <a:r>
              <a:rPr kumimoji="0" lang="es-PE" altLang="es-PE" b="0" i="0" u="none" strike="noStrike" cap="none" normalizeH="0" baseline="0" dirty="0">
                <a:ln>
                  <a:noFill/>
                </a:ln>
                <a:solidFill>
                  <a:srgbClr val="0A0A0A"/>
                </a:solidFill>
                <a:effectLst/>
                <a:latin typeface="Google Sans"/>
              </a:rPr>
              <a:t> y la estabilidad, transformando datos en estrategias efectivas y reduciendo la incertidumbre.</a:t>
            </a:r>
            <a:endParaRPr kumimoji="0" lang="es-PE" altLang="es-PE"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9856805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259B9-C390-A72F-5ED4-CDB658E2CD5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D5D4955-FAB6-C071-CD5C-3C75DFEFFC57}"/>
              </a:ext>
            </a:extLst>
          </p:cNvPr>
          <p:cNvSpPr>
            <a:spLocks noGrp="1"/>
          </p:cNvSpPr>
          <p:nvPr>
            <p:ph type="title"/>
          </p:nvPr>
        </p:nvSpPr>
        <p:spPr/>
        <p:txBody>
          <a:bodyPr anchor="ctr">
            <a:normAutofit/>
          </a:bodyPr>
          <a:lstStyle/>
          <a:p>
            <a:r>
              <a:rPr lang="es-PE" sz="2800" dirty="0"/>
              <a:t>IMPORTANCIA DE LA INVESTIGACION ECONÓMICA</a:t>
            </a:r>
            <a:br>
              <a:rPr lang="es-PE" sz="2800" dirty="0"/>
            </a:br>
            <a:r>
              <a:rPr lang="es-PE" altLang="es-PE" sz="2800" dirty="0"/>
              <a:t>Para políticas públicas y gobierno</a:t>
            </a:r>
            <a:endParaRPr lang="es-PE" sz="2800" dirty="0"/>
          </a:p>
        </p:txBody>
      </p:sp>
      <p:sp>
        <p:nvSpPr>
          <p:cNvPr id="4" name="Rectangle 1">
            <a:extLst>
              <a:ext uri="{FF2B5EF4-FFF2-40B4-BE49-F238E27FC236}">
                <a16:creationId xmlns:a16="http://schemas.microsoft.com/office/drawing/2014/main" id="{697799F2-6444-AE32-AFC1-208FB555CAD2}"/>
              </a:ext>
            </a:extLst>
          </p:cNvPr>
          <p:cNvSpPr>
            <a:spLocks noGrp="1" noChangeArrowheads="1"/>
          </p:cNvSpPr>
          <p:nvPr>
            <p:ph idx="1"/>
          </p:nvPr>
        </p:nvSpPr>
        <p:spPr bwMode="auto">
          <a:xfrm>
            <a:off x="1097280" y="2407311"/>
            <a:ext cx="9938150" cy="28500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2849" rIns="0" bIns="85698"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538163" marR="0" lvl="0" indent="-538163" algn="l" defTabSz="914400" rtl="0" eaLnBrk="0" fontAlgn="base" latinLnBrk="0" hangingPunct="0">
              <a:lnSpc>
                <a:spcPct val="150000"/>
              </a:lnSpc>
              <a:spcBef>
                <a:spcPct val="0"/>
              </a:spcBef>
              <a:spcAft>
                <a:spcPct val="0"/>
              </a:spcAft>
              <a:buSzTx/>
              <a:buFont typeface="Wingdings" panose="05000000000000000000" pitchFamily="2" charset="2"/>
              <a:buChar char="v"/>
              <a:tabLst/>
            </a:pPr>
            <a:r>
              <a:rPr lang="es-PE" altLang="es-PE" b="1" dirty="0">
                <a:solidFill>
                  <a:schemeClr val="tx1">
                    <a:lumMod val="75000"/>
                    <a:lumOff val="25000"/>
                  </a:schemeClr>
                </a:solidFill>
                <a:latin typeface="+mn-lt"/>
              </a:rPr>
              <a:t>Diseño de políticas: </a:t>
            </a:r>
            <a:r>
              <a:rPr lang="es-PE" altLang="es-PE" dirty="0">
                <a:solidFill>
                  <a:schemeClr val="tx1">
                    <a:lumMod val="75000"/>
                    <a:lumOff val="25000"/>
                  </a:schemeClr>
                </a:solidFill>
                <a:latin typeface="+mn-lt"/>
              </a:rPr>
              <a:t>Permite crear estrategias basadas en evidencia para la política monetaria, fiscal y social, evaluando costos y beneficios.</a:t>
            </a:r>
          </a:p>
          <a:p>
            <a:pPr marL="538163" marR="0" lvl="0" indent="-538163" algn="l" defTabSz="914400" rtl="0" eaLnBrk="0" fontAlgn="base" latinLnBrk="0" hangingPunct="0">
              <a:lnSpc>
                <a:spcPct val="150000"/>
              </a:lnSpc>
              <a:spcBef>
                <a:spcPct val="0"/>
              </a:spcBef>
              <a:spcAft>
                <a:spcPct val="0"/>
              </a:spcAft>
              <a:buSzTx/>
              <a:buFont typeface="Wingdings" panose="05000000000000000000" pitchFamily="2" charset="2"/>
              <a:buChar char="v"/>
              <a:tabLst/>
            </a:pPr>
            <a:r>
              <a:rPr lang="es-PE" altLang="es-PE" b="1" dirty="0">
                <a:solidFill>
                  <a:schemeClr val="tx1">
                    <a:lumMod val="75000"/>
                    <a:lumOff val="25000"/>
                  </a:schemeClr>
                </a:solidFill>
                <a:latin typeface="+mn-lt"/>
              </a:rPr>
              <a:t>Estabilidad y crecimiento: </a:t>
            </a:r>
            <a:r>
              <a:rPr lang="es-PE" altLang="es-PE" dirty="0">
                <a:solidFill>
                  <a:schemeClr val="tx1">
                    <a:lumMod val="75000"/>
                    <a:lumOff val="25000"/>
                  </a:schemeClr>
                </a:solidFill>
                <a:latin typeface="+mn-lt"/>
              </a:rPr>
              <a:t>Ayuda a predecir riesgos cíclicos y promover la estabilidad a largo plazo, fortaleciendo la economía de un país.</a:t>
            </a:r>
          </a:p>
          <a:p>
            <a:pPr marL="538163" marR="0" lvl="0" indent="-538163" algn="l" defTabSz="914400" rtl="0" eaLnBrk="0" fontAlgn="base" latinLnBrk="0" hangingPunct="0">
              <a:lnSpc>
                <a:spcPct val="150000"/>
              </a:lnSpc>
              <a:spcBef>
                <a:spcPct val="0"/>
              </a:spcBef>
              <a:spcAft>
                <a:spcPct val="0"/>
              </a:spcAft>
              <a:buSzTx/>
              <a:buFont typeface="Wingdings" panose="05000000000000000000" pitchFamily="2" charset="2"/>
              <a:buChar char="v"/>
              <a:tabLst/>
            </a:pPr>
            <a:r>
              <a:rPr lang="es-PE" altLang="es-PE" b="1" dirty="0">
                <a:solidFill>
                  <a:schemeClr val="tx1">
                    <a:lumMod val="75000"/>
                    <a:lumOff val="25000"/>
                  </a:schemeClr>
                </a:solidFill>
                <a:latin typeface="+mn-lt"/>
              </a:rPr>
              <a:t>Bienestar social: </a:t>
            </a:r>
            <a:r>
              <a:rPr lang="es-PE" altLang="es-PE" dirty="0">
                <a:solidFill>
                  <a:schemeClr val="tx1">
                    <a:lumMod val="75000"/>
                    <a:lumOff val="25000"/>
                  </a:schemeClr>
                </a:solidFill>
                <a:latin typeface="+mn-lt"/>
              </a:rPr>
              <a:t>Proporciona herramientas para abordar desafíos como la pobreza, el desempleo y la desigualdad, mejorando la vida de los ciudadanos. </a:t>
            </a:r>
            <a:endParaRPr kumimoji="0" lang="es-PE" altLang="es-PE" sz="18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0714647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6ED5C-2BD1-ADB0-4B54-66DC72C23EF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2C418F2-681F-7424-590F-DF90F5F6824C}"/>
              </a:ext>
            </a:extLst>
          </p:cNvPr>
          <p:cNvSpPr>
            <a:spLocks noGrp="1"/>
          </p:cNvSpPr>
          <p:nvPr>
            <p:ph type="title"/>
          </p:nvPr>
        </p:nvSpPr>
        <p:spPr/>
        <p:txBody>
          <a:bodyPr anchor="ctr">
            <a:normAutofit/>
          </a:bodyPr>
          <a:lstStyle/>
          <a:p>
            <a:r>
              <a:rPr lang="es-PE" sz="2800" dirty="0"/>
              <a:t>IMPORTANCIA DE LA INVESTIGACION ECONÓMICA</a:t>
            </a:r>
            <a:br>
              <a:rPr lang="es-PE" sz="2800" dirty="0"/>
            </a:br>
            <a:r>
              <a:rPr lang="es-PE" altLang="es-PE" sz="2800" dirty="0"/>
              <a:t>Para empresas y organizaciones</a:t>
            </a:r>
            <a:endParaRPr lang="es-PE" sz="2800" dirty="0"/>
          </a:p>
        </p:txBody>
      </p:sp>
      <p:sp>
        <p:nvSpPr>
          <p:cNvPr id="4" name="Rectangle 1">
            <a:extLst>
              <a:ext uri="{FF2B5EF4-FFF2-40B4-BE49-F238E27FC236}">
                <a16:creationId xmlns:a16="http://schemas.microsoft.com/office/drawing/2014/main" id="{CC8B43D5-8A0E-F487-5536-3E4B755D7E5D}"/>
              </a:ext>
            </a:extLst>
          </p:cNvPr>
          <p:cNvSpPr>
            <a:spLocks noGrp="1" noChangeArrowheads="1"/>
          </p:cNvSpPr>
          <p:nvPr>
            <p:ph idx="1"/>
          </p:nvPr>
        </p:nvSpPr>
        <p:spPr bwMode="auto">
          <a:xfrm>
            <a:off x="1097280" y="2375999"/>
            <a:ext cx="10058400" cy="28500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2849" rIns="0" bIns="85698"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538163" marR="0" lvl="0" indent="-538163" algn="l" defTabSz="914400" rtl="0" eaLnBrk="0" fontAlgn="base" latinLnBrk="0" hangingPunct="0">
              <a:lnSpc>
                <a:spcPct val="150000"/>
              </a:lnSpc>
              <a:spcBef>
                <a:spcPct val="0"/>
              </a:spcBef>
              <a:spcAft>
                <a:spcPct val="0"/>
              </a:spcAft>
              <a:buSzTx/>
              <a:buFont typeface="Wingdings" panose="05000000000000000000" pitchFamily="2" charset="2"/>
              <a:buChar char="v"/>
              <a:tabLst/>
            </a:pPr>
            <a:r>
              <a:rPr kumimoji="0" lang="es-PE" altLang="es-PE" b="1" i="0" u="none" strike="noStrike" cap="none" normalizeH="0" baseline="0" dirty="0">
                <a:ln>
                  <a:noFill/>
                </a:ln>
                <a:solidFill>
                  <a:srgbClr val="0A0A0A"/>
                </a:solidFill>
                <a:effectLst/>
                <a:latin typeface="+mn-lt"/>
              </a:rPr>
              <a:t>Toma de decisiones estratégicas:</a:t>
            </a:r>
            <a:r>
              <a:rPr kumimoji="0" lang="es-PE" altLang="es-PE" b="0" i="0" u="none" strike="noStrike" cap="none" normalizeH="0" baseline="0" dirty="0">
                <a:ln>
                  <a:noFill/>
                </a:ln>
                <a:solidFill>
                  <a:srgbClr val="0A0A0A"/>
                </a:solidFill>
                <a:effectLst/>
                <a:latin typeface="+mn-lt"/>
              </a:rPr>
              <a:t> Evalúa la viabilidad de inversiones, ayuda a comprender mercados y comportamientos del consumidor.</a:t>
            </a:r>
          </a:p>
          <a:p>
            <a:pPr marL="538163" marR="0" lvl="0" indent="-538163" algn="l" defTabSz="914400" rtl="0" eaLnBrk="0" fontAlgn="base" latinLnBrk="0" hangingPunct="0">
              <a:lnSpc>
                <a:spcPct val="150000"/>
              </a:lnSpc>
              <a:spcBef>
                <a:spcPct val="0"/>
              </a:spcBef>
              <a:spcAft>
                <a:spcPct val="0"/>
              </a:spcAft>
              <a:buSzTx/>
              <a:buFont typeface="Wingdings" panose="05000000000000000000" pitchFamily="2" charset="2"/>
              <a:buChar char="v"/>
              <a:tabLst/>
            </a:pPr>
            <a:r>
              <a:rPr kumimoji="0" lang="es-PE" altLang="es-PE" b="1" i="0" u="none" strike="noStrike" cap="none" normalizeH="0" baseline="0" dirty="0">
                <a:ln>
                  <a:noFill/>
                </a:ln>
                <a:solidFill>
                  <a:srgbClr val="0A0A0A"/>
                </a:solidFill>
                <a:effectLst/>
                <a:latin typeface="+mn-lt"/>
              </a:rPr>
              <a:t>Comprensión de datos:</a:t>
            </a:r>
            <a:r>
              <a:rPr kumimoji="0" lang="es-PE" altLang="es-PE" b="0" i="0" u="none" strike="noStrike" cap="none" normalizeH="0" baseline="0" dirty="0">
                <a:ln>
                  <a:noFill/>
                </a:ln>
                <a:solidFill>
                  <a:srgbClr val="0A0A0A"/>
                </a:solidFill>
                <a:effectLst/>
                <a:latin typeface="+mn-lt"/>
              </a:rPr>
              <a:t> Transforma datos internos (rotación de personal) y externos (tasas de desempleo) en información útil para predecir tendencias y optimizar operaciones.</a:t>
            </a:r>
          </a:p>
          <a:p>
            <a:pPr marL="538163" marR="0" lvl="0" indent="-538163" algn="l" defTabSz="914400" rtl="0" eaLnBrk="0" fontAlgn="base" latinLnBrk="0" hangingPunct="0">
              <a:lnSpc>
                <a:spcPct val="150000"/>
              </a:lnSpc>
              <a:spcBef>
                <a:spcPct val="0"/>
              </a:spcBef>
              <a:spcAft>
                <a:spcPct val="0"/>
              </a:spcAft>
              <a:buSzTx/>
              <a:buFont typeface="Wingdings" panose="05000000000000000000" pitchFamily="2" charset="2"/>
              <a:buChar char="v"/>
              <a:tabLst/>
            </a:pPr>
            <a:r>
              <a:rPr kumimoji="0" lang="es-PE" altLang="es-PE" b="1" i="0" u="none" strike="noStrike" cap="none" normalizeH="0" baseline="0" dirty="0">
                <a:ln>
                  <a:noFill/>
                </a:ln>
                <a:solidFill>
                  <a:srgbClr val="0A0A0A"/>
                </a:solidFill>
                <a:effectLst/>
                <a:latin typeface="+mn-lt"/>
              </a:rPr>
              <a:t>Innovación y rentabilidad:</a:t>
            </a:r>
            <a:r>
              <a:rPr kumimoji="0" lang="es-PE" altLang="es-PE" b="0" i="0" u="none" strike="noStrike" cap="none" normalizeH="0" baseline="0" dirty="0">
                <a:ln>
                  <a:noFill/>
                </a:ln>
                <a:solidFill>
                  <a:srgbClr val="0A0A0A"/>
                </a:solidFill>
                <a:effectLst/>
                <a:latin typeface="+mn-lt"/>
              </a:rPr>
              <a:t> Permite identificar oportunidades, desarrollar productos óptimos y mejorar la responsabilidad social corporativa. </a:t>
            </a:r>
            <a:endParaRPr kumimoji="0" lang="es-PE" altLang="es-PE" sz="3200" b="0" i="0" u="none" strike="noStrike" cap="none" normalizeH="0" baseline="0" dirty="0">
              <a:ln>
                <a:noFill/>
              </a:ln>
              <a:solidFill>
                <a:schemeClr val="tx1"/>
              </a:solidFill>
              <a:effectLst/>
              <a:latin typeface="+mn-lt"/>
            </a:endParaRPr>
          </a:p>
        </p:txBody>
      </p:sp>
    </p:spTree>
    <p:extLst>
      <p:ext uri="{BB962C8B-B14F-4D97-AF65-F5344CB8AC3E}">
        <p14:creationId xmlns:p14="http://schemas.microsoft.com/office/powerpoint/2010/main" val="39180826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56ADB-437C-92C9-DCA1-688CF4923B3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36397FA-C87F-7544-EB54-FDDAD5CB9013}"/>
              </a:ext>
            </a:extLst>
          </p:cNvPr>
          <p:cNvSpPr>
            <a:spLocks noGrp="1"/>
          </p:cNvSpPr>
          <p:nvPr>
            <p:ph type="title"/>
          </p:nvPr>
        </p:nvSpPr>
        <p:spPr/>
        <p:txBody>
          <a:bodyPr anchor="ctr">
            <a:normAutofit/>
          </a:bodyPr>
          <a:lstStyle/>
          <a:p>
            <a:r>
              <a:rPr lang="es-PE" sz="2800" dirty="0"/>
              <a:t>IMPORTANCIA DE LA INVESTIGACION ECONÓMICA</a:t>
            </a:r>
            <a:br>
              <a:rPr lang="es-PE" sz="2800" dirty="0"/>
            </a:br>
            <a:r>
              <a:rPr lang="es-PE" altLang="es-PE" sz="2800" dirty="0"/>
              <a:t>Para la sociedad en general</a:t>
            </a:r>
            <a:endParaRPr lang="es-PE" sz="2800" dirty="0"/>
          </a:p>
        </p:txBody>
      </p:sp>
      <p:sp>
        <p:nvSpPr>
          <p:cNvPr id="4" name="Rectangle 1">
            <a:extLst>
              <a:ext uri="{FF2B5EF4-FFF2-40B4-BE49-F238E27FC236}">
                <a16:creationId xmlns:a16="http://schemas.microsoft.com/office/drawing/2014/main" id="{4B056001-ED3D-1143-E6C6-EE1B0E764AA5}"/>
              </a:ext>
            </a:extLst>
          </p:cNvPr>
          <p:cNvSpPr>
            <a:spLocks noGrp="1" noChangeArrowheads="1"/>
          </p:cNvSpPr>
          <p:nvPr>
            <p:ph idx="1"/>
          </p:nvPr>
        </p:nvSpPr>
        <p:spPr bwMode="auto">
          <a:xfrm>
            <a:off x="1143626" y="2276689"/>
            <a:ext cx="9965707" cy="331176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2849" rIns="0" bIns="85698"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538163" marR="0" lvl="0" indent="-538163" algn="l" defTabSz="914400" rtl="0" eaLnBrk="0" fontAlgn="base" latinLnBrk="0" hangingPunct="0">
              <a:lnSpc>
                <a:spcPct val="150000"/>
              </a:lnSpc>
              <a:spcBef>
                <a:spcPct val="0"/>
              </a:spcBef>
              <a:spcAft>
                <a:spcPct val="0"/>
              </a:spcAft>
              <a:buSzTx/>
              <a:buFont typeface="Wingdings" panose="05000000000000000000" pitchFamily="2" charset="2"/>
              <a:buChar char="v"/>
              <a:tabLst/>
            </a:pPr>
            <a:r>
              <a:rPr kumimoji="0" lang="es-PE" altLang="es-PE" b="1" i="0" u="none" strike="noStrike" cap="none" normalizeH="0" baseline="0" dirty="0">
                <a:ln>
                  <a:noFill/>
                </a:ln>
                <a:solidFill>
                  <a:srgbClr val="0A0A0A"/>
                </a:solidFill>
                <a:effectLst/>
                <a:latin typeface="+mn-lt"/>
              </a:rPr>
              <a:t>Entendimiento del mundo:</a:t>
            </a:r>
            <a:r>
              <a:rPr kumimoji="0" lang="es-PE" altLang="es-PE" b="0" i="0" u="none" strike="noStrike" cap="none" normalizeH="0" baseline="0" dirty="0">
                <a:ln>
                  <a:noFill/>
                </a:ln>
                <a:solidFill>
                  <a:srgbClr val="0A0A0A"/>
                </a:solidFill>
                <a:effectLst/>
                <a:latin typeface="+mn-lt"/>
              </a:rPr>
              <a:t> Explica cómo se gestionan los recursos y se toman decisiones a nivel global y personal.</a:t>
            </a:r>
          </a:p>
          <a:p>
            <a:pPr marL="538163" marR="0" lvl="0" indent="-538163" algn="l" defTabSz="914400" rtl="0" eaLnBrk="0" fontAlgn="base" latinLnBrk="0" hangingPunct="0">
              <a:lnSpc>
                <a:spcPct val="150000"/>
              </a:lnSpc>
              <a:spcBef>
                <a:spcPct val="0"/>
              </a:spcBef>
              <a:spcAft>
                <a:spcPct val="0"/>
              </a:spcAft>
              <a:buSzTx/>
              <a:buFont typeface="Wingdings" panose="05000000000000000000" pitchFamily="2" charset="2"/>
              <a:buChar char="v"/>
              <a:tabLst/>
            </a:pPr>
            <a:r>
              <a:rPr kumimoji="0" lang="es-PE" altLang="es-PE" b="1" i="0" u="none" strike="noStrike" cap="none" normalizeH="0" baseline="0" dirty="0">
                <a:ln>
                  <a:noFill/>
                </a:ln>
                <a:solidFill>
                  <a:srgbClr val="0A0A0A"/>
                </a:solidFill>
                <a:effectLst/>
                <a:latin typeface="+mn-lt"/>
              </a:rPr>
              <a:t>Avance del conocimiento:</a:t>
            </a:r>
            <a:r>
              <a:rPr kumimoji="0" lang="es-PE" altLang="es-PE" b="0" i="0" u="none" strike="noStrike" cap="none" normalizeH="0" baseline="0" dirty="0">
                <a:ln>
                  <a:noFill/>
                </a:ln>
                <a:solidFill>
                  <a:srgbClr val="0A0A0A"/>
                </a:solidFill>
                <a:effectLst/>
                <a:latin typeface="+mn-lt"/>
              </a:rPr>
              <a:t> Contribuye al cuerpo científico, y sus resultados impactan directamente en la calidad de vida y las oportunidades (empleo, educación, salud).</a:t>
            </a:r>
          </a:p>
          <a:p>
            <a:pPr marL="538163" marR="0" lvl="0" indent="-538163" algn="l" defTabSz="914400" rtl="0" eaLnBrk="0" fontAlgn="base" latinLnBrk="0" hangingPunct="0">
              <a:lnSpc>
                <a:spcPct val="150000"/>
              </a:lnSpc>
              <a:spcBef>
                <a:spcPct val="0"/>
              </a:spcBef>
              <a:spcAft>
                <a:spcPct val="0"/>
              </a:spcAft>
              <a:buSzTx/>
              <a:buFont typeface="Wingdings" panose="05000000000000000000" pitchFamily="2" charset="2"/>
              <a:buChar char="v"/>
              <a:tabLst/>
            </a:pPr>
            <a:r>
              <a:rPr kumimoji="0" lang="es-PE" altLang="es-PE" b="1" i="0" u="none" strike="noStrike" cap="none" normalizeH="0" baseline="0" dirty="0">
                <a:ln>
                  <a:noFill/>
                </a:ln>
                <a:solidFill>
                  <a:srgbClr val="0A0A0A"/>
                </a:solidFill>
                <a:effectLst/>
                <a:latin typeface="+mn-lt"/>
              </a:rPr>
              <a:t>Gestión de la incertidumbre:</a:t>
            </a:r>
            <a:r>
              <a:rPr kumimoji="0" lang="es-PE" altLang="es-PE" b="0" i="0" u="none" strike="noStrike" cap="none" normalizeH="0" baseline="0" dirty="0">
                <a:ln>
                  <a:noFill/>
                </a:ln>
                <a:solidFill>
                  <a:srgbClr val="0A0A0A"/>
                </a:solidFill>
                <a:effectLst/>
                <a:latin typeface="+mn-lt"/>
              </a:rPr>
              <a:t> Ofrece una base para reaccionar a eventos económicos con claridad, en lugar de depender de suposiciones, como se ve en el caso del PIB para medir la salud económica. </a:t>
            </a:r>
            <a:endParaRPr kumimoji="0" lang="es-PE" altLang="es-PE" sz="3200" b="0" i="0" u="none" strike="noStrike" cap="none" normalizeH="0" baseline="0" dirty="0">
              <a:ln>
                <a:noFill/>
              </a:ln>
              <a:solidFill>
                <a:schemeClr val="tx1"/>
              </a:solidFill>
              <a:effectLst/>
              <a:latin typeface="+mn-lt"/>
            </a:endParaRPr>
          </a:p>
        </p:txBody>
      </p:sp>
    </p:spTree>
    <p:extLst>
      <p:ext uri="{BB962C8B-B14F-4D97-AF65-F5344CB8AC3E}">
        <p14:creationId xmlns:p14="http://schemas.microsoft.com/office/powerpoint/2010/main" val="27792993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7567E8A-F9D2-39DE-8EDD-FE4A5B7835F8}"/>
              </a:ext>
            </a:extLst>
          </p:cNvPr>
          <p:cNvSpPr>
            <a:spLocks noGrp="1"/>
          </p:cNvSpPr>
          <p:nvPr>
            <p:ph type="title"/>
          </p:nvPr>
        </p:nvSpPr>
        <p:spPr/>
        <p:txBody>
          <a:bodyPr anchor="ctr">
            <a:normAutofit/>
          </a:bodyPr>
          <a:lstStyle/>
          <a:p>
            <a:pPr algn="ctr"/>
            <a:r>
              <a:rPr lang="es-PE" sz="2800" dirty="0"/>
              <a:t>TAREA 1: ELECCION DEL TEMA DE INVESTIGACIÓN Y SU JUSTIFICACION</a:t>
            </a:r>
          </a:p>
        </p:txBody>
      </p:sp>
      <p:sp>
        <p:nvSpPr>
          <p:cNvPr id="3" name="Marcador de contenido 2">
            <a:extLst>
              <a:ext uri="{FF2B5EF4-FFF2-40B4-BE49-F238E27FC236}">
                <a16:creationId xmlns:a16="http://schemas.microsoft.com/office/drawing/2014/main" id="{24D0A325-9017-D585-2FD8-8F2C44A474A8}"/>
              </a:ext>
            </a:extLst>
          </p:cNvPr>
          <p:cNvSpPr>
            <a:spLocks noGrp="1"/>
          </p:cNvSpPr>
          <p:nvPr>
            <p:ph idx="1"/>
          </p:nvPr>
        </p:nvSpPr>
        <p:spPr>
          <a:xfrm>
            <a:off x="1097280" y="1845733"/>
            <a:ext cx="10058400" cy="4319539"/>
          </a:xfrm>
        </p:spPr>
        <p:txBody>
          <a:bodyPr anchor="ctr">
            <a:normAutofit/>
          </a:bodyPr>
          <a:lstStyle/>
          <a:p>
            <a:pPr marL="538163" lvl="1" indent="-538163">
              <a:buFont typeface="Wingdings" panose="05000000000000000000" pitchFamily="2" charset="2"/>
              <a:buChar char="v"/>
            </a:pPr>
            <a:r>
              <a:rPr lang="es-PE" sz="2400" dirty="0"/>
              <a:t>Presentar en documento impreso. (A4</a:t>
            </a:r>
            <a:r>
              <a:rPr lang="es-MX" sz="2400" dirty="0"/>
              <a:t>)</a:t>
            </a:r>
            <a:endParaRPr lang="es-PE" sz="2400" dirty="0"/>
          </a:p>
          <a:p>
            <a:pPr marL="538163" lvl="1" indent="-538163">
              <a:buFont typeface="Wingdings" panose="05000000000000000000" pitchFamily="2" charset="2"/>
              <a:buChar char="v"/>
            </a:pPr>
            <a:r>
              <a:rPr lang="es-PE" sz="2400" dirty="0"/>
              <a:t>Uso del aplicativo Word</a:t>
            </a:r>
          </a:p>
          <a:p>
            <a:pPr marL="538163" lvl="1" indent="-538163">
              <a:buFont typeface="Wingdings" panose="05000000000000000000" pitchFamily="2" charset="2"/>
              <a:buChar char="v"/>
            </a:pPr>
            <a:r>
              <a:rPr lang="es-PE" sz="2400" dirty="0"/>
              <a:t>Aplique las Normas APA 7 en el texto y referencias.</a:t>
            </a:r>
          </a:p>
          <a:p>
            <a:pPr marL="538163" lvl="1" indent="-538163">
              <a:buFont typeface="Wingdings" panose="05000000000000000000" pitchFamily="2" charset="2"/>
              <a:buChar char="v"/>
            </a:pPr>
            <a:r>
              <a:rPr lang="es-PE" sz="2400" dirty="0"/>
              <a:t>Contenido del documento a presentar: </a:t>
            </a:r>
          </a:p>
          <a:p>
            <a:pPr marL="808038" lvl="2" indent="-269875">
              <a:buFont typeface="Wingdings" panose="05000000000000000000" pitchFamily="2" charset="2"/>
              <a:buChar char="v"/>
            </a:pPr>
            <a:r>
              <a:rPr lang="es-PE" sz="1800" dirty="0"/>
              <a:t>Carátula de acuerdo a lo expuesto en la sesión.</a:t>
            </a:r>
          </a:p>
          <a:p>
            <a:pPr marL="808038" lvl="2" indent="-269875">
              <a:buFont typeface="Wingdings" panose="05000000000000000000" pitchFamily="2" charset="2"/>
              <a:buChar char="v"/>
            </a:pPr>
            <a:r>
              <a:rPr lang="es-PE" sz="1800" dirty="0"/>
              <a:t>Índice del contenido del documento</a:t>
            </a:r>
          </a:p>
          <a:p>
            <a:pPr marL="808038" lvl="2" indent="-269875">
              <a:buFont typeface="Wingdings" panose="05000000000000000000" pitchFamily="2" charset="2"/>
              <a:buChar char="v"/>
            </a:pPr>
            <a:r>
              <a:rPr lang="es-PE" sz="1800" dirty="0"/>
              <a:t>Justificación : Mínimo 200 palabras</a:t>
            </a:r>
          </a:p>
          <a:p>
            <a:pPr marL="808038" lvl="2" indent="-269875">
              <a:buFont typeface="Wingdings" panose="05000000000000000000" pitchFamily="2" charset="2"/>
              <a:buChar char="v"/>
            </a:pPr>
            <a:r>
              <a:rPr lang="es-PE" sz="1800" dirty="0"/>
              <a:t>Referencias bibliográficas: Mínimo 10 artículos. </a:t>
            </a:r>
          </a:p>
          <a:p>
            <a:pPr marL="808038" lvl="2" indent="-269875">
              <a:buFont typeface="Wingdings" panose="05000000000000000000" pitchFamily="2" charset="2"/>
              <a:buChar char="v"/>
            </a:pPr>
            <a:r>
              <a:rPr lang="es-PE" sz="1800" dirty="0"/>
              <a:t>Repositorios a consultar: Scielo, </a:t>
            </a:r>
            <a:r>
              <a:rPr lang="es-PE" sz="1800" dirty="0" err="1"/>
              <a:t>Scopus</a:t>
            </a:r>
            <a:r>
              <a:rPr lang="es-PE" sz="1800" dirty="0"/>
              <a:t>, </a:t>
            </a:r>
            <a:r>
              <a:rPr lang="es-PE" sz="1800" dirty="0" err="1"/>
              <a:t>Wos</a:t>
            </a:r>
            <a:endParaRPr lang="es-PE" sz="1800" dirty="0"/>
          </a:p>
          <a:p>
            <a:pPr marL="721043" lvl="2" indent="-538163">
              <a:buFont typeface="Wingdings" panose="05000000000000000000" pitchFamily="2" charset="2"/>
              <a:buChar char="v"/>
            </a:pPr>
            <a:endParaRPr lang="es-PE" sz="1800" dirty="0"/>
          </a:p>
        </p:txBody>
      </p:sp>
    </p:spTree>
    <p:extLst>
      <p:ext uri="{BB962C8B-B14F-4D97-AF65-F5344CB8AC3E}">
        <p14:creationId xmlns:p14="http://schemas.microsoft.com/office/powerpoint/2010/main" val="248493709"/>
      </p:ext>
    </p:extLst>
  </p:cSld>
  <p:clrMapOvr>
    <a:masterClrMapping/>
  </p:clrMapOvr>
</p:sld>
</file>

<file path=ppt/theme/theme1.xml><?xml version="1.0" encoding="utf-8"?>
<a:theme xmlns:a="http://schemas.openxmlformats.org/drawingml/2006/main" name="Retrospección">
  <a:themeElements>
    <a:clrScheme name="Retrospección">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ció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ción">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3472</TotalTime>
  <Words>2434</Words>
  <Application>Microsoft Office PowerPoint</Application>
  <PresentationFormat>Panorámica</PresentationFormat>
  <Paragraphs>115</Paragraphs>
  <Slides>23</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23</vt:i4>
      </vt:variant>
    </vt:vector>
  </HeadingPairs>
  <TitlesOfParts>
    <vt:vector size="30" baseType="lpstr">
      <vt:lpstr>Calibri</vt:lpstr>
      <vt:lpstr>Calibri Light</vt:lpstr>
      <vt:lpstr>Google Sans</vt:lpstr>
      <vt:lpstr>Open Sans</vt:lpstr>
      <vt:lpstr>Times New Roman</vt:lpstr>
      <vt:lpstr>Wingdings</vt:lpstr>
      <vt:lpstr>Retrospección</vt:lpstr>
      <vt:lpstr>CURSO METODOLOGIA DE LA INVESTIGACIÓN ECONÓMICA Ciclo 2025 0</vt:lpstr>
      <vt:lpstr>PROFESOR Dr. Pedro Barrientos F.</vt:lpstr>
      <vt:lpstr>PROGRAMACION DEL CURSO</vt:lpstr>
      <vt:lpstr>RECOMENDACIONES PARA EL CURSO</vt:lpstr>
      <vt:lpstr>BIBLIOGRAFIA</vt:lpstr>
      <vt:lpstr>TEMA 1:  RUTAS DE LA INVESTIGACION CIENTIFICA MATERIAL ELECTRONICO 1  - 2025 0</vt:lpstr>
      <vt:lpstr>INVESTIGACION CIENTIFICA</vt:lpstr>
      <vt:lpstr>¿Cómo se define la investigación económica?</vt:lpstr>
      <vt:lpstr>¿Cómo comenzar a investigar?</vt:lpstr>
      <vt:lpstr>ESTRATEGIAS DE LOS TRES ENFOQUES</vt:lpstr>
      <vt:lpstr>RUTA DE LA INVESTIGACION CUANTITATIVA</vt:lpstr>
      <vt:lpstr>RUTA DE LA INVESTIGACION CUANTITATIVA</vt:lpstr>
      <vt:lpstr>CARACTERISTICAS ESENCIALES DEL ENFOQUE CUANTITATIVO</vt:lpstr>
      <vt:lpstr>RUTA CUALITATIVA DE LA INVESTIGACION</vt:lpstr>
      <vt:lpstr>CARACTERISTICAS ESENCIALES DEL ENFOQUE CUALITATIVO</vt:lpstr>
      <vt:lpstr>CARACTERISTICAS ESENCIALES DEL ENFOQUE CUALITATIVO</vt:lpstr>
      <vt:lpstr>LA RUTA MIXTA</vt:lpstr>
      <vt:lpstr>LA MEJOR RUTA</vt:lpstr>
      <vt:lpstr>IMPORTANCIA DE LA INVESTIGACION ECONÓMICA</vt:lpstr>
      <vt:lpstr>IMPORTANCIA DE LA INVESTIGACION ECONÓMICA Para políticas públicas y gobierno</vt:lpstr>
      <vt:lpstr>IMPORTANCIA DE LA INVESTIGACION ECONÓMICA Para empresas y organizaciones</vt:lpstr>
      <vt:lpstr>IMPORTANCIA DE LA INVESTIGACION ECONÓMICA Para la sociedad en general</vt:lpstr>
      <vt:lpstr>TAREA 1: ELECCION DEL TEMA DE INVESTIGACIÓN Y SU JUSTIFICACION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CURSO METODOLOGIA DE LA INVESTIGACION ECONÓMICA</dc:title>
  <dc:creator>pedro barrientos</dc:creator>
  <cp:lastModifiedBy>pedro barrientos</cp:lastModifiedBy>
  <cp:revision>31</cp:revision>
  <dcterms:created xsi:type="dcterms:W3CDTF">2022-09-14T15:10:21Z</dcterms:created>
  <dcterms:modified xsi:type="dcterms:W3CDTF">2026-01-07T20:20:23Z</dcterms:modified>
</cp:coreProperties>
</file>