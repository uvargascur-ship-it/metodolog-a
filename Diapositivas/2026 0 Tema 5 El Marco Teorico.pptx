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34" r:id="rId2"/>
    <p:sldId id="766" r:id="rId3"/>
    <p:sldId id="768" r:id="rId4"/>
    <p:sldId id="759" r:id="rId5"/>
    <p:sldId id="760" r:id="rId6"/>
    <p:sldId id="770" r:id="rId7"/>
    <p:sldId id="761" r:id="rId8"/>
    <p:sldId id="762" r:id="rId9"/>
    <p:sldId id="763" r:id="rId10"/>
    <p:sldId id="764" r:id="rId11"/>
    <p:sldId id="765" r:id="rId12"/>
    <p:sldId id="769" r:id="rId1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lisexxX" initials="U" lastIdx="3" clrIdx="0">
    <p:extLst>
      <p:ext uri="{19B8F6BF-5375-455C-9EA6-DF929625EA0E}">
        <p15:presenceInfo xmlns:p15="http://schemas.microsoft.com/office/powerpoint/2012/main" userId="Ulisexx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8" autoAdjust="0"/>
    <p:restoredTop sz="94660"/>
  </p:normalViewPr>
  <p:slideViewPr>
    <p:cSldViewPr snapToGrid="0">
      <p:cViewPr varScale="1">
        <p:scale>
          <a:sx n="60" d="100"/>
          <a:sy n="60" d="100"/>
        </p:scale>
        <p:origin x="60"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1-20T16:57:43.025" idx="1">
    <p:pos x="10" y="10"/>
    <p:text>En el capitulo dos se ingresa todo lo que se conoce acerca del tema,</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1-20T16:59:01.535" idx="2">
    <p:pos x="10" y="10"/>
    <p:text>las fuentes bibliogradicas de 2016 en adelante.</p:text>
    <p:extLst>
      <p:ext uri="{C676402C-5697-4E1C-873F-D02D1690AC5C}">
        <p15:threadingInfo xmlns:p15="http://schemas.microsoft.com/office/powerpoint/2012/main" timeZoneBias="300"/>
      </p:ext>
    </p:extLst>
  </p:cm>
  <p:cm authorId="1" dt="2026-01-20T17:10:31.640" idx="3">
    <p:pos x="6724" y="2324"/>
    <p:text>para el siguiente martes marco teorico del tema a nivel de plano.</p:text>
    <p:extLst>
      <p:ext uri="{C676402C-5697-4E1C-873F-D02D1690AC5C}">
        <p15:threadingInfo xmlns:p15="http://schemas.microsoft.com/office/powerpoint/2012/main" timeZoneBias="30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21D03C-74E2-6210-807C-6A23CDFF06A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FB9B51D5-47FD-E5E2-83CB-390D9F9EA0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C01697C4-AB18-C4F5-10CA-1676C7A586D0}"/>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5" name="Marcador de pie de página 4">
            <a:extLst>
              <a:ext uri="{FF2B5EF4-FFF2-40B4-BE49-F238E27FC236}">
                <a16:creationId xmlns:a16="http://schemas.microsoft.com/office/drawing/2014/main" id="{131F5108-6032-4889-F7C4-C1D33544D04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698E9D2-6E1F-9C9F-75D5-69EFBC388629}"/>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3428387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97DF1-0A54-2035-42FA-71FB24AD2B6B}"/>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BD0274A5-D837-8339-1B64-F086D5B9CEB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1A621C4-EDB5-709A-CBF2-317A504B7E73}"/>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5" name="Marcador de pie de página 4">
            <a:extLst>
              <a:ext uri="{FF2B5EF4-FFF2-40B4-BE49-F238E27FC236}">
                <a16:creationId xmlns:a16="http://schemas.microsoft.com/office/drawing/2014/main" id="{E75B132D-E15C-9490-25EE-52190B90733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D954D240-FEE0-4D3C-3C8C-13382DC10732}"/>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316701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034957-1870-9A2C-BE5A-5290E590B7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EA2EAC90-5BFD-704C-49FF-3089AF13B1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43CD17-0569-C6A3-A1C7-2CCE3CD2C771}"/>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5" name="Marcador de pie de página 4">
            <a:extLst>
              <a:ext uri="{FF2B5EF4-FFF2-40B4-BE49-F238E27FC236}">
                <a16:creationId xmlns:a16="http://schemas.microsoft.com/office/drawing/2014/main" id="{08DEF5F8-2255-21B2-6ABD-260827F8190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014B2D4-6430-7C8E-400E-476670FACB37}"/>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2462118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ECC56E-D079-3C82-6F63-35EB1613C0C4}"/>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C97B627C-4046-592F-6A1A-041EBBB471A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5CD459BB-3516-914B-9E50-282D2670078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8DEB7A8B-4236-23A7-6FB0-A689BFD1E93B}"/>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6" name="Marcador de pie de página 5">
            <a:extLst>
              <a:ext uri="{FF2B5EF4-FFF2-40B4-BE49-F238E27FC236}">
                <a16:creationId xmlns:a16="http://schemas.microsoft.com/office/drawing/2014/main" id="{7BA12147-52A3-D1E0-8A64-F947D6AA73CB}"/>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3A86A35D-5971-02E7-FB64-2C88B396B70E}"/>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1294940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F88116-530B-4700-12EE-5F020F669BA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62CC70F7-85C6-F749-351D-4C9DC04B00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1E48F8-E296-D8A9-9B0E-C176E28F168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44B3C9C7-1BFD-E2DD-489E-32DBA560E8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FB84A8F-26BC-9F48-DA22-9EA944F610F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F1FBA4C5-73CA-3639-185A-42FBB8304BD8}"/>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8" name="Marcador de pie de página 7">
            <a:extLst>
              <a:ext uri="{FF2B5EF4-FFF2-40B4-BE49-F238E27FC236}">
                <a16:creationId xmlns:a16="http://schemas.microsoft.com/office/drawing/2014/main" id="{EA652749-5F68-FE0B-1B6F-96F9C27C0615}"/>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F04AA0F5-AE11-D1E2-CA39-9D9611C30940}"/>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2532339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3254A6-B3EC-C4DC-ED3B-0FFABF5C7537}"/>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69306027-C116-1952-86CD-AD5F52FC9E78}"/>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4" name="Marcador de pie de página 3">
            <a:extLst>
              <a:ext uri="{FF2B5EF4-FFF2-40B4-BE49-F238E27FC236}">
                <a16:creationId xmlns:a16="http://schemas.microsoft.com/office/drawing/2014/main" id="{867541A0-784C-FB6A-07C5-A43E9093E4CF}"/>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BD86FC4E-D904-9FC2-4C00-282E08930C25}"/>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4172478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072D15B-34C3-29C3-6AC8-F32AF2BE3964}"/>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3" name="Marcador de pie de página 2">
            <a:extLst>
              <a:ext uri="{FF2B5EF4-FFF2-40B4-BE49-F238E27FC236}">
                <a16:creationId xmlns:a16="http://schemas.microsoft.com/office/drawing/2014/main" id="{476BDAEF-E7C7-7ED9-9364-FE8879564BF5}"/>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2CFF1C47-AC0C-57DC-1E34-78526C0F387E}"/>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1851311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3ECBAA-7A1A-3CC0-C035-A06E85ED66E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0A362BEA-A263-C1FB-2160-AD65A73E95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70A0F104-F0A9-991D-9E91-0F34C5C69B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7273692-B947-AE5E-58A5-ED6A16E17FFF}"/>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6" name="Marcador de pie de página 5">
            <a:extLst>
              <a:ext uri="{FF2B5EF4-FFF2-40B4-BE49-F238E27FC236}">
                <a16:creationId xmlns:a16="http://schemas.microsoft.com/office/drawing/2014/main" id="{D0127B8E-55C4-EE71-946F-75E567584F3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657D37F-5BAA-D985-AA2D-F8FE2F694D41}"/>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136652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6AC8C-FF2C-44B3-1EE7-BAF729F4F26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F0CBA7AA-A66F-D7A9-7131-56D940728E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E5B0B7C0-C02D-F643-82C1-6E1D9B997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0D98A74-3EB8-C78A-7F04-83141F49FFB1}"/>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6" name="Marcador de pie de página 5">
            <a:extLst>
              <a:ext uri="{FF2B5EF4-FFF2-40B4-BE49-F238E27FC236}">
                <a16:creationId xmlns:a16="http://schemas.microsoft.com/office/drawing/2014/main" id="{7E0CAE64-1BF5-59D8-174B-DA947D83DF2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0D0D2DF5-EA92-F9C7-6FC1-5D639E2559A9}"/>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3380150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E6D97D-D569-775B-D769-FBD503F390AB}"/>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0146A0B-E787-DCB3-9603-83EB5F315B2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20C4FAB-4AEC-0562-8E3A-3173ED6E25FE}"/>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5" name="Marcador de pie de página 4">
            <a:extLst>
              <a:ext uri="{FF2B5EF4-FFF2-40B4-BE49-F238E27FC236}">
                <a16:creationId xmlns:a16="http://schemas.microsoft.com/office/drawing/2014/main" id="{ADF6A92F-5422-40C5-9A93-4C6A8DE156F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9DF3C10-7F1C-C928-6727-8156441E23FF}"/>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1260336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44B109E-1603-342A-5F13-92E80626F10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BC369E76-8044-F1A5-9416-D1B70F87B46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F7E3D99-02AB-953A-EBA7-22AF836163B0}"/>
              </a:ext>
            </a:extLst>
          </p:cNvPr>
          <p:cNvSpPr>
            <a:spLocks noGrp="1"/>
          </p:cNvSpPr>
          <p:nvPr>
            <p:ph type="dt" sz="half" idx="10"/>
          </p:nvPr>
        </p:nvSpPr>
        <p:spPr/>
        <p:txBody>
          <a:bodyPr/>
          <a:lstStyle/>
          <a:p>
            <a:fld id="{57FBF6DC-539E-4B2A-A21E-CEA4B38187F9}" type="datetimeFigureOut">
              <a:rPr lang="es-PE" smtClean="0"/>
              <a:t>20/01/2026</a:t>
            </a:fld>
            <a:endParaRPr lang="es-PE"/>
          </a:p>
        </p:txBody>
      </p:sp>
      <p:sp>
        <p:nvSpPr>
          <p:cNvPr id="5" name="Marcador de pie de página 4">
            <a:extLst>
              <a:ext uri="{FF2B5EF4-FFF2-40B4-BE49-F238E27FC236}">
                <a16:creationId xmlns:a16="http://schemas.microsoft.com/office/drawing/2014/main" id="{1D0B79DF-69CA-CEF8-EA76-B977AC571B1C}"/>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B5EEBA6-7D6F-3893-7048-BF462DA4D2E6}"/>
              </a:ext>
            </a:extLst>
          </p:cNvPr>
          <p:cNvSpPr>
            <a:spLocks noGrp="1"/>
          </p:cNvSpPr>
          <p:nvPr>
            <p:ph type="sldNum" sz="quarter" idx="12"/>
          </p:nvPr>
        </p:nvSpPr>
        <p:spPr/>
        <p:txBody>
          <a:bodyPr/>
          <a:lstStyle/>
          <a:p>
            <a:fld id="{ACC18E5E-983A-4DF2-968F-2684628FC6C3}" type="slidenum">
              <a:rPr lang="es-PE" smtClean="0"/>
              <a:t>‹Nº›</a:t>
            </a:fld>
            <a:endParaRPr lang="es-PE"/>
          </a:p>
        </p:txBody>
      </p:sp>
    </p:spTree>
    <p:extLst>
      <p:ext uri="{BB962C8B-B14F-4D97-AF65-F5344CB8AC3E}">
        <p14:creationId xmlns:p14="http://schemas.microsoft.com/office/powerpoint/2010/main" val="2607266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71A5400-0F64-C275-FC44-168A7C0025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3BF056-D791-F033-9008-AD552D8D6F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9173E7F-F2E4-7DF9-15FE-6389FA661F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FBF6DC-539E-4B2A-A21E-CEA4B38187F9}" type="datetimeFigureOut">
              <a:rPr lang="es-PE" smtClean="0"/>
              <a:t>20/01/2026</a:t>
            </a:fld>
            <a:endParaRPr lang="es-PE"/>
          </a:p>
        </p:txBody>
      </p:sp>
      <p:sp>
        <p:nvSpPr>
          <p:cNvPr id="5" name="Marcador de pie de página 4">
            <a:extLst>
              <a:ext uri="{FF2B5EF4-FFF2-40B4-BE49-F238E27FC236}">
                <a16:creationId xmlns:a16="http://schemas.microsoft.com/office/drawing/2014/main" id="{D1D4E100-5F5B-E229-1DC6-5CC59981BC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6D79BDA5-AC68-330B-D6ED-21A861D9A2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C18E5E-983A-4DF2-968F-2684628FC6C3}" type="slidenum">
              <a:rPr lang="es-PE" smtClean="0"/>
              <a:t>‹Nº›</a:t>
            </a:fld>
            <a:endParaRPr lang="es-PE"/>
          </a:p>
        </p:txBody>
      </p:sp>
    </p:spTree>
    <p:extLst>
      <p:ext uri="{BB962C8B-B14F-4D97-AF65-F5344CB8AC3E}">
        <p14:creationId xmlns:p14="http://schemas.microsoft.com/office/powerpoint/2010/main" val="583610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upg.administracion.unmsm.edu.pe/images/tesis/DIRECTIVA-080-TESIS.pdf"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upg.administracion.unmsm.edu.pe/images/tesis/DIRECTIVA-080-TESIS.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upg.administracion.unmsm.edu.pe/images/tesis/DIRECTIVA-080-TESIS.pdf"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E387E447-5764-0A7D-8227-BED4ACC94863}"/>
              </a:ext>
            </a:extLst>
          </p:cNvPr>
          <p:cNvSpPr>
            <a:spLocks noGrp="1"/>
          </p:cNvSpPr>
          <p:nvPr>
            <p:ph type="ctrTitle"/>
          </p:nvPr>
        </p:nvSpPr>
        <p:spPr/>
        <p:txBody>
          <a:bodyPr>
            <a:normAutofit/>
          </a:bodyPr>
          <a:lstStyle/>
          <a:p>
            <a:r>
              <a:rPr lang="es-PE" sz="3600" dirty="0"/>
              <a:t>TEMA 5: </a:t>
            </a:r>
            <a:r>
              <a:rPr lang="es-PE" sz="3600"/>
              <a:t/>
            </a:r>
            <a:br>
              <a:rPr lang="es-PE" sz="3600"/>
            </a:br>
            <a:r>
              <a:rPr lang="es-PE" sz="3600"/>
              <a:t>EL </a:t>
            </a:r>
            <a:r>
              <a:rPr lang="es-PE" sz="3600" dirty="0"/>
              <a:t>MARCO TEORICO</a:t>
            </a:r>
          </a:p>
        </p:txBody>
      </p:sp>
      <p:sp>
        <p:nvSpPr>
          <p:cNvPr id="5" name="Subtítulo 4">
            <a:extLst>
              <a:ext uri="{FF2B5EF4-FFF2-40B4-BE49-F238E27FC236}">
                <a16:creationId xmlns:a16="http://schemas.microsoft.com/office/drawing/2014/main" id="{28C09AEE-2084-F8D3-598F-B5D0FBAB0F4A}"/>
              </a:ext>
            </a:extLst>
          </p:cNvPr>
          <p:cNvSpPr>
            <a:spLocks noGrp="1"/>
          </p:cNvSpPr>
          <p:nvPr>
            <p:ph type="subTitle" idx="1"/>
          </p:nvPr>
        </p:nvSpPr>
        <p:spPr/>
        <p:txBody>
          <a:bodyPr/>
          <a:lstStyle/>
          <a:p>
            <a:endParaRPr lang="es-PE" dirty="0"/>
          </a:p>
        </p:txBody>
      </p:sp>
    </p:spTree>
    <p:extLst>
      <p:ext uri="{BB962C8B-B14F-4D97-AF65-F5344CB8AC3E}">
        <p14:creationId xmlns:p14="http://schemas.microsoft.com/office/powerpoint/2010/main" val="1654889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35630D-336B-05FA-9CA4-A33E111BB616}"/>
              </a:ext>
            </a:extLst>
          </p:cNvPr>
          <p:cNvSpPr>
            <a:spLocks noGrp="1"/>
          </p:cNvSpPr>
          <p:nvPr>
            <p:ph type="title"/>
          </p:nvPr>
        </p:nvSpPr>
        <p:spPr/>
        <p:txBody>
          <a:bodyPr>
            <a:normAutofit/>
          </a:bodyPr>
          <a:lstStyle/>
          <a:p>
            <a:r>
              <a:rPr lang="es-PE" sz="2800" dirty="0"/>
              <a:t>ALGUNOS COMENTARIOS UTILES PARA EL PLAN DE INVESTIGACIÓN </a:t>
            </a:r>
            <a:br>
              <a:rPr lang="es-PE" sz="2800" dirty="0"/>
            </a:br>
            <a:r>
              <a:rPr lang="es-PE" sz="2800" dirty="0"/>
              <a:t>(Y LA MISMA INVESTIGACION)</a:t>
            </a:r>
          </a:p>
        </p:txBody>
      </p:sp>
      <p:sp>
        <p:nvSpPr>
          <p:cNvPr id="3" name="Marcador de contenido 2">
            <a:extLst>
              <a:ext uri="{FF2B5EF4-FFF2-40B4-BE49-F238E27FC236}">
                <a16:creationId xmlns:a16="http://schemas.microsoft.com/office/drawing/2014/main" id="{9963D56C-D566-F332-B2C5-5BA58372C641}"/>
              </a:ext>
            </a:extLst>
          </p:cNvPr>
          <p:cNvSpPr>
            <a:spLocks noGrp="1"/>
          </p:cNvSpPr>
          <p:nvPr>
            <p:ph idx="1"/>
          </p:nvPr>
        </p:nvSpPr>
        <p:spPr>
          <a:xfrm>
            <a:off x="838200" y="1825625"/>
            <a:ext cx="7277100" cy="4351338"/>
          </a:xfrm>
        </p:spPr>
        <p:txBody>
          <a:bodyPr anchor="ctr">
            <a:normAutofit/>
          </a:bodyPr>
          <a:lstStyle/>
          <a:p>
            <a:r>
              <a:rPr lang="es-PE" sz="2000" dirty="0"/>
              <a:t>No redactar en pasado ni futuro, en la medida de la posible.</a:t>
            </a:r>
          </a:p>
          <a:p>
            <a:r>
              <a:rPr lang="es-PE" sz="2000" dirty="0"/>
              <a:t>Cumplir con el horario de entrega.</a:t>
            </a:r>
          </a:p>
          <a:p>
            <a:r>
              <a:rPr lang="es-PE" sz="2000" dirty="0"/>
              <a:t>Los signos de puntuación deben permitir que el lector descanse y entienda.</a:t>
            </a:r>
          </a:p>
          <a:p>
            <a:r>
              <a:rPr lang="es-PE" sz="2000" dirty="0"/>
              <a:t>Hay redacción que es redundante.</a:t>
            </a:r>
          </a:p>
          <a:p>
            <a:r>
              <a:rPr lang="es-PE" sz="2000" dirty="0"/>
              <a:t>Los problemas de investigación se presentan en interrogante, no en afirmaciones.</a:t>
            </a:r>
          </a:p>
          <a:p>
            <a:r>
              <a:rPr lang="es-PE" sz="2000" dirty="0"/>
              <a:t>Una buena presentación desde el inicio de la investigación, incluye una carátula, índice y número de página.</a:t>
            </a:r>
          </a:p>
        </p:txBody>
      </p:sp>
      <p:pic>
        <p:nvPicPr>
          <p:cNvPr id="4" name="Imagen 3">
            <a:extLst>
              <a:ext uri="{FF2B5EF4-FFF2-40B4-BE49-F238E27FC236}">
                <a16:creationId xmlns:a16="http://schemas.microsoft.com/office/drawing/2014/main" id="{E7A0ACD6-51C2-88C3-998A-3BE5586E9038}"/>
              </a:ext>
            </a:extLst>
          </p:cNvPr>
          <p:cNvPicPr>
            <a:picLocks noChangeAspect="1"/>
          </p:cNvPicPr>
          <p:nvPr/>
        </p:nvPicPr>
        <p:blipFill>
          <a:blip r:embed="rId2"/>
          <a:stretch>
            <a:fillRect/>
          </a:stretch>
        </p:blipFill>
        <p:spPr>
          <a:xfrm>
            <a:off x="8044390" y="1825625"/>
            <a:ext cx="3458882" cy="4097045"/>
          </a:xfrm>
          <a:prstGeom prst="rect">
            <a:avLst/>
          </a:prstGeom>
        </p:spPr>
      </p:pic>
    </p:spTree>
    <p:extLst>
      <p:ext uri="{BB962C8B-B14F-4D97-AF65-F5344CB8AC3E}">
        <p14:creationId xmlns:p14="http://schemas.microsoft.com/office/powerpoint/2010/main" val="1223766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13B9AE-FFF2-2A0F-9277-47C8A49EC7CB}"/>
              </a:ext>
            </a:extLst>
          </p:cNvPr>
          <p:cNvSpPr>
            <a:spLocks noGrp="1"/>
          </p:cNvSpPr>
          <p:nvPr>
            <p:ph type="title"/>
          </p:nvPr>
        </p:nvSpPr>
        <p:spPr/>
        <p:txBody>
          <a:bodyPr>
            <a:noAutofit/>
          </a:bodyPr>
          <a:lstStyle/>
          <a:p>
            <a:pPr algn="ctr"/>
            <a:r>
              <a:rPr lang="es-PE" sz="2800" b="1" dirty="0"/>
              <a:t>TEMA DE INVESTIGACION: </a:t>
            </a:r>
            <a:br>
              <a:rPr lang="es-PE" sz="2800" b="1" dirty="0"/>
            </a:br>
            <a:r>
              <a:rPr lang="es-PE" sz="2800" dirty="0"/>
              <a:t>IDENTIFICACIÓN DE LAS ACTIVIDADES DE LAS EMPRESAS PARA OBTENER PROVECHO DE LA PANDEMIA COVID 19 EN LOS AÑOS 2022 - 2026</a:t>
            </a:r>
          </a:p>
        </p:txBody>
      </p:sp>
      <p:sp>
        <p:nvSpPr>
          <p:cNvPr id="3" name="Marcador de contenido 2">
            <a:extLst>
              <a:ext uri="{FF2B5EF4-FFF2-40B4-BE49-F238E27FC236}">
                <a16:creationId xmlns:a16="http://schemas.microsoft.com/office/drawing/2014/main" id="{C2A01685-3023-9C9C-3408-3BE3A14FE473}"/>
              </a:ext>
            </a:extLst>
          </p:cNvPr>
          <p:cNvSpPr>
            <a:spLocks noGrp="1"/>
          </p:cNvSpPr>
          <p:nvPr>
            <p:ph idx="1"/>
          </p:nvPr>
        </p:nvSpPr>
        <p:spPr/>
        <p:txBody>
          <a:bodyPr anchor="ctr">
            <a:normAutofit/>
          </a:bodyPr>
          <a:lstStyle/>
          <a:p>
            <a:pPr marL="0" indent="0">
              <a:buNone/>
            </a:pPr>
            <a:r>
              <a:rPr lang="es-PE" b="1" dirty="0"/>
              <a:t>2.2. MARCO TEORICO</a:t>
            </a:r>
          </a:p>
          <a:p>
            <a:r>
              <a:rPr lang="es-PE" dirty="0"/>
              <a:t>2.2.1 El efecto de la pandemia en las actividades comerciales</a:t>
            </a:r>
          </a:p>
          <a:p>
            <a:r>
              <a:rPr lang="es-PE" dirty="0"/>
              <a:t>2.2.2 Estrategias comerciales en tiempos de crisis</a:t>
            </a:r>
          </a:p>
          <a:p>
            <a:r>
              <a:rPr lang="es-PE" dirty="0"/>
              <a:t>2.2.3 Perspectivas del comercio en el período </a:t>
            </a:r>
            <a:r>
              <a:rPr lang="es-PE" dirty="0" err="1"/>
              <a:t>poscovid</a:t>
            </a:r>
            <a:r>
              <a:rPr lang="es-PE" dirty="0"/>
              <a:t> 19</a:t>
            </a:r>
          </a:p>
          <a:p>
            <a:r>
              <a:rPr lang="es-PE" dirty="0"/>
              <a:t>2.2.4 El comportamiento de la demanda en el período </a:t>
            </a:r>
            <a:r>
              <a:rPr lang="es-PE" dirty="0" err="1"/>
              <a:t>poscovid</a:t>
            </a:r>
            <a:r>
              <a:rPr lang="es-PE" dirty="0"/>
              <a:t> 2022.2026</a:t>
            </a:r>
          </a:p>
          <a:p>
            <a:endParaRPr lang="es-PE" dirty="0"/>
          </a:p>
        </p:txBody>
      </p:sp>
    </p:spTree>
    <p:extLst>
      <p:ext uri="{BB962C8B-B14F-4D97-AF65-F5344CB8AC3E}">
        <p14:creationId xmlns:p14="http://schemas.microsoft.com/office/powerpoint/2010/main" val="4059124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567E8A-F9D2-39DE-8EDD-FE4A5B7835F8}"/>
              </a:ext>
            </a:extLst>
          </p:cNvPr>
          <p:cNvSpPr>
            <a:spLocks noGrp="1"/>
          </p:cNvSpPr>
          <p:nvPr>
            <p:ph type="title"/>
          </p:nvPr>
        </p:nvSpPr>
        <p:spPr>
          <a:xfrm>
            <a:off x="838200" y="365125"/>
            <a:ext cx="5181600" cy="1325563"/>
          </a:xfrm>
        </p:spPr>
        <p:txBody>
          <a:bodyPr>
            <a:normAutofit/>
          </a:bodyPr>
          <a:lstStyle/>
          <a:p>
            <a:pPr algn="ctr"/>
            <a:r>
              <a:rPr lang="es-PE" sz="2800" dirty="0"/>
              <a:t>AVANCES DEL PLAN</a:t>
            </a:r>
            <a:endParaRPr lang="es-PE" sz="1600" dirty="0"/>
          </a:p>
        </p:txBody>
      </p:sp>
      <p:sp>
        <p:nvSpPr>
          <p:cNvPr id="3" name="Marcador de contenido 2">
            <a:extLst>
              <a:ext uri="{FF2B5EF4-FFF2-40B4-BE49-F238E27FC236}">
                <a16:creationId xmlns:a16="http://schemas.microsoft.com/office/drawing/2014/main" id="{24D0A325-9017-D585-2FD8-8F2C44A474A8}"/>
              </a:ext>
            </a:extLst>
          </p:cNvPr>
          <p:cNvSpPr>
            <a:spLocks noGrp="1"/>
          </p:cNvSpPr>
          <p:nvPr>
            <p:ph sz="half" idx="1"/>
          </p:nvPr>
        </p:nvSpPr>
        <p:spPr/>
        <p:txBody>
          <a:bodyPr anchor="ctr">
            <a:normAutofit fontScale="92500" lnSpcReduction="20000"/>
          </a:bodyPr>
          <a:lstStyle/>
          <a:p>
            <a:pPr lvl="1"/>
            <a:r>
              <a:rPr lang="es-PE" dirty="0">
                <a:solidFill>
                  <a:srgbClr val="FF0000"/>
                </a:solidFill>
              </a:rPr>
              <a:t>I. PLANTEAMIENTO DEL PROBLEMA</a:t>
            </a:r>
          </a:p>
          <a:p>
            <a:pPr lvl="2"/>
            <a:r>
              <a:rPr lang="es-PE" dirty="0">
                <a:solidFill>
                  <a:srgbClr val="FF0000"/>
                </a:solidFill>
              </a:rPr>
              <a:t>1.1 Análisis del contexto</a:t>
            </a:r>
          </a:p>
          <a:p>
            <a:pPr lvl="2"/>
            <a:r>
              <a:rPr lang="es-PE" dirty="0">
                <a:solidFill>
                  <a:srgbClr val="FF0000"/>
                </a:solidFill>
              </a:rPr>
              <a:t>1.2 Formulación del problema</a:t>
            </a:r>
          </a:p>
          <a:p>
            <a:pPr lvl="3"/>
            <a:r>
              <a:rPr lang="es-PE" dirty="0">
                <a:solidFill>
                  <a:srgbClr val="FF0000"/>
                </a:solidFill>
              </a:rPr>
              <a:t>1.2.1 Problema principal</a:t>
            </a:r>
          </a:p>
          <a:p>
            <a:pPr lvl="3"/>
            <a:r>
              <a:rPr lang="es-PE" dirty="0">
                <a:solidFill>
                  <a:srgbClr val="FF0000"/>
                </a:solidFill>
              </a:rPr>
              <a:t>1.2.2.Problemas específicos</a:t>
            </a:r>
          </a:p>
          <a:p>
            <a:pPr lvl="2"/>
            <a:r>
              <a:rPr lang="es-PE" dirty="0">
                <a:solidFill>
                  <a:srgbClr val="FF0000"/>
                </a:solidFill>
              </a:rPr>
              <a:t>1.3 Justificación de la investigación</a:t>
            </a:r>
          </a:p>
          <a:p>
            <a:pPr lvl="3"/>
            <a:r>
              <a:rPr lang="es-PE" dirty="0">
                <a:solidFill>
                  <a:srgbClr val="FF0000"/>
                </a:solidFill>
              </a:rPr>
              <a:t>1.3.1 Justificación Teórica</a:t>
            </a:r>
          </a:p>
          <a:p>
            <a:pPr lvl="3"/>
            <a:r>
              <a:rPr lang="es-PE" dirty="0">
                <a:solidFill>
                  <a:srgbClr val="FF0000"/>
                </a:solidFill>
              </a:rPr>
              <a:t>1.3.2 Justificación práctica</a:t>
            </a:r>
          </a:p>
          <a:p>
            <a:pPr lvl="3"/>
            <a:r>
              <a:rPr lang="es-PE" dirty="0">
                <a:solidFill>
                  <a:srgbClr val="FF0000"/>
                </a:solidFill>
              </a:rPr>
              <a:t>1.3.3 Justificación metodológica</a:t>
            </a:r>
          </a:p>
          <a:p>
            <a:pPr lvl="2"/>
            <a:r>
              <a:rPr lang="es-PE" dirty="0">
                <a:solidFill>
                  <a:srgbClr val="FF0000"/>
                </a:solidFill>
              </a:rPr>
              <a:t>1.4 Objetivos de la investigación</a:t>
            </a:r>
          </a:p>
          <a:p>
            <a:pPr lvl="3"/>
            <a:r>
              <a:rPr lang="es-PE" dirty="0">
                <a:solidFill>
                  <a:srgbClr val="FF0000"/>
                </a:solidFill>
              </a:rPr>
              <a:t>1.4.1 Objetivo principal</a:t>
            </a:r>
          </a:p>
          <a:p>
            <a:pPr lvl="3"/>
            <a:r>
              <a:rPr lang="es-PE" dirty="0">
                <a:solidFill>
                  <a:srgbClr val="FF0000"/>
                </a:solidFill>
              </a:rPr>
              <a:t>1.4.2 Objetivos específicos</a:t>
            </a:r>
          </a:p>
          <a:p>
            <a:pPr lvl="1"/>
            <a:r>
              <a:rPr lang="es-PE" dirty="0"/>
              <a:t>II. MARCO TEORICO</a:t>
            </a:r>
          </a:p>
          <a:p>
            <a:pPr lvl="2"/>
            <a:r>
              <a:rPr lang="es-PE" dirty="0"/>
              <a:t>2.1 Antecedentes del problema</a:t>
            </a:r>
          </a:p>
          <a:p>
            <a:pPr lvl="2"/>
            <a:r>
              <a:rPr lang="es-PE" dirty="0"/>
              <a:t>2.2 Bases teóricas</a:t>
            </a:r>
          </a:p>
          <a:p>
            <a:pPr lvl="2"/>
            <a:r>
              <a:rPr lang="es-PE" dirty="0"/>
              <a:t>2.3 Marco conceptual</a:t>
            </a:r>
          </a:p>
        </p:txBody>
      </p:sp>
      <p:sp>
        <p:nvSpPr>
          <p:cNvPr id="6" name="Marcador de contenido 5">
            <a:extLst>
              <a:ext uri="{FF2B5EF4-FFF2-40B4-BE49-F238E27FC236}">
                <a16:creationId xmlns:a16="http://schemas.microsoft.com/office/drawing/2014/main" id="{483E2CCB-D319-0B60-2477-D873C9D516E5}"/>
              </a:ext>
            </a:extLst>
          </p:cNvPr>
          <p:cNvSpPr>
            <a:spLocks noGrp="1"/>
          </p:cNvSpPr>
          <p:nvPr>
            <p:ph sz="half" idx="2"/>
          </p:nvPr>
        </p:nvSpPr>
        <p:spPr>
          <a:xfrm>
            <a:off x="6897802" y="2452025"/>
            <a:ext cx="4813144" cy="3902350"/>
          </a:xfrm>
        </p:spPr>
        <p:txBody>
          <a:bodyPr anchor="ctr">
            <a:normAutofit fontScale="92500" lnSpcReduction="20000"/>
          </a:bodyPr>
          <a:lstStyle/>
          <a:p>
            <a:pPr lvl="1"/>
            <a:r>
              <a:rPr lang="es-PE" dirty="0"/>
              <a:t>III, HIPOTESIS y VARIABLES DE LA INVESTIGACIÓN</a:t>
            </a:r>
          </a:p>
          <a:p>
            <a:pPr lvl="2"/>
            <a:r>
              <a:rPr lang="es-PE" dirty="0"/>
              <a:t>3.1 Hipótesis principal</a:t>
            </a:r>
          </a:p>
          <a:p>
            <a:pPr lvl="2"/>
            <a:r>
              <a:rPr lang="es-PE" dirty="0"/>
              <a:t>3.2 Hipótesis específicas</a:t>
            </a:r>
          </a:p>
          <a:p>
            <a:pPr lvl="2"/>
            <a:r>
              <a:rPr lang="es-PE" dirty="0"/>
              <a:t>3.3 Identificación de variables</a:t>
            </a:r>
          </a:p>
          <a:p>
            <a:pPr lvl="2"/>
            <a:r>
              <a:rPr lang="es-PE" dirty="0"/>
              <a:t>3.4 Operacionalización de variables</a:t>
            </a:r>
          </a:p>
          <a:p>
            <a:pPr lvl="2"/>
            <a:r>
              <a:rPr lang="es-PE" dirty="0"/>
              <a:t>3.5 Matriz de consistencia</a:t>
            </a:r>
          </a:p>
          <a:p>
            <a:pPr lvl="1"/>
            <a:r>
              <a:rPr lang="es-PE" dirty="0"/>
              <a:t>IV. METODOLOGÍA DE LA INVESTIGACION</a:t>
            </a:r>
          </a:p>
          <a:p>
            <a:pPr lvl="1"/>
            <a:r>
              <a:rPr lang="es-PE" dirty="0"/>
              <a:t>V. PRESUPUESTO</a:t>
            </a:r>
          </a:p>
          <a:p>
            <a:pPr lvl="1"/>
            <a:r>
              <a:rPr lang="es-PE" dirty="0"/>
              <a:t>VI. CRONOGRAMA DE INVESTIGACIÓN</a:t>
            </a:r>
          </a:p>
          <a:p>
            <a:pPr lvl="1"/>
            <a:r>
              <a:rPr lang="es-PE" dirty="0">
                <a:solidFill>
                  <a:srgbClr val="FF0000"/>
                </a:solidFill>
              </a:rPr>
              <a:t>VII. REFERENCIAS BIBLIOGRÁFICAS</a:t>
            </a:r>
          </a:p>
          <a:p>
            <a:pPr lvl="1"/>
            <a:r>
              <a:rPr lang="es-PE" dirty="0"/>
              <a:t>ANEXOS</a:t>
            </a:r>
          </a:p>
        </p:txBody>
      </p:sp>
      <p:sp>
        <p:nvSpPr>
          <p:cNvPr id="5" name="CuadroTexto 4">
            <a:extLst>
              <a:ext uri="{FF2B5EF4-FFF2-40B4-BE49-F238E27FC236}">
                <a16:creationId xmlns:a16="http://schemas.microsoft.com/office/drawing/2014/main" id="{01AF27D9-2132-DB48-7880-FFE1CF50C838}"/>
              </a:ext>
            </a:extLst>
          </p:cNvPr>
          <p:cNvSpPr txBox="1"/>
          <p:nvPr/>
        </p:nvSpPr>
        <p:spPr>
          <a:xfrm>
            <a:off x="695069" y="6354375"/>
            <a:ext cx="6094562" cy="461665"/>
          </a:xfrm>
          <a:prstGeom prst="rect">
            <a:avLst/>
          </a:prstGeom>
          <a:noFill/>
        </p:spPr>
        <p:txBody>
          <a:bodyPr wrap="square">
            <a:spAutoFit/>
          </a:bodyPr>
          <a:lstStyle/>
          <a:p>
            <a:r>
              <a:rPr lang="es-PE" sz="1200" dirty="0">
                <a:hlinkClick r:id="rId2"/>
              </a:rPr>
              <a:t>https://upg.administracion.unmsm.edu.pe/images/tesis/DIRECTIVA-080-TESIS.pdf</a:t>
            </a:r>
            <a:endParaRPr lang="es-PE" sz="1200" dirty="0"/>
          </a:p>
          <a:p>
            <a:endParaRPr lang="es-PE" sz="1200" dirty="0"/>
          </a:p>
        </p:txBody>
      </p:sp>
    </p:spTree>
    <p:extLst>
      <p:ext uri="{BB962C8B-B14F-4D97-AF65-F5344CB8AC3E}">
        <p14:creationId xmlns:p14="http://schemas.microsoft.com/office/powerpoint/2010/main" val="1207591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2EF2065D-22FB-C2B6-E4B8-887996A6E06B}"/>
              </a:ext>
            </a:extLst>
          </p:cNvPr>
          <p:cNvSpPr>
            <a:spLocks noGrp="1"/>
          </p:cNvSpPr>
          <p:nvPr>
            <p:ph type="title"/>
          </p:nvPr>
        </p:nvSpPr>
        <p:spPr/>
        <p:txBody>
          <a:bodyPr>
            <a:normAutofit/>
          </a:bodyPr>
          <a:lstStyle/>
          <a:p>
            <a:r>
              <a:rPr lang="es-PE" sz="2800" dirty="0"/>
              <a:t>El marco teórico</a:t>
            </a:r>
          </a:p>
        </p:txBody>
      </p:sp>
      <p:sp>
        <p:nvSpPr>
          <p:cNvPr id="6" name="Marcador de contenido 5">
            <a:extLst>
              <a:ext uri="{FF2B5EF4-FFF2-40B4-BE49-F238E27FC236}">
                <a16:creationId xmlns:a16="http://schemas.microsoft.com/office/drawing/2014/main" id="{8EB6AFC9-D0D0-3FF5-4BF8-F19AA2E41C59}"/>
              </a:ext>
            </a:extLst>
          </p:cNvPr>
          <p:cNvSpPr>
            <a:spLocks noGrp="1"/>
          </p:cNvSpPr>
          <p:nvPr>
            <p:ph idx="1"/>
          </p:nvPr>
        </p:nvSpPr>
        <p:spPr>
          <a:xfrm>
            <a:off x="1302185" y="1587300"/>
            <a:ext cx="6764055" cy="4648788"/>
          </a:xfrm>
        </p:spPr>
        <p:txBody>
          <a:bodyPr anchor="ctr">
            <a:normAutofit/>
          </a:bodyPr>
          <a:lstStyle/>
          <a:p>
            <a:pPr marL="0" indent="0" algn="ctr">
              <a:lnSpc>
                <a:spcPct val="150000"/>
              </a:lnSpc>
              <a:buNone/>
            </a:pPr>
            <a:r>
              <a:rPr lang="es-MX" sz="2000" dirty="0"/>
              <a:t>El marco teórico es una etapa y un producto. Una etapa que implica un proceso de inmersión en el conocimiento existente y disponible que debe estar relacionado con el planteamiento del problema (objetivos, preguntas, justificación, viabilidad y evaluación de las deficiencias de lo que se sabe del problema), y un producto, que a su vez es parte de un producto mayor: el reporte o informe de investigación.</a:t>
            </a:r>
            <a:endParaRPr lang="es-PE" sz="2000" dirty="0"/>
          </a:p>
        </p:txBody>
      </p:sp>
      <p:pic>
        <p:nvPicPr>
          <p:cNvPr id="7" name="Imagen 6">
            <a:extLst>
              <a:ext uri="{FF2B5EF4-FFF2-40B4-BE49-F238E27FC236}">
                <a16:creationId xmlns:a16="http://schemas.microsoft.com/office/drawing/2014/main" id="{3E849970-67FF-28D5-8CCB-3D803EC0C168}"/>
              </a:ext>
            </a:extLst>
          </p:cNvPr>
          <p:cNvPicPr>
            <a:picLocks noChangeAspect="1"/>
          </p:cNvPicPr>
          <p:nvPr/>
        </p:nvPicPr>
        <p:blipFill>
          <a:blip r:embed="rId2"/>
          <a:stretch>
            <a:fillRect/>
          </a:stretch>
        </p:blipFill>
        <p:spPr>
          <a:xfrm>
            <a:off x="8530225" y="1330514"/>
            <a:ext cx="3375895" cy="5162361"/>
          </a:xfrm>
          <a:prstGeom prst="rect">
            <a:avLst/>
          </a:prstGeom>
        </p:spPr>
      </p:pic>
    </p:spTree>
    <p:extLst>
      <p:ext uri="{BB962C8B-B14F-4D97-AF65-F5344CB8AC3E}">
        <p14:creationId xmlns:p14="http://schemas.microsoft.com/office/powerpoint/2010/main" val="786617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2 Marco teórico</a:t>
            </a:r>
            <a:endParaRPr lang="en-US" dirty="0"/>
          </a:p>
        </p:txBody>
      </p:sp>
      <p:sp>
        <p:nvSpPr>
          <p:cNvPr id="3" name="Marcador de contenido 2"/>
          <p:cNvSpPr>
            <a:spLocks noGrp="1"/>
          </p:cNvSpPr>
          <p:nvPr>
            <p:ph idx="1"/>
          </p:nvPr>
        </p:nvSpPr>
        <p:spPr/>
        <p:txBody>
          <a:bodyPr/>
          <a:lstStyle/>
          <a:p>
            <a:r>
              <a:rPr lang="es-MX" dirty="0" smtClean="0"/>
              <a:t>2.1 Antecedentes (el estado del Arte): autor de la investigación, titulo, breve descripción, metodología de investigación, principal conclusión. Un máximo de quince líneas. </a:t>
            </a:r>
            <a:endParaRPr lang="es-MX" dirty="0"/>
          </a:p>
          <a:p>
            <a:r>
              <a:rPr lang="es-MX" dirty="0" smtClean="0"/>
              <a:t>2.2 Marco teórico del tema</a:t>
            </a:r>
          </a:p>
          <a:p>
            <a:r>
              <a:rPr lang="es-MX" dirty="0" smtClean="0"/>
              <a:t>2.3</a:t>
            </a:r>
            <a:r>
              <a:rPr lang="en-US" dirty="0" smtClean="0"/>
              <a:t> Marco conceptual (</a:t>
            </a:r>
            <a:r>
              <a:rPr lang="en-US" dirty="0" err="1" smtClean="0"/>
              <a:t>glosario</a:t>
            </a:r>
            <a:r>
              <a:rPr lang="en-US" dirty="0" smtClean="0"/>
              <a:t>) </a:t>
            </a:r>
            <a:r>
              <a:rPr lang="en-US" dirty="0" err="1" smtClean="0"/>
              <a:t>Concepto</a:t>
            </a:r>
            <a:r>
              <a:rPr lang="en-US" dirty="0" smtClean="0"/>
              <a:t> y </a:t>
            </a:r>
            <a:r>
              <a:rPr lang="en-US" dirty="0" err="1" smtClean="0"/>
              <a:t>por</a:t>
            </a:r>
            <a:r>
              <a:rPr lang="en-US" dirty="0" smtClean="0"/>
              <a:t> </a:t>
            </a:r>
            <a:r>
              <a:rPr lang="en-US" dirty="0" err="1" smtClean="0"/>
              <a:t>cada</a:t>
            </a:r>
            <a:r>
              <a:rPr lang="en-US" dirty="0" smtClean="0"/>
              <a:t> </a:t>
            </a:r>
            <a:r>
              <a:rPr lang="en-US" dirty="0" err="1" smtClean="0"/>
              <a:t>concepto</a:t>
            </a:r>
            <a:r>
              <a:rPr lang="en-US" dirty="0" smtClean="0"/>
              <a:t> la </a:t>
            </a:r>
            <a:r>
              <a:rPr lang="en-US" dirty="0" err="1" smtClean="0"/>
              <a:t>definición</a:t>
            </a:r>
            <a:r>
              <a:rPr lang="en-US" dirty="0" smtClean="0"/>
              <a:t> </a:t>
            </a:r>
            <a:r>
              <a:rPr lang="en-US" dirty="0" err="1" smtClean="0"/>
              <a:t>obviamente</a:t>
            </a:r>
            <a:r>
              <a:rPr lang="en-US" dirty="0" smtClean="0"/>
              <a:t> </a:t>
            </a:r>
            <a:r>
              <a:rPr lang="en-US" dirty="0" err="1" smtClean="0"/>
              <a:t>citado</a:t>
            </a:r>
            <a:r>
              <a:rPr lang="en-US" dirty="0" smtClean="0"/>
              <a:t>. “Ulises me pica </a:t>
            </a:r>
            <a:r>
              <a:rPr lang="en-US" dirty="0" err="1" smtClean="0"/>
              <a:t>tu</a:t>
            </a:r>
            <a:r>
              <a:rPr lang="en-US" dirty="0" smtClean="0"/>
              <a:t> </a:t>
            </a:r>
            <a:r>
              <a:rPr lang="en-US" dirty="0" err="1" smtClean="0"/>
              <a:t>cabeza</a:t>
            </a:r>
            <a:r>
              <a:rPr lang="en-US" dirty="0" smtClean="0"/>
              <a:t>”(Rojas,2026)</a:t>
            </a:r>
            <a:endParaRPr lang="es-MX" dirty="0" smtClean="0"/>
          </a:p>
        </p:txBody>
      </p:sp>
    </p:spTree>
    <p:extLst>
      <p:ext uri="{BB962C8B-B14F-4D97-AF65-F5344CB8AC3E}">
        <p14:creationId xmlns:p14="http://schemas.microsoft.com/office/powerpoint/2010/main" val="3543663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64625A-2B71-6FA1-F1D7-0A7CBD6F7D5F}"/>
              </a:ext>
            </a:extLst>
          </p:cNvPr>
          <p:cNvSpPr>
            <a:spLocks noGrp="1"/>
          </p:cNvSpPr>
          <p:nvPr>
            <p:ph type="title"/>
          </p:nvPr>
        </p:nvSpPr>
        <p:spPr/>
        <p:txBody>
          <a:bodyPr>
            <a:normAutofit/>
          </a:bodyPr>
          <a:lstStyle/>
          <a:p>
            <a:r>
              <a:rPr lang="es-PE" sz="2800" dirty="0"/>
              <a:t>Elaboración del marco teórico</a:t>
            </a:r>
          </a:p>
        </p:txBody>
      </p:sp>
      <p:sp>
        <p:nvSpPr>
          <p:cNvPr id="3" name="Marcador de contenido 2">
            <a:extLst>
              <a:ext uri="{FF2B5EF4-FFF2-40B4-BE49-F238E27FC236}">
                <a16:creationId xmlns:a16="http://schemas.microsoft.com/office/drawing/2014/main" id="{E23986EF-C903-0598-DB77-1F3515CCA163}"/>
              </a:ext>
            </a:extLst>
          </p:cNvPr>
          <p:cNvSpPr>
            <a:spLocks noGrp="1"/>
          </p:cNvSpPr>
          <p:nvPr>
            <p:ph idx="1"/>
          </p:nvPr>
        </p:nvSpPr>
        <p:spPr>
          <a:xfrm>
            <a:off x="2355574" y="1690688"/>
            <a:ext cx="8998226" cy="4486275"/>
          </a:xfrm>
        </p:spPr>
        <p:txBody>
          <a:bodyPr anchor="ctr">
            <a:normAutofit fontScale="85000" lnSpcReduction="20000"/>
          </a:bodyPr>
          <a:lstStyle/>
          <a:p>
            <a:pPr marL="0" indent="0" algn="ctr">
              <a:lnSpc>
                <a:spcPct val="150000"/>
              </a:lnSpc>
              <a:buNone/>
            </a:pPr>
            <a:r>
              <a:rPr lang="es-MX" dirty="0"/>
              <a:t>Una vez planteado el problema de investigación, el siguiente paso dentro de la ruta cuantitativa consiste en sustentar teóricamente el estudio, lo que se denomina elaboración del marco teórico. Ello implica analizar y exponer de una manera organizada las teorías, investigaciones previas y los antecedentes en general que se consideren válidos y adecuados para contextualizar y orientar tu estudio. Asimismo, </a:t>
            </a:r>
            <a:r>
              <a:rPr lang="es-MX" dirty="0">
                <a:solidFill>
                  <a:srgbClr val="FF0000"/>
                </a:solidFill>
              </a:rPr>
              <a:t>es importante aclarar que “marco teórico” no es lo mismo que “teoría”; por lo tanto, no todos los estudios que incluyen un marco teórico tienen que fundamentarse en una teoría.</a:t>
            </a:r>
            <a:endParaRPr lang="es-PE" dirty="0">
              <a:solidFill>
                <a:srgbClr val="FF0000"/>
              </a:solidFill>
            </a:endParaRPr>
          </a:p>
        </p:txBody>
      </p:sp>
    </p:spTree>
    <p:extLst>
      <p:ext uri="{BB962C8B-B14F-4D97-AF65-F5344CB8AC3E}">
        <p14:creationId xmlns:p14="http://schemas.microsoft.com/office/powerpoint/2010/main" val="3637419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91F25B8-07C0-C5C0-437F-8C372EFC7983}"/>
              </a:ext>
            </a:extLst>
          </p:cNvPr>
          <p:cNvPicPr>
            <a:picLocks noChangeAspect="1"/>
          </p:cNvPicPr>
          <p:nvPr/>
        </p:nvPicPr>
        <p:blipFill>
          <a:blip r:embed="rId2"/>
          <a:stretch>
            <a:fillRect/>
          </a:stretch>
        </p:blipFill>
        <p:spPr>
          <a:xfrm>
            <a:off x="7192549" y="3525033"/>
            <a:ext cx="4999451" cy="3332967"/>
          </a:xfrm>
          <a:prstGeom prst="rect">
            <a:avLst/>
          </a:prstGeom>
        </p:spPr>
      </p:pic>
      <p:sp>
        <p:nvSpPr>
          <p:cNvPr id="2" name="Título 1">
            <a:extLst>
              <a:ext uri="{FF2B5EF4-FFF2-40B4-BE49-F238E27FC236}">
                <a16:creationId xmlns:a16="http://schemas.microsoft.com/office/drawing/2014/main" id="{B661D95F-2520-9421-49DB-27181624EEA9}"/>
              </a:ext>
            </a:extLst>
          </p:cNvPr>
          <p:cNvSpPr>
            <a:spLocks noGrp="1"/>
          </p:cNvSpPr>
          <p:nvPr>
            <p:ph type="title"/>
          </p:nvPr>
        </p:nvSpPr>
        <p:spPr/>
        <p:txBody>
          <a:bodyPr>
            <a:normAutofit/>
          </a:bodyPr>
          <a:lstStyle/>
          <a:p>
            <a:pPr algn="ctr"/>
            <a:r>
              <a:rPr lang="es-PE" sz="2800" dirty="0"/>
              <a:t>Disponibilidad del marco teórico</a:t>
            </a:r>
          </a:p>
        </p:txBody>
      </p:sp>
      <p:sp>
        <p:nvSpPr>
          <p:cNvPr id="3" name="Marcador de contenido 2">
            <a:extLst>
              <a:ext uri="{FF2B5EF4-FFF2-40B4-BE49-F238E27FC236}">
                <a16:creationId xmlns:a16="http://schemas.microsoft.com/office/drawing/2014/main" id="{8BA61D3E-9D01-7B55-CCA8-EC373ADA7145}"/>
              </a:ext>
            </a:extLst>
          </p:cNvPr>
          <p:cNvSpPr>
            <a:spLocks noGrp="1"/>
          </p:cNvSpPr>
          <p:nvPr>
            <p:ph idx="1"/>
          </p:nvPr>
        </p:nvSpPr>
        <p:spPr>
          <a:xfrm>
            <a:off x="838200" y="1825625"/>
            <a:ext cx="6790151" cy="4351338"/>
          </a:xfrm>
        </p:spPr>
        <p:txBody>
          <a:bodyPr>
            <a:normAutofit/>
          </a:bodyPr>
          <a:lstStyle/>
          <a:p>
            <a:pPr marL="0" indent="0" algn="ctr">
              <a:lnSpc>
                <a:spcPct val="150000"/>
              </a:lnSpc>
              <a:buNone/>
            </a:pPr>
            <a:r>
              <a:rPr lang="es-MX" sz="2000" dirty="0"/>
              <a:t>Siempre es indispensable contar con antecedentes para enmarcar nuestro estudio y tener una visión de dónde se sitúa el planteamiento propuesto dentro del campo de conocimiento en el cual nos “moveremos”.</a:t>
            </a:r>
          </a:p>
          <a:p>
            <a:pPr marL="0" indent="0" algn="ctr">
              <a:lnSpc>
                <a:spcPct val="150000"/>
              </a:lnSpc>
              <a:buNone/>
            </a:pPr>
            <a:r>
              <a:rPr lang="es-MX" sz="2000" dirty="0"/>
              <a:t>El marco teórico señala cómo encaja nuestra investigación en el conjunto de lo que se conoce sobre un fenómeno o problema estudiado (el panorama mayor o </a:t>
            </a:r>
            <a:r>
              <a:rPr lang="es-MX" sz="2000" dirty="0" err="1"/>
              <a:t>big</a:t>
            </a:r>
            <a:r>
              <a:rPr lang="es-MX" sz="2000" dirty="0"/>
              <a:t> </a:t>
            </a:r>
            <a:r>
              <a:rPr lang="es-MX" sz="2000" dirty="0" err="1"/>
              <a:t>picture</a:t>
            </a:r>
            <a:r>
              <a:rPr lang="es-MX" sz="2000" dirty="0"/>
              <a:t>). Además, puede suministrar ideas nuevas y resultar útil para compartir los descubrimientos recientes de otros investigadores.</a:t>
            </a:r>
          </a:p>
        </p:txBody>
      </p:sp>
    </p:spTree>
    <p:extLst>
      <p:ext uri="{BB962C8B-B14F-4D97-AF65-F5344CB8AC3E}">
        <p14:creationId xmlns:p14="http://schemas.microsoft.com/office/powerpoint/2010/main" val="4033734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41F3FF0-00B7-3D91-3A2B-FD3054FD1A8D}"/>
              </a:ext>
            </a:extLst>
          </p:cNvPr>
          <p:cNvPicPr>
            <a:picLocks noChangeAspect="1"/>
          </p:cNvPicPr>
          <p:nvPr/>
        </p:nvPicPr>
        <p:blipFill>
          <a:blip r:embed="rId2"/>
          <a:stretch>
            <a:fillRect/>
          </a:stretch>
        </p:blipFill>
        <p:spPr>
          <a:xfrm>
            <a:off x="9501809" y="4021426"/>
            <a:ext cx="2690191" cy="2812472"/>
          </a:xfrm>
          <a:prstGeom prst="rect">
            <a:avLst/>
          </a:prstGeom>
        </p:spPr>
      </p:pic>
      <p:sp>
        <p:nvSpPr>
          <p:cNvPr id="2" name="Título 1">
            <a:extLst>
              <a:ext uri="{FF2B5EF4-FFF2-40B4-BE49-F238E27FC236}">
                <a16:creationId xmlns:a16="http://schemas.microsoft.com/office/drawing/2014/main" id="{ACC72AD0-B20B-51A0-567F-C2F10749E2DA}"/>
              </a:ext>
            </a:extLst>
          </p:cNvPr>
          <p:cNvSpPr>
            <a:spLocks noGrp="1"/>
          </p:cNvSpPr>
          <p:nvPr>
            <p:ph type="title"/>
          </p:nvPr>
        </p:nvSpPr>
        <p:spPr/>
        <p:txBody>
          <a:bodyPr>
            <a:normAutofit/>
          </a:bodyPr>
          <a:lstStyle/>
          <a:p>
            <a:r>
              <a:rPr lang="es-PE" sz="2800" dirty="0"/>
              <a:t>UTILIDAD DEL MARCO TEORICO</a:t>
            </a:r>
          </a:p>
        </p:txBody>
      </p:sp>
      <p:sp>
        <p:nvSpPr>
          <p:cNvPr id="3" name="Marcador de contenido 2">
            <a:extLst>
              <a:ext uri="{FF2B5EF4-FFF2-40B4-BE49-F238E27FC236}">
                <a16:creationId xmlns:a16="http://schemas.microsoft.com/office/drawing/2014/main" id="{35D0D8D0-2AAC-794B-84E8-A2BFF3B78992}"/>
              </a:ext>
            </a:extLst>
          </p:cNvPr>
          <p:cNvSpPr>
            <a:spLocks noGrp="1"/>
          </p:cNvSpPr>
          <p:nvPr>
            <p:ph idx="1"/>
          </p:nvPr>
        </p:nvSpPr>
        <p:spPr>
          <a:xfrm>
            <a:off x="838200" y="1500809"/>
            <a:ext cx="9608820" cy="5188226"/>
          </a:xfrm>
        </p:spPr>
        <p:txBody>
          <a:bodyPr>
            <a:normAutofit fontScale="70000" lnSpcReduction="20000"/>
          </a:bodyPr>
          <a:lstStyle/>
          <a:p>
            <a:pPr marL="514350" indent="-514350">
              <a:buFont typeface="+mj-lt"/>
              <a:buAutoNum type="arabicPeriod"/>
            </a:pPr>
            <a:r>
              <a:rPr lang="es-MX" dirty="0"/>
              <a:t>Ayudarnos a afinar el planteamiento del problema (todos sus componentes). </a:t>
            </a:r>
          </a:p>
          <a:p>
            <a:pPr marL="514350" indent="-514350">
              <a:buFont typeface="+mj-lt"/>
              <a:buAutoNum type="arabicPeriod"/>
            </a:pPr>
            <a:r>
              <a:rPr lang="es-MX" dirty="0"/>
              <a:t>Guiarnos e iluminarnos sobre cuál es la forma más adecuada y pertinente de realizar nuestra investigación. </a:t>
            </a:r>
          </a:p>
          <a:p>
            <a:pPr marL="514350" indent="-514350">
              <a:buFont typeface="+mj-lt"/>
              <a:buAutoNum type="arabicPeriod"/>
            </a:pPr>
            <a:r>
              <a:rPr lang="es-MX" dirty="0"/>
              <a:t>Orientarnos sobre lo que queremos y lo que no queremos para nuestra investigación. </a:t>
            </a:r>
          </a:p>
          <a:p>
            <a:pPr marL="514350" indent="-514350">
              <a:buFont typeface="+mj-lt"/>
              <a:buAutoNum type="arabicPeriod"/>
            </a:pPr>
            <a:r>
              <a:rPr lang="es-MX" dirty="0"/>
              <a:t>Evitarnos errores que se han cometido en estudios previos (función preventiva). </a:t>
            </a:r>
          </a:p>
          <a:p>
            <a:pPr marL="514350" indent="-514350">
              <a:buFont typeface="+mj-lt"/>
              <a:buAutoNum type="arabicPeriod"/>
            </a:pPr>
            <a:r>
              <a:rPr lang="es-MX" dirty="0"/>
              <a:t>Ampliar el horizonte del estudio. </a:t>
            </a:r>
          </a:p>
          <a:p>
            <a:pPr marL="514350" indent="-514350">
              <a:buFont typeface="+mj-lt"/>
              <a:buAutoNum type="arabicPeriod"/>
            </a:pPr>
            <a:r>
              <a:rPr lang="es-MX" dirty="0"/>
              <a:t>Encaminarnos para que nos centremos en el planteamiento problema y evitar desviaciones de este. </a:t>
            </a:r>
          </a:p>
          <a:p>
            <a:pPr marL="514350" indent="-514350">
              <a:buFont typeface="+mj-lt"/>
              <a:buAutoNum type="arabicPeriod"/>
            </a:pPr>
            <a:r>
              <a:rPr lang="es-MX" dirty="0"/>
              <a:t>Documentar la necesidad de implementar el estudio (justificación). </a:t>
            </a:r>
          </a:p>
          <a:p>
            <a:pPr marL="514350" indent="-514350">
              <a:buFont typeface="+mj-lt"/>
              <a:buAutoNum type="arabicPeriod"/>
            </a:pPr>
            <a:r>
              <a:rPr lang="es-MX" dirty="0"/>
              <a:t>Conducirnos al establecimiento de hipótesis o afirmaciones que habrán de someterse a prueba en la realidad, o ayudarnos a no establecerlas por razones bien fundamentadas.</a:t>
            </a:r>
          </a:p>
          <a:p>
            <a:pPr marL="514350" indent="-514350">
              <a:buFont typeface="+mj-lt"/>
              <a:buAutoNum type="arabicPeriod"/>
            </a:pPr>
            <a:r>
              <a:rPr lang="es-MX" dirty="0"/>
              <a:t>Inspirar nuevas líneas y áreas de investigación.</a:t>
            </a:r>
          </a:p>
          <a:p>
            <a:pPr marL="514350" indent="-514350">
              <a:buFont typeface="+mj-lt"/>
              <a:buAutoNum type="arabicPeriod"/>
            </a:pPr>
            <a:r>
              <a:rPr lang="es-MX" dirty="0"/>
              <a:t>Proveernos de un marco de referencia para interpretar los resultados del estudio. Aunque podemos no estar de acuerdo con dicho marco o no utilizarlo para explicar nuestros resultados, es un punto de referencia</a:t>
            </a:r>
            <a:endParaRPr lang="es-PE" dirty="0"/>
          </a:p>
        </p:txBody>
      </p:sp>
    </p:spTree>
    <p:extLst>
      <p:ext uri="{BB962C8B-B14F-4D97-AF65-F5344CB8AC3E}">
        <p14:creationId xmlns:p14="http://schemas.microsoft.com/office/powerpoint/2010/main" val="1660450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8C7A2D2-D3A2-A9AA-0745-B2016CC262D6}"/>
              </a:ext>
            </a:extLst>
          </p:cNvPr>
          <p:cNvPicPr>
            <a:picLocks noChangeAspect="1"/>
          </p:cNvPicPr>
          <p:nvPr/>
        </p:nvPicPr>
        <p:blipFill>
          <a:blip r:embed="rId2"/>
          <a:stretch>
            <a:fillRect/>
          </a:stretch>
        </p:blipFill>
        <p:spPr>
          <a:xfrm>
            <a:off x="8625839" y="4301348"/>
            <a:ext cx="3533801" cy="2556652"/>
          </a:xfrm>
          <a:prstGeom prst="rect">
            <a:avLst/>
          </a:prstGeom>
        </p:spPr>
      </p:pic>
      <p:sp>
        <p:nvSpPr>
          <p:cNvPr id="2" name="Título 1">
            <a:extLst>
              <a:ext uri="{FF2B5EF4-FFF2-40B4-BE49-F238E27FC236}">
                <a16:creationId xmlns:a16="http://schemas.microsoft.com/office/drawing/2014/main" id="{328DE8D8-EC80-EECB-FAB3-E0C929B2A0CC}"/>
              </a:ext>
            </a:extLst>
          </p:cNvPr>
          <p:cNvSpPr>
            <a:spLocks noGrp="1"/>
          </p:cNvSpPr>
          <p:nvPr>
            <p:ph type="title"/>
          </p:nvPr>
        </p:nvSpPr>
        <p:spPr/>
        <p:txBody>
          <a:bodyPr>
            <a:normAutofit/>
          </a:bodyPr>
          <a:lstStyle/>
          <a:p>
            <a:r>
              <a:rPr lang="es-PE" sz="2800" dirty="0"/>
              <a:t>FASES QUE COMPRENDE LA ELABORACIÓN DEL MARCO TEORICO</a:t>
            </a:r>
          </a:p>
        </p:txBody>
      </p:sp>
      <p:sp>
        <p:nvSpPr>
          <p:cNvPr id="3" name="Marcador de contenido 2">
            <a:extLst>
              <a:ext uri="{FF2B5EF4-FFF2-40B4-BE49-F238E27FC236}">
                <a16:creationId xmlns:a16="http://schemas.microsoft.com/office/drawing/2014/main" id="{9A6449CD-756F-7442-2E7B-F7E9AD2E8B05}"/>
              </a:ext>
            </a:extLst>
          </p:cNvPr>
          <p:cNvSpPr>
            <a:spLocks noGrp="1"/>
          </p:cNvSpPr>
          <p:nvPr>
            <p:ph idx="1"/>
          </p:nvPr>
        </p:nvSpPr>
        <p:spPr>
          <a:xfrm>
            <a:off x="739140" y="1934487"/>
            <a:ext cx="8778240" cy="3818614"/>
          </a:xfrm>
        </p:spPr>
        <p:txBody>
          <a:bodyPr anchor="ctr">
            <a:normAutofit/>
          </a:bodyPr>
          <a:lstStyle/>
          <a:p>
            <a:pPr marL="514350" indent="-514350">
              <a:buFont typeface="+mj-lt"/>
              <a:buAutoNum type="arabicPeriod"/>
            </a:pPr>
            <a:r>
              <a:rPr lang="es-PE" sz="2000" dirty="0"/>
              <a:t>Detección y obtención de la literatura pertinente de acuerdo al planteamiento del problema de investigación (fuentes bibliográficas).</a:t>
            </a:r>
          </a:p>
          <a:p>
            <a:pPr marL="514350" indent="-514350">
              <a:buFont typeface="+mj-lt"/>
              <a:buAutoNum type="arabicPeriod"/>
            </a:pPr>
            <a:r>
              <a:rPr lang="es-PE" sz="2000" dirty="0"/>
              <a:t>Revisión analítica y selectiva de la literatura.</a:t>
            </a:r>
          </a:p>
          <a:p>
            <a:pPr marL="514350" indent="-514350">
              <a:buFont typeface="+mj-lt"/>
              <a:buAutoNum type="arabicPeriod"/>
            </a:pPr>
            <a:r>
              <a:rPr lang="es-PE" sz="2000" dirty="0"/>
              <a:t>Evaluación del panorama que nos revele la revisión de la literatura.</a:t>
            </a:r>
          </a:p>
          <a:p>
            <a:pPr marL="514350" indent="-514350">
              <a:buFont typeface="+mj-lt"/>
              <a:buAutoNum type="arabicPeriod"/>
            </a:pPr>
            <a:r>
              <a:rPr lang="es-PE" sz="2000" dirty="0"/>
              <a:t>Organización y estructuración de la literatura.</a:t>
            </a:r>
          </a:p>
          <a:p>
            <a:pPr marL="514350" indent="-514350">
              <a:buFont typeface="+mj-lt"/>
              <a:buAutoNum type="arabicPeriod"/>
            </a:pPr>
            <a:r>
              <a:rPr lang="es-PE" sz="2000" dirty="0"/>
              <a:t>Elección del tipo de estructura deseada y elaboración de un índice del marco teórico.</a:t>
            </a:r>
          </a:p>
          <a:p>
            <a:pPr marL="514350" indent="-514350">
              <a:buFont typeface="+mj-lt"/>
              <a:buAutoNum type="arabicPeriod"/>
            </a:pPr>
            <a:r>
              <a:rPr lang="es-PE" sz="2000" dirty="0"/>
              <a:t>Redacción del marco teórico.</a:t>
            </a:r>
          </a:p>
          <a:p>
            <a:pPr marL="514350" indent="-514350">
              <a:buFont typeface="+mj-lt"/>
              <a:buAutoNum type="arabicPeriod"/>
            </a:pPr>
            <a:r>
              <a:rPr lang="es-PE" sz="2000" dirty="0"/>
              <a:t>Revisión del marco teórico.</a:t>
            </a:r>
          </a:p>
        </p:txBody>
      </p:sp>
    </p:spTree>
    <p:extLst>
      <p:ext uri="{BB962C8B-B14F-4D97-AF65-F5344CB8AC3E}">
        <p14:creationId xmlns:p14="http://schemas.microsoft.com/office/powerpoint/2010/main" val="3196811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567E8A-F9D2-39DE-8EDD-FE4A5B7835F8}"/>
              </a:ext>
            </a:extLst>
          </p:cNvPr>
          <p:cNvSpPr>
            <a:spLocks noGrp="1"/>
          </p:cNvSpPr>
          <p:nvPr>
            <p:ph type="title"/>
          </p:nvPr>
        </p:nvSpPr>
        <p:spPr/>
        <p:txBody>
          <a:bodyPr>
            <a:normAutofit/>
          </a:bodyPr>
          <a:lstStyle/>
          <a:p>
            <a:pPr algn="ctr"/>
            <a:r>
              <a:rPr lang="es-PE" sz="2800" dirty="0"/>
              <a:t>TAREA 5: MARCO TEORICO DE LA INVESTIGACION</a:t>
            </a:r>
            <a:br>
              <a:rPr lang="es-PE" sz="2800" dirty="0"/>
            </a:br>
            <a:r>
              <a:rPr lang="es-PE" sz="1600" dirty="0"/>
              <a:t>(29 de enero, 2026)</a:t>
            </a:r>
          </a:p>
        </p:txBody>
      </p:sp>
      <p:sp>
        <p:nvSpPr>
          <p:cNvPr id="3" name="Marcador de contenido 2">
            <a:extLst>
              <a:ext uri="{FF2B5EF4-FFF2-40B4-BE49-F238E27FC236}">
                <a16:creationId xmlns:a16="http://schemas.microsoft.com/office/drawing/2014/main" id="{24D0A325-9017-D585-2FD8-8F2C44A474A8}"/>
              </a:ext>
            </a:extLst>
          </p:cNvPr>
          <p:cNvSpPr>
            <a:spLocks noGrp="1"/>
          </p:cNvSpPr>
          <p:nvPr>
            <p:ph idx="1"/>
          </p:nvPr>
        </p:nvSpPr>
        <p:spPr/>
        <p:txBody>
          <a:bodyPr anchor="ctr">
            <a:normAutofit fontScale="70000" lnSpcReduction="20000"/>
          </a:bodyPr>
          <a:lstStyle/>
          <a:p>
            <a:pPr lvl="1"/>
            <a:r>
              <a:rPr lang="es-PE" dirty="0">
                <a:solidFill>
                  <a:srgbClr val="FF0000"/>
                </a:solidFill>
              </a:rPr>
              <a:t>I. PLANTEAMIENTO DEL PROBLEMA</a:t>
            </a:r>
          </a:p>
          <a:p>
            <a:pPr lvl="2"/>
            <a:r>
              <a:rPr lang="es-PE" dirty="0">
                <a:solidFill>
                  <a:srgbClr val="FF0000"/>
                </a:solidFill>
              </a:rPr>
              <a:t>1.1 Análisis del contexto</a:t>
            </a:r>
          </a:p>
          <a:p>
            <a:pPr lvl="2"/>
            <a:r>
              <a:rPr lang="es-PE" dirty="0">
                <a:solidFill>
                  <a:srgbClr val="FF0000"/>
                </a:solidFill>
              </a:rPr>
              <a:t>1.2 Formulación del problema</a:t>
            </a:r>
          </a:p>
          <a:p>
            <a:pPr lvl="3"/>
            <a:r>
              <a:rPr lang="es-PE" dirty="0">
                <a:solidFill>
                  <a:srgbClr val="FF0000"/>
                </a:solidFill>
              </a:rPr>
              <a:t>1.2.1 Problema principal</a:t>
            </a:r>
          </a:p>
          <a:p>
            <a:pPr lvl="3"/>
            <a:r>
              <a:rPr lang="es-PE" dirty="0">
                <a:solidFill>
                  <a:srgbClr val="FF0000"/>
                </a:solidFill>
              </a:rPr>
              <a:t>1.2.2.Problemas específicos</a:t>
            </a:r>
          </a:p>
          <a:p>
            <a:pPr lvl="2"/>
            <a:r>
              <a:rPr lang="es-PE" dirty="0">
                <a:solidFill>
                  <a:srgbClr val="FF0000"/>
                </a:solidFill>
              </a:rPr>
              <a:t>1.3 Justificación de la investigación</a:t>
            </a:r>
          </a:p>
          <a:p>
            <a:pPr lvl="3"/>
            <a:r>
              <a:rPr lang="es-PE" dirty="0">
                <a:solidFill>
                  <a:srgbClr val="FF0000"/>
                </a:solidFill>
              </a:rPr>
              <a:t>1.3.1 Justificación Teórica</a:t>
            </a:r>
          </a:p>
          <a:p>
            <a:pPr lvl="3"/>
            <a:r>
              <a:rPr lang="es-PE" dirty="0">
                <a:solidFill>
                  <a:srgbClr val="FF0000"/>
                </a:solidFill>
              </a:rPr>
              <a:t>1.3.2 Justificación práctica</a:t>
            </a:r>
          </a:p>
          <a:p>
            <a:pPr lvl="3"/>
            <a:r>
              <a:rPr lang="es-PE" dirty="0">
                <a:solidFill>
                  <a:srgbClr val="FF0000"/>
                </a:solidFill>
              </a:rPr>
              <a:t>1.3.3 Justificación metodológica</a:t>
            </a:r>
          </a:p>
          <a:p>
            <a:pPr lvl="2"/>
            <a:r>
              <a:rPr lang="es-PE" dirty="0">
                <a:solidFill>
                  <a:srgbClr val="FF0000"/>
                </a:solidFill>
              </a:rPr>
              <a:t>1.4 Objetivos de la investigación</a:t>
            </a:r>
          </a:p>
          <a:p>
            <a:pPr lvl="3"/>
            <a:r>
              <a:rPr lang="es-PE" dirty="0">
                <a:solidFill>
                  <a:srgbClr val="FF0000"/>
                </a:solidFill>
              </a:rPr>
              <a:t>1.4.1 Objetivo principal</a:t>
            </a:r>
          </a:p>
          <a:p>
            <a:pPr lvl="3"/>
            <a:r>
              <a:rPr lang="es-PE" dirty="0">
                <a:solidFill>
                  <a:srgbClr val="FF0000"/>
                </a:solidFill>
              </a:rPr>
              <a:t>1.4.2 Objetivos específicos</a:t>
            </a:r>
          </a:p>
          <a:p>
            <a:pPr lvl="1"/>
            <a:r>
              <a:rPr lang="es-PE" dirty="0"/>
              <a:t>II. MARCO TEORICO</a:t>
            </a:r>
          </a:p>
          <a:p>
            <a:pPr lvl="1"/>
            <a:r>
              <a:rPr lang="es-PE" dirty="0"/>
              <a:t>III, HIPOTESIS DE LA INVESTIGACIÓN</a:t>
            </a:r>
          </a:p>
          <a:p>
            <a:pPr lvl="1"/>
            <a:r>
              <a:rPr lang="es-PE" dirty="0"/>
              <a:t>IV. METODOLOGÍA DE LA INVESTIGACION</a:t>
            </a:r>
          </a:p>
          <a:p>
            <a:pPr lvl="1"/>
            <a:r>
              <a:rPr lang="es-PE" dirty="0"/>
              <a:t>V. PRESUPUESTO</a:t>
            </a:r>
          </a:p>
          <a:p>
            <a:pPr lvl="1"/>
            <a:r>
              <a:rPr lang="es-PE" dirty="0"/>
              <a:t>VI. CRONOGRAMA DE INVESTIGACIÓN</a:t>
            </a:r>
          </a:p>
          <a:p>
            <a:pPr lvl="1"/>
            <a:r>
              <a:rPr lang="es-PE" dirty="0">
                <a:solidFill>
                  <a:srgbClr val="FF0000"/>
                </a:solidFill>
              </a:rPr>
              <a:t>VII. REFERENCIAS BIBLIOGRÁFICAS</a:t>
            </a:r>
          </a:p>
          <a:p>
            <a:pPr lvl="1"/>
            <a:r>
              <a:rPr lang="es-PE" dirty="0"/>
              <a:t>ANEXOS</a:t>
            </a:r>
          </a:p>
        </p:txBody>
      </p:sp>
      <p:sp>
        <p:nvSpPr>
          <p:cNvPr id="5" name="CuadroTexto 4">
            <a:extLst>
              <a:ext uri="{FF2B5EF4-FFF2-40B4-BE49-F238E27FC236}">
                <a16:creationId xmlns:a16="http://schemas.microsoft.com/office/drawing/2014/main" id="{01AF27D9-2132-DB48-7880-FFE1CF50C838}"/>
              </a:ext>
            </a:extLst>
          </p:cNvPr>
          <p:cNvSpPr txBox="1"/>
          <p:nvPr/>
        </p:nvSpPr>
        <p:spPr>
          <a:xfrm>
            <a:off x="695069" y="6354375"/>
            <a:ext cx="6094562" cy="461665"/>
          </a:xfrm>
          <a:prstGeom prst="rect">
            <a:avLst/>
          </a:prstGeom>
          <a:noFill/>
        </p:spPr>
        <p:txBody>
          <a:bodyPr wrap="square">
            <a:spAutoFit/>
          </a:bodyPr>
          <a:lstStyle/>
          <a:p>
            <a:r>
              <a:rPr lang="es-PE" sz="1200" dirty="0">
                <a:hlinkClick r:id="rId2"/>
              </a:rPr>
              <a:t>https://upg.administracion.unmsm.edu.pe/images/tesis/DIRECTIVA-080-TESIS.pdf</a:t>
            </a:r>
            <a:endParaRPr lang="es-PE" sz="1200" dirty="0"/>
          </a:p>
          <a:p>
            <a:endParaRPr lang="es-PE" sz="1200" dirty="0"/>
          </a:p>
        </p:txBody>
      </p:sp>
    </p:spTree>
    <p:extLst>
      <p:ext uri="{BB962C8B-B14F-4D97-AF65-F5344CB8AC3E}">
        <p14:creationId xmlns:p14="http://schemas.microsoft.com/office/powerpoint/2010/main" val="4250266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567E8A-F9D2-39DE-8EDD-FE4A5B7835F8}"/>
              </a:ext>
            </a:extLst>
          </p:cNvPr>
          <p:cNvSpPr>
            <a:spLocks noGrp="1"/>
          </p:cNvSpPr>
          <p:nvPr>
            <p:ph type="title"/>
          </p:nvPr>
        </p:nvSpPr>
        <p:spPr>
          <a:xfrm>
            <a:off x="838200" y="365125"/>
            <a:ext cx="5181600" cy="1325563"/>
          </a:xfrm>
        </p:spPr>
        <p:txBody>
          <a:bodyPr>
            <a:normAutofit/>
          </a:bodyPr>
          <a:lstStyle/>
          <a:p>
            <a:pPr algn="ctr"/>
            <a:r>
              <a:rPr lang="es-PE" sz="2800" dirty="0"/>
              <a:t>AVANCES DEL PLAN</a:t>
            </a:r>
            <a:endParaRPr lang="es-PE" sz="1600" dirty="0"/>
          </a:p>
        </p:txBody>
      </p:sp>
      <p:sp>
        <p:nvSpPr>
          <p:cNvPr id="3" name="Marcador de contenido 2">
            <a:extLst>
              <a:ext uri="{FF2B5EF4-FFF2-40B4-BE49-F238E27FC236}">
                <a16:creationId xmlns:a16="http://schemas.microsoft.com/office/drawing/2014/main" id="{24D0A325-9017-D585-2FD8-8F2C44A474A8}"/>
              </a:ext>
            </a:extLst>
          </p:cNvPr>
          <p:cNvSpPr>
            <a:spLocks noGrp="1"/>
          </p:cNvSpPr>
          <p:nvPr>
            <p:ph sz="half" idx="1"/>
          </p:nvPr>
        </p:nvSpPr>
        <p:spPr>
          <a:xfrm>
            <a:off x="838200" y="1441175"/>
            <a:ext cx="5181600" cy="4735788"/>
          </a:xfrm>
        </p:spPr>
        <p:txBody>
          <a:bodyPr anchor="ctr">
            <a:normAutofit fontScale="92500" lnSpcReduction="20000"/>
          </a:bodyPr>
          <a:lstStyle/>
          <a:p>
            <a:pPr lvl="1"/>
            <a:r>
              <a:rPr lang="es-PE" dirty="0">
                <a:solidFill>
                  <a:srgbClr val="FF0000"/>
                </a:solidFill>
              </a:rPr>
              <a:t>I. PLANTEAMIENTO DEL PROBLEMA</a:t>
            </a:r>
          </a:p>
          <a:p>
            <a:pPr lvl="2"/>
            <a:r>
              <a:rPr lang="es-PE" dirty="0">
                <a:solidFill>
                  <a:srgbClr val="FF0000"/>
                </a:solidFill>
              </a:rPr>
              <a:t>1.1 Análisis del contexto</a:t>
            </a:r>
          </a:p>
          <a:p>
            <a:pPr lvl="2"/>
            <a:r>
              <a:rPr lang="es-PE" dirty="0">
                <a:solidFill>
                  <a:srgbClr val="FF0000"/>
                </a:solidFill>
              </a:rPr>
              <a:t>1.2 Formulación del problema</a:t>
            </a:r>
          </a:p>
          <a:p>
            <a:pPr lvl="3"/>
            <a:r>
              <a:rPr lang="es-PE" dirty="0">
                <a:solidFill>
                  <a:srgbClr val="FF0000"/>
                </a:solidFill>
              </a:rPr>
              <a:t>1.2.1 Problema principal</a:t>
            </a:r>
          </a:p>
          <a:p>
            <a:pPr lvl="3"/>
            <a:r>
              <a:rPr lang="es-PE" dirty="0">
                <a:solidFill>
                  <a:srgbClr val="FF0000"/>
                </a:solidFill>
              </a:rPr>
              <a:t>1.2.2.Problemas específicos</a:t>
            </a:r>
          </a:p>
          <a:p>
            <a:pPr lvl="2"/>
            <a:r>
              <a:rPr lang="es-PE" dirty="0">
                <a:solidFill>
                  <a:srgbClr val="FF0000"/>
                </a:solidFill>
              </a:rPr>
              <a:t>1.3 Justificación de la investigación</a:t>
            </a:r>
          </a:p>
          <a:p>
            <a:pPr lvl="3"/>
            <a:r>
              <a:rPr lang="es-PE" dirty="0">
                <a:solidFill>
                  <a:srgbClr val="FF0000"/>
                </a:solidFill>
              </a:rPr>
              <a:t>1.3.1 Justificación Teórica</a:t>
            </a:r>
          </a:p>
          <a:p>
            <a:pPr lvl="3"/>
            <a:r>
              <a:rPr lang="es-PE" dirty="0">
                <a:solidFill>
                  <a:srgbClr val="FF0000"/>
                </a:solidFill>
              </a:rPr>
              <a:t>1.3.2 Justificación práctica</a:t>
            </a:r>
          </a:p>
          <a:p>
            <a:pPr lvl="3"/>
            <a:r>
              <a:rPr lang="es-PE" dirty="0">
                <a:solidFill>
                  <a:srgbClr val="FF0000"/>
                </a:solidFill>
              </a:rPr>
              <a:t>1.3.3 Justificación metodológica</a:t>
            </a:r>
          </a:p>
          <a:p>
            <a:pPr lvl="2"/>
            <a:r>
              <a:rPr lang="es-PE" dirty="0">
                <a:solidFill>
                  <a:srgbClr val="FF0000"/>
                </a:solidFill>
              </a:rPr>
              <a:t>1.4 Objetivos de la investigación</a:t>
            </a:r>
          </a:p>
          <a:p>
            <a:pPr lvl="3"/>
            <a:r>
              <a:rPr lang="es-PE" dirty="0">
                <a:solidFill>
                  <a:srgbClr val="FF0000"/>
                </a:solidFill>
              </a:rPr>
              <a:t>1.4.1 Objetivo principal</a:t>
            </a:r>
          </a:p>
          <a:p>
            <a:pPr lvl="3"/>
            <a:r>
              <a:rPr lang="es-PE" dirty="0">
                <a:solidFill>
                  <a:srgbClr val="FF0000"/>
                </a:solidFill>
              </a:rPr>
              <a:t>1.4.2 Objetivos específicos</a:t>
            </a:r>
          </a:p>
          <a:p>
            <a:pPr lvl="1"/>
            <a:r>
              <a:rPr lang="es-PE" dirty="0"/>
              <a:t>II. MARCO TEORICO</a:t>
            </a:r>
          </a:p>
          <a:p>
            <a:pPr lvl="2"/>
            <a:r>
              <a:rPr lang="es-PE" dirty="0"/>
              <a:t>2.1 Antecedentes del problema</a:t>
            </a:r>
          </a:p>
          <a:p>
            <a:pPr lvl="2"/>
            <a:r>
              <a:rPr lang="es-PE" dirty="0"/>
              <a:t>2.2 Bases teóricas</a:t>
            </a:r>
          </a:p>
          <a:p>
            <a:pPr lvl="2"/>
            <a:r>
              <a:rPr lang="es-PE" dirty="0"/>
              <a:t>2.3 Marco conceptual</a:t>
            </a:r>
          </a:p>
        </p:txBody>
      </p:sp>
      <p:sp>
        <p:nvSpPr>
          <p:cNvPr id="6" name="Marcador de contenido 5">
            <a:extLst>
              <a:ext uri="{FF2B5EF4-FFF2-40B4-BE49-F238E27FC236}">
                <a16:creationId xmlns:a16="http://schemas.microsoft.com/office/drawing/2014/main" id="{483E2CCB-D319-0B60-2477-D873C9D516E5}"/>
              </a:ext>
            </a:extLst>
          </p:cNvPr>
          <p:cNvSpPr>
            <a:spLocks noGrp="1"/>
          </p:cNvSpPr>
          <p:nvPr>
            <p:ph sz="half" idx="2"/>
          </p:nvPr>
        </p:nvSpPr>
        <p:spPr>
          <a:xfrm>
            <a:off x="6636026" y="1441175"/>
            <a:ext cx="5181600" cy="3902350"/>
          </a:xfrm>
        </p:spPr>
        <p:txBody>
          <a:bodyPr anchor="ctr">
            <a:normAutofit fontScale="92500" lnSpcReduction="20000"/>
          </a:bodyPr>
          <a:lstStyle/>
          <a:p>
            <a:pPr lvl="1"/>
            <a:r>
              <a:rPr lang="es-PE"/>
              <a:t>III. </a:t>
            </a:r>
            <a:r>
              <a:rPr lang="es-PE" dirty="0"/>
              <a:t>HIPOTESIS y VARIABLES DE LA INVESTIGACIÓN</a:t>
            </a:r>
          </a:p>
          <a:p>
            <a:pPr lvl="2"/>
            <a:r>
              <a:rPr lang="es-PE" dirty="0"/>
              <a:t>3.1 Hipótesis principal</a:t>
            </a:r>
          </a:p>
          <a:p>
            <a:pPr lvl="2"/>
            <a:r>
              <a:rPr lang="es-PE" dirty="0"/>
              <a:t>3.2 Hipótesis específicas</a:t>
            </a:r>
          </a:p>
          <a:p>
            <a:pPr lvl="2"/>
            <a:r>
              <a:rPr lang="es-PE" dirty="0"/>
              <a:t>3.3 Identificación de variables</a:t>
            </a:r>
          </a:p>
          <a:p>
            <a:pPr lvl="2"/>
            <a:r>
              <a:rPr lang="es-PE" dirty="0"/>
              <a:t>3.4 Operacionalización de variables</a:t>
            </a:r>
          </a:p>
          <a:p>
            <a:pPr lvl="2"/>
            <a:r>
              <a:rPr lang="es-PE" dirty="0"/>
              <a:t>3.5 Matriz de consistencia</a:t>
            </a:r>
          </a:p>
          <a:p>
            <a:pPr lvl="1"/>
            <a:r>
              <a:rPr lang="es-PE" dirty="0"/>
              <a:t>IV. METODOLOGÍA DE LA INVESTIGACION</a:t>
            </a:r>
          </a:p>
          <a:p>
            <a:pPr lvl="1"/>
            <a:r>
              <a:rPr lang="es-PE" dirty="0"/>
              <a:t>V. PRESUPUESTO</a:t>
            </a:r>
          </a:p>
          <a:p>
            <a:pPr lvl="1"/>
            <a:r>
              <a:rPr lang="es-PE" dirty="0"/>
              <a:t>VI. CRONOGRAMA DE INVESTIGACIÓN</a:t>
            </a:r>
          </a:p>
          <a:p>
            <a:pPr lvl="1"/>
            <a:r>
              <a:rPr lang="es-PE" dirty="0">
                <a:solidFill>
                  <a:srgbClr val="FF0000"/>
                </a:solidFill>
              </a:rPr>
              <a:t>VII. REFERENCIAS BIBLIOGRÁFICAS</a:t>
            </a:r>
          </a:p>
          <a:p>
            <a:pPr lvl="1"/>
            <a:r>
              <a:rPr lang="es-PE" dirty="0"/>
              <a:t>ANEXOS</a:t>
            </a:r>
          </a:p>
        </p:txBody>
      </p:sp>
      <p:sp>
        <p:nvSpPr>
          <p:cNvPr id="5" name="CuadroTexto 4">
            <a:extLst>
              <a:ext uri="{FF2B5EF4-FFF2-40B4-BE49-F238E27FC236}">
                <a16:creationId xmlns:a16="http://schemas.microsoft.com/office/drawing/2014/main" id="{01AF27D9-2132-DB48-7880-FFE1CF50C838}"/>
              </a:ext>
            </a:extLst>
          </p:cNvPr>
          <p:cNvSpPr txBox="1"/>
          <p:nvPr/>
        </p:nvSpPr>
        <p:spPr>
          <a:xfrm>
            <a:off x="695069" y="6354375"/>
            <a:ext cx="6094562" cy="461665"/>
          </a:xfrm>
          <a:prstGeom prst="rect">
            <a:avLst/>
          </a:prstGeom>
          <a:noFill/>
        </p:spPr>
        <p:txBody>
          <a:bodyPr wrap="square">
            <a:spAutoFit/>
          </a:bodyPr>
          <a:lstStyle/>
          <a:p>
            <a:r>
              <a:rPr lang="es-PE" sz="1200" dirty="0">
                <a:hlinkClick r:id="rId2"/>
              </a:rPr>
              <a:t>https://upg.administracion.unmsm.edu.pe/images/tesis/DIRECTIVA-080-TESIS.pdf</a:t>
            </a:r>
            <a:endParaRPr lang="es-PE" sz="1200" dirty="0"/>
          </a:p>
          <a:p>
            <a:endParaRPr lang="es-PE" sz="1200" dirty="0"/>
          </a:p>
        </p:txBody>
      </p:sp>
      <p:pic>
        <p:nvPicPr>
          <p:cNvPr id="4" name="Imagen 3">
            <a:extLst>
              <a:ext uri="{FF2B5EF4-FFF2-40B4-BE49-F238E27FC236}">
                <a16:creationId xmlns:a16="http://schemas.microsoft.com/office/drawing/2014/main" id="{53688F0D-22AA-27B2-0DD2-DFF4C36244C6}"/>
              </a:ext>
            </a:extLst>
          </p:cNvPr>
          <p:cNvPicPr>
            <a:picLocks noChangeAspect="1"/>
          </p:cNvPicPr>
          <p:nvPr/>
        </p:nvPicPr>
        <p:blipFill>
          <a:blip r:embed="rId3"/>
          <a:stretch>
            <a:fillRect/>
          </a:stretch>
        </p:blipFill>
        <p:spPr>
          <a:xfrm>
            <a:off x="8467981" y="5343525"/>
            <a:ext cx="3028950" cy="1514475"/>
          </a:xfrm>
          <a:prstGeom prst="rect">
            <a:avLst/>
          </a:prstGeom>
        </p:spPr>
      </p:pic>
    </p:spTree>
    <p:extLst>
      <p:ext uri="{BB962C8B-B14F-4D97-AF65-F5344CB8AC3E}">
        <p14:creationId xmlns:p14="http://schemas.microsoft.com/office/powerpoint/2010/main" val="12245528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4443</TotalTime>
  <Words>1002</Words>
  <Application>Microsoft Office PowerPoint</Application>
  <PresentationFormat>Panorámica</PresentationFormat>
  <Paragraphs>123</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Calibri Light</vt:lpstr>
      <vt:lpstr>Tema de Office</vt:lpstr>
      <vt:lpstr>TEMA 5:  EL MARCO TEORICO</vt:lpstr>
      <vt:lpstr>ALGUNOS COMENTARIOS UTILES PARA EL PLAN DE INVESTIGACIÓN  (Y LA MISMA INVESTIGACION)</vt:lpstr>
      <vt:lpstr>TEMA DE INVESTIGACION:  IDENTIFICACIÓN DE LAS ACTIVIDADES DE LAS EMPRESAS PARA OBTENER PROVECHO DE LA PANDEMIA COVID 19 EN LOS AÑOS 2022 - 2026</vt:lpstr>
      <vt:lpstr>AVANCES DEL PLAN</vt:lpstr>
      <vt:lpstr>El marco teórico</vt:lpstr>
      <vt:lpstr>2 Marco teórico</vt:lpstr>
      <vt:lpstr>Elaboración del marco teórico</vt:lpstr>
      <vt:lpstr>Disponibilidad del marco teórico</vt:lpstr>
      <vt:lpstr>UTILIDAD DEL MARCO TEORICO</vt:lpstr>
      <vt:lpstr>FASES QUE COMPRENDE LA ELABORACIÓN DEL MARCO TEORICO</vt:lpstr>
      <vt:lpstr>TAREA 5: MARCO TEORICO DE LA INVESTIGACION (29 de enero, 2026)</vt:lpstr>
      <vt:lpstr>AVANCES DEL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METODOLOGIA DE LA INVESTIGACION ECONÓMICA</dc:title>
  <dc:creator>pedro barrientos</dc:creator>
  <cp:lastModifiedBy>UlisexxX</cp:lastModifiedBy>
  <cp:revision>32</cp:revision>
  <dcterms:created xsi:type="dcterms:W3CDTF">2022-09-14T15:10:21Z</dcterms:created>
  <dcterms:modified xsi:type="dcterms:W3CDTF">2026-01-21T15:20:51Z</dcterms:modified>
</cp:coreProperties>
</file>