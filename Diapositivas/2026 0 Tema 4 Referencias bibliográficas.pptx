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omments/comment1.xml" ContentType="application/vnd.openxmlformats-officedocument.presentationml.comments+xml"/>
  <Override PartName="/ppt/comments/comment2.xml" ContentType="application/vnd.openxmlformats-officedocument.presentationml.comment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733" r:id="rId2"/>
    <p:sldId id="757" r:id="rId3"/>
    <p:sldId id="758" r:id="rId4"/>
    <p:sldId id="749" r:id="rId5"/>
    <p:sldId id="752" r:id="rId6"/>
    <p:sldId id="750" r:id="rId7"/>
    <p:sldId id="751" r:id="rId8"/>
    <p:sldId id="756" r:id="rId9"/>
    <p:sldId id="753" r:id="rId10"/>
    <p:sldId id="755" r:id="rId11"/>
    <p:sldId id="754" r:id="rId12"/>
    <p:sldId id="748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UlisexxX" initials="U" lastIdx="5" clrIdx="0">
    <p:extLst>
      <p:ext uri="{19B8F6BF-5375-455C-9EA6-DF929625EA0E}">
        <p15:presenceInfo xmlns:p15="http://schemas.microsoft.com/office/powerpoint/2012/main" userId="UlisexxX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78" autoAdjust="0"/>
    <p:restoredTop sz="94660"/>
  </p:normalViewPr>
  <p:slideViewPr>
    <p:cSldViewPr snapToGrid="0">
      <p:cViewPr varScale="1">
        <p:scale>
          <a:sx n="60" d="100"/>
          <a:sy n="60" d="100"/>
        </p:scale>
        <p:origin x="60" y="4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commentAuthors" Target="commentAuthors.xml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6-01-20T16:44:56.629" idx="1">
    <p:pos x="10" y="10"/>
    <p:text>Fuentes secundarias</p:text>
    <p:extLst>
      <p:ext uri="{C676402C-5697-4E1C-873F-D02D1690AC5C}">
        <p15:threadingInfo xmlns:p15="http://schemas.microsoft.com/office/powerpoint/2012/main" timeZoneBias="300"/>
      </p:ext>
    </p:extLst>
  </p:cm>
  <p:cm authorId="1" dt="2026-01-20T16:45:35.060" idx="2">
    <p:pos x="10" y="146"/>
    <p:text>APA7  Articulos librosblogs</p:text>
    <p:extLst>
      <p:ext uri="{C676402C-5697-4E1C-873F-D02D1690AC5C}">
        <p15:threadingInfo xmlns:p15="http://schemas.microsoft.com/office/powerpoint/2012/main" timeZoneBias="300">
          <p15:parentCm authorId="1" idx="1"/>
        </p15:threadingInfo>
      </p:ext>
    </p:extLst>
  </p:cm>
  <p:cm authorId="1" dt="2026-01-20T16:45:56.867" idx="3">
    <p:pos x="10" y="282"/>
    <p:text>streaming</p:text>
    <p:extLst>
      <p:ext uri="{C676402C-5697-4E1C-873F-D02D1690AC5C}">
        <p15:threadingInfo xmlns:p15="http://schemas.microsoft.com/office/powerpoint/2012/main" timeZoneBias="300">
          <p15:parentCm authorId="1" idx="1"/>
        </p15:threadingInfo>
      </p:ext>
    </p:extLst>
  </p:cm>
  <p:cm authorId="1" dt="2026-01-20T16:46:58.972" idx="4">
    <p:pos x="10" y="418"/>
    <p:text>los documentos deben ser del 2016 en adelante, salvo los libros.</p:text>
    <p:extLst>
      <p:ext uri="{C676402C-5697-4E1C-873F-D02D1690AC5C}">
        <p15:threadingInfo xmlns:p15="http://schemas.microsoft.com/office/powerpoint/2012/main" timeZoneBias="300">
          <p15:parentCm authorId="1" idx="1"/>
        </p15:threadingInfo>
      </p:ext>
    </p:extLst>
  </p:cm>
</p:cmLst>
</file>

<file path=ppt/comments/comment2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6-01-20T17:04:52.523" idx="5">
    <p:pos x="10" y="10"/>
    <p:text>Marco teorico siempre va de lo general a lo particular, recomienda maximo 5 subtitulos o temas de marco teorico.</p:text>
    <p:extLst>
      <p:ext uri="{C676402C-5697-4E1C-873F-D02D1690AC5C}">
        <p15:threadingInfo xmlns:p15="http://schemas.microsoft.com/office/powerpoint/2012/main" timeZoneBias="300"/>
      </p:ext>
    </p:extLst>
  </p:cm>
</p:cmLst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PE"/>
          </a:p>
        </p:txBody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PE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FBF6DC-539E-4B2A-A21E-CEA4B38187F9}" type="datetimeFigureOut">
              <a:rPr lang="es-PE" smtClean="0"/>
              <a:t>20/01/2026</a:t>
            </a:fld>
            <a:endParaRPr lang="es-P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C18E5E-983A-4DF2-968F-2684628FC6C3}" type="slidenum">
              <a:rPr lang="es-PE" smtClean="0"/>
              <a:t>‹Nº›</a:t>
            </a:fld>
            <a:endParaRPr lang="es-PE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573922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FBF6DC-539E-4B2A-A21E-CEA4B38187F9}" type="datetimeFigureOut">
              <a:rPr lang="es-PE" smtClean="0"/>
              <a:t>20/01/2026</a:t>
            </a:fld>
            <a:endParaRPr lang="es-P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C18E5E-983A-4DF2-968F-2684628FC6C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021015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Encabezado de secció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FBF6DC-539E-4B2A-A21E-CEA4B38187F9}" type="datetimeFigureOut">
              <a:rPr lang="es-PE" smtClean="0"/>
              <a:t>20/01/2026</a:t>
            </a:fld>
            <a:endParaRPr lang="es-P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C18E5E-983A-4DF2-968F-2684628FC6C3}" type="slidenum">
              <a:rPr lang="es-PE" smtClean="0"/>
              <a:t>‹Nº›</a:t>
            </a:fld>
            <a:endParaRPr lang="es-PE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205578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FBF6DC-539E-4B2A-A21E-CEA4B38187F9}" type="datetimeFigureOut">
              <a:rPr lang="es-PE" smtClean="0"/>
              <a:t>20/01/2026</a:t>
            </a:fld>
            <a:endParaRPr lang="es-P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C18E5E-983A-4DF2-968F-2684628FC6C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8253626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FBF6DC-539E-4B2A-A21E-CEA4B38187F9}" type="datetimeFigureOut">
              <a:rPr lang="es-PE" smtClean="0"/>
              <a:t>20/01/2026</a:t>
            </a:fld>
            <a:endParaRPr lang="es-P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C18E5E-983A-4DF2-968F-2684628FC6C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8996981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FBF6DC-539E-4B2A-A21E-CEA4B38187F9}" type="datetimeFigureOut">
              <a:rPr lang="es-PE" smtClean="0"/>
              <a:t>20/01/2026</a:t>
            </a:fld>
            <a:endParaRPr lang="es-P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C18E5E-983A-4DF2-968F-2684628FC6C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4521495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FBF6DC-539E-4B2A-A21E-CEA4B38187F9}" type="datetimeFigureOut">
              <a:rPr lang="es-PE" smtClean="0"/>
              <a:t>20/01/2026</a:t>
            </a:fld>
            <a:endParaRPr lang="es-P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s-P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C18E5E-983A-4DF2-968F-2684628FC6C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8404538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57FBF6DC-539E-4B2A-A21E-CEA4B38187F9}" type="datetimeFigureOut">
              <a:rPr lang="es-PE" smtClean="0"/>
              <a:t>20/01/2026</a:t>
            </a:fld>
            <a:endParaRPr lang="es-P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s-P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ACC18E5E-983A-4DF2-968F-2684628FC6C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4979248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FBF6DC-539E-4B2A-A21E-CEA4B38187F9}" type="datetimeFigureOut">
              <a:rPr lang="es-PE" smtClean="0"/>
              <a:t>20/01/2026</a:t>
            </a:fld>
            <a:endParaRPr lang="es-P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C18E5E-983A-4DF2-968F-2684628FC6C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8113150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FBF6DC-539E-4B2A-A21E-CEA4B38187F9}" type="datetimeFigureOut">
              <a:rPr lang="es-PE" smtClean="0"/>
              <a:t>20/01/2026</a:t>
            </a:fld>
            <a:endParaRPr lang="es-P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C18E5E-983A-4DF2-968F-2684628FC6C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1793772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FBF6DC-539E-4B2A-A21E-CEA4B38187F9}" type="datetimeFigureOut">
              <a:rPr lang="es-PE" smtClean="0"/>
              <a:t>20/01/2026</a:t>
            </a:fld>
            <a:endParaRPr lang="es-P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C18E5E-983A-4DF2-968F-2684628FC6C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9540686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PE"/>
          </a:p>
        </p:txBody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PE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57FBF6DC-539E-4B2A-A21E-CEA4B38187F9}" type="datetimeFigureOut">
              <a:rPr lang="es-PE" smtClean="0"/>
              <a:t>20/01/2026</a:t>
            </a:fld>
            <a:endParaRPr lang="es-P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s-P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ACC18E5E-983A-4DF2-968F-2684628FC6C3}" type="slidenum">
              <a:rPr lang="es-PE" smtClean="0"/>
              <a:t>‹Nº›</a:t>
            </a:fld>
            <a:endParaRPr lang="es-PE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072430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www.scielo.org.mx/pdf/ib/v31n71/2448-8321-ib-31-71-00151.pdf" TargetMode="External"/><Relationship Id="rId1" Type="http://schemas.openxmlformats.org/officeDocument/2006/relationships/slideLayout" Target="../slideLayouts/slideLayout1.xml"/><Relationship Id="rId4" Type="http://schemas.openxmlformats.org/officeDocument/2006/relationships/comments" Target="../comments/commen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comments" Target="../comments/comment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riunet.upv.es/bitstream/handle/10251/45679/TFM_Mar%EDa%20Jes%FAs%20Gadea.pdf?sequence=1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cielo.org.mx/pdf/ib/v31n71/2448-8321-ib-31-71-00151.pdf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scielo.org.mx/pdf/ib/v31n71/2448-8321-ib-31-71-00151.pdf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https://www.scielo.org.mx/pdf/ib/v31n71/2448-8321-ib-31-71-00151.pdf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riunet.upv.es/bitstream/handle/10251/18996/Bellas%20Artes_24_01_2013_P_2_REFERENCIAS_BIBLIOGR%C3%81FICAS.pdf?sequence=3" TargetMode="Externa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://www.bibliotecaminsal.cl/wp/wp-content/uploads/2015/06/Mercedes-Fernandez-Menendez.pdf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https://meisys.es/noticias/la-importancia-de-una-bibliografia-correcta-y-como-conseguirlo/" TargetMode="Externa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guiasbus.us.es/gestoresbibliograficos/porquecitar" TargetMode="Externa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s://upg.administracion.unmsm.edu.pe/images/tesis/DIRECTIVA-080-TESIS.pdf" TargetMode="Externa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E387E447-5764-0A7D-8227-BED4ACC9486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s-PE" sz="3600" dirty="0"/>
              <a:t>TEMA 4: </a:t>
            </a:r>
            <a:br>
              <a:rPr lang="es-PE" sz="3600" dirty="0"/>
            </a:br>
            <a:r>
              <a:rPr lang="es-PE" sz="3600" dirty="0"/>
              <a:t>LAS REFERENCIAS BIBLIOGRAFICAS</a:t>
            </a:r>
          </a:p>
        </p:txBody>
      </p:sp>
      <p:sp>
        <p:nvSpPr>
          <p:cNvPr id="5" name="Subtítulo 4">
            <a:extLst>
              <a:ext uri="{FF2B5EF4-FFF2-40B4-BE49-F238E27FC236}">
                <a16:creationId xmlns:a16="http://schemas.microsoft.com/office/drawing/2014/main" id="{28C09AEE-2084-F8D3-598F-B5D0FBAB0F4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0390" y="5118604"/>
            <a:ext cx="10998820" cy="1655762"/>
          </a:xfrm>
        </p:spPr>
        <p:txBody>
          <a:bodyPr anchor="ctr">
            <a:normAutofit/>
          </a:bodyPr>
          <a:lstStyle/>
          <a:p>
            <a:pPr algn="l"/>
            <a:r>
              <a:rPr lang="es-PE" sz="1400" dirty="0"/>
              <a:t>Fuente: Martin, s. &amp; Lafuente, V. (2017). Referencias bibliográficas: indicadores para su evaluación en trabajos científicos. Investigación bibliotecológica, vol. 31, </a:t>
            </a:r>
            <a:r>
              <a:rPr lang="es-PE" sz="1400" dirty="0" err="1"/>
              <a:t>num</a:t>
            </a:r>
            <a:r>
              <a:rPr lang="es-PE" sz="1400" dirty="0"/>
              <a:t>. 71. México. </a:t>
            </a:r>
            <a:r>
              <a:rPr lang="es-PE" sz="1400" dirty="0">
                <a:hlinkClick r:id="rId2"/>
              </a:rPr>
              <a:t>https://www.scielo.org.mx/pdf/ib/v31n71/2448-8321-ib-31-71-00151.pdf</a:t>
            </a:r>
            <a:endParaRPr lang="es-PE" sz="1400" dirty="0"/>
          </a:p>
          <a:p>
            <a:pPr algn="l"/>
            <a:endParaRPr lang="es-PE" sz="1400" dirty="0"/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D5BF4C27-D08E-6A9A-1D1B-183697E66E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647643"/>
            <a:ext cx="2389839" cy="13107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14748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A0789F0-5F79-EB3D-C194-E1C00F0E71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s-MX" sz="2800" dirty="0">
                <a:solidFill>
                  <a:srgbClr val="202124"/>
                </a:solidFill>
                <a:latin typeface="Roboto" panose="02000000000000000000" pitchFamily="2" charset="0"/>
              </a:rPr>
              <a:t>Impacto de los fondos  en el mercado de capitales peruano 2010 - 2022</a:t>
            </a:r>
            <a:endParaRPr lang="es-PE" sz="2800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B3BFC13-947C-B97D-36F3-0DA3D0BC89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4279" y="1921318"/>
            <a:ext cx="9218428" cy="4206341"/>
          </a:xfrm>
        </p:spPr>
        <p:txBody>
          <a:bodyPr anchor="ctr">
            <a:no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s-PE" sz="1600" dirty="0"/>
              <a:t>II. MARCO TEORICO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s-PE" sz="1600" dirty="0"/>
              <a:t>	2.1 Antecedentes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s-PE" sz="1600" dirty="0"/>
              <a:t>	2.2 Marco teórico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s-PE" sz="1600" dirty="0"/>
              <a:t>		2.2.1 Mercado de capitales peruano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s-PE" sz="1600" dirty="0"/>
              <a:t>		2.2.2 Fondos de fondos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s-PE" sz="1600" dirty="0"/>
              <a:t>		2.2.3 Fondos de Fondos en el periodo COVID 19</a:t>
            </a:r>
          </a:p>
          <a:p>
            <a:pPr marL="0" indent="0" algn="just">
              <a:lnSpc>
                <a:spcPct val="100000"/>
              </a:lnSpc>
              <a:buNone/>
            </a:pPr>
            <a:r>
              <a:rPr lang="es-PE" sz="1600" dirty="0"/>
              <a:t>		2.2.4 Experiencias de los fondos de </a:t>
            </a:r>
            <a:r>
              <a:rPr lang="es-PE" sz="1800" dirty="0"/>
              <a:t>fondos</a:t>
            </a:r>
            <a:r>
              <a:rPr lang="es-PE" sz="1600" dirty="0"/>
              <a:t> en Latinoamérica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s-PE" sz="1600" dirty="0"/>
              <a:t>		2.2.5 Organismos reguladores de los fondos de fondos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s-PE" sz="1600" dirty="0"/>
              <a:t>	2.2 Marco conceptual 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s-PE" sz="1600" dirty="0"/>
              <a:t>		(relación de conceptos, definiciones de conceptos y reconocimiento del autor)</a:t>
            </a:r>
          </a:p>
        </p:txBody>
      </p:sp>
      <p:sp>
        <p:nvSpPr>
          <p:cNvPr id="4" name="Cerrar llave 3">
            <a:extLst>
              <a:ext uri="{FF2B5EF4-FFF2-40B4-BE49-F238E27FC236}">
                <a16:creationId xmlns:a16="http://schemas.microsoft.com/office/drawing/2014/main" id="{DF2541BF-DC47-8F03-17CE-D4EB7DA0C686}"/>
              </a:ext>
            </a:extLst>
          </p:cNvPr>
          <p:cNvSpPr/>
          <p:nvPr/>
        </p:nvSpPr>
        <p:spPr>
          <a:xfrm>
            <a:off x="9632025" y="3049668"/>
            <a:ext cx="245889" cy="2535731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40FEB809-D7B1-4DBA-9988-0B0141185577}"/>
              </a:ext>
            </a:extLst>
          </p:cNvPr>
          <p:cNvSpPr txBox="1"/>
          <p:nvPr/>
        </p:nvSpPr>
        <p:spPr>
          <a:xfrm>
            <a:off x="9877914" y="4117769"/>
            <a:ext cx="17212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PE" dirty="0"/>
              <a:t>Un esquema tentativo</a:t>
            </a:r>
          </a:p>
        </p:txBody>
      </p:sp>
    </p:spTree>
    <p:extLst>
      <p:ext uri="{BB962C8B-B14F-4D97-AF65-F5344CB8AC3E}">
        <p14:creationId xmlns:p14="http://schemas.microsoft.com/office/powerpoint/2010/main" val="41133759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987AEAA-45A5-97FF-25D1-514CA5B19A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PE" sz="2800" dirty="0"/>
              <a:t>EJEMPLOS DE REFERENCIAS BIBLIOGRÁFICAS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58AE510-0EEF-3DE9-D39D-2182997A6E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s-MX" sz="2000" dirty="0"/>
              <a:t>Gadea Moya, M. J. (2014). Caracterización del capital riesgo impacto de FOND-ICO Global, primer fondo de fondos público español. </a:t>
            </a:r>
            <a:r>
              <a:rPr lang="es-MX" sz="2000" dirty="0">
                <a:hlinkClick r:id="rId2"/>
              </a:rPr>
              <a:t>https://riunet.upv.es/bitstream/handle/10251/45679/TFM_Mar%EDa%20Jes%FAs%20Gadea.pdf?sequence=1</a:t>
            </a:r>
            <a:endParaRPr lang="es-MX" sz="2000" dirty="0"/>
          </a:p>
          <a:p>
            <a:r>
              <a:rPr lang="es-MX" sz="2000" dirty="0"/>
              <a:t>Irazusta, P., Sánchez </a:t>
            </a:r>
            <a:r>
              <a:rPr lang="es-MX" sz="2000" dirty="0" err="1"/>
              <a:t>Monjo</a:t>
            </a:r>
            <a:r>
              <a:rPr lang="es-MX" sz="2000" dirty="0"/>
              <a:t>, M., &amp; Posadas, C. (2020). Los fondos de fondos de capital riesgo: análisis regulatorio y fiscal. Revista Española de Capital Riesgo, (1). https://web.s.ebscohost.com/abstract?direct=true&amp;profile=ehost&amp;scope=site&amp;authtype=crawler&amp;jrnl=18872697&amp;AN=143487070&amp;h=200F7yMOhBn9xsMt4nts9MaYl2hTkbXrwr0aFOzrJ9Wv1JLxtUcBSRbAFKsTE78HsoElXajo4ya889OF%2fclQvQ%3d%3d&amp;crl=c&amp;resultNs=AdminWebAuth&amp;resultLocal=ErrCrlNotAuth&amp;crlhashurl=login.aspx%3fdirect%3dtrue%26profile%3dehost%26scope%3dsite%26authtype%3dcrawler%26jrnl%3d18872697%26AN%3d143487070</a:t>
            </a:r>
          </a:p>
          <a:p>
            <a:endParaRPr lang="es-MX" sz="2000" dirty="0"/>
          </a:p>
          <a:p>
            <a:endParaRPr lang="es-PE" sz="2000" dirty="0"/>
          </a:p>
        </p:txBody>
      </p:sp>
    </p:spTree>
    <p:extLst>
      <p:ext uri="{BB962C8B-B14F-4D97-AF65-F5344CB8AC3E}">
        <p14:creationId xmlns:p14="http://schemas.microsoft.com/office/powerpoint/2010/main" val="21556066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 5">
            <a:extLst>
              <a:ext uri="{FF2B5EF4-FFF2-40B4-BE49-F238E27FC236}">
                <a16:creationId xmlns:a16="http://schemas.microsoft.com/office/drawing/2014/main" id="{B43DB5D2-AA22-8594-5172-F307616EBF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7500" y="2850652"/>
            <a:ext cx="5524500" cy="3399692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0C75868C-F0B0-8F45-84E9-E1915DAF68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PE" sz="2800" dirty="0"/>
              <a:t>REVISIÓN BIBLIOGRAFICA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1ADF276-13D0-2DD1-7715-1E1CB8AADA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1952" y="1741786"/>
            <a:ext cx="6790677" cy="3503074"/>
          </a:xfrm>
        </p:spPr>
        <p:txBody>
          <a:bodyPr anchor="ctr">
            <a:norm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s-MX" sz="2000" dirty="0"/>
              <a:t>La revisión bibliográfica constituye una etapa esencial en el desarrollo de un trabajo científico y académico. Implica consultar distintas fuentes de información (catálogos, bases de datos, buscadores, repositorios, etc.) y recuperar documentos en distintos formatos. Este proceso también es conocido como búsqueda documental, revisión de antecedentes o investigación bibliográfica o documental.</a:t>
            </a:r>
            <a:endParaRPr lang="es-PE" sz="2000" dirty="0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B625F781-D506-B117-2110-D833B8EDDB43}"/>
              </a:ext>
            </a:extLst>
          </p:cNvPr>
          <p:cNvSpPr txBox="1"/>
          <p:nvPr/>
        </p:nvSpPr>
        <p:spPr>
          <a:xfrm>
            <a:off x="268549" y="5988734"/>
            <a:ext cx="60945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PE" sz="1400" dirty="0">
                <a:hlinkClick r:id="rId3"/>
              </a:rPr>
              <a:t>https://www.scielo.org.mx/pdf/ib/v31n71/2448-8321-ib-31-71-00151.pdf</a:t>
            </a:r>
            <a:endParaRPr lang="es-PE" sz="1400" dirty="0"/>
          </a:p>
          <a:p>
            <a:endParaRPr lang="es-PE" sz="1400" dirty="0"/>
          </a:p>
        </p:txBody>
      </p:sp>
    </p:spTree>
    <p:extLst>
      <p:ext uri="{BB962C8B-B14F-4D97-AF65-F5344CB8AC3E}">
        <p14:creationId xmlns:p14="http://schemas.microsoft.com/office/powerpoint/2010/main" val="904891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A9562BD-D5FA-0F2D-166B-84211E50E0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PE" sz="2800" dirty="0"/>
              <a:t>LO QUE PERMITE LA REVISION BIBLIOGRAFICA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8512766-BCA2-DA1D-7A8A-296305666D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73098" y="2757221"/>
            <a:ext cx="6231673" cy="2478746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s-MX" sz="2000" dirty="0"/>
              <a:t>A partir de esa revisión bibliográfica, el investigador va construyendo el marco teórico, documentando antecedentes y elaborando la bibliografía que se incluye al final de un trabajo científico o académico. Las bibliografías permiten, entre otros aspectos: 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42A22FED-DFD1-538D-E81C-48CD6430CFC5}"/>
              </a:ext>
            </a:extLst>
          </p:cNvPr>
          <p:cNvSpPr txBox="1"/>
          <p:nvPr/>
        </p:nvSpPr>
        <p:spPr>
          <a:xfrm>
            <a:off x="5390965" y="6260496"/>
            <a:ext cx="60945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PE" sz="1400" dirty="0">
                <a:hlinkClick r:id="rId2"/>
              </a:rPr>
              <a:t>https://www.scielo.org.mx/pdf/ib/v31n71/2448-8321-ib-31-71-00151.pdf</a:t>
            </a:r>
            <a:endParaRPr lang="es-PE" sz="1400" dirty="0"/>
          </a:p>
        </p:txBody>
      </p:sp>
    </p:spTree>
    <p:extLst>
      <p:ext uri="{BB962C8B-B14F-4D97-AF65-F5344CB8AC3E}">
        <p14:creationId xmlns:p14="http://schemas.microsoft.com/office/powerpoint/2010/main" val="41551203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A9562BD-D5FA-0F2D-166B-84211E50E0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>
            <a:normAutofit/>
          </a:bodyPr>
          <a:lstStyle/>
          <a:p>
            <a:r>
              <a:rPr lang="es-PE" sz="2800" dirty="0"/>
              <a:t>LOS LOGROS DE LA REVISIÓN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8512766-BCA2-DA1D-7A8A-296305666D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81100" y="1878509"/>
            <a:ext cx="8238945" cy="4220366"/>
          </a:xfrm>
        </p:spPr>
        <p:txBody>
          <a:bodyPr>
            <a:norm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s-MX" sz="2000" dirty="0"/>
              <a:t>Garantizar que el investigador se ha documentado correctamente. </a:t>
            </a:r>
          </a:p>
          <a:p>
            <a:pPr marL="457200" indent="-457200">
              <a:buFont typeface="+mj-lt"/>
              <a:buAutoNum type="arabicPeriod"/>
            </a:pPr>
            <a:r>
              <a:rPr lang="es-MX" sz="2000" dirty="0"/>
              <a:t>Identificar las fuentes originales de conceptos, métodos y técnicas provenientes de investigaciones, estudios y experiencias anteriores. </a:t>
            </a:r>
          </a:p>
          <a:p>
            <a:pPr marL="457200" indent="-457200">
              <a:buFont typeface="+mj-lt"/>
              <a:buAutoNum type="arabicPeriod"/>
            </a:pPr>
            <a:r>
              <a:rPr lang="es-MX" sz="2000" dirty="0"/>
              <a:t>Apoyar los hechos y opiniones que el autor quiere expresar. </a:t>
            </a:r>
          </a:p>
          <a:p>
            <a:pPr marL="457200" indent="-457200">
              <a:buFont typeface="+mj-lt"/>
              <a:buAutoNum type="arabicPeriod"/>
            </a:pPr>
            <a:r>
              <a:rPr lang="es-MX" sz="2000" dirty="0"/>
              <a:t>Ofrecer un sustento teórico. </a:t>
            </a:r>
          </a:p>
          <a:p>
            <a:pPr marL="457200" indent="-457200">
              <a:buFont typeface="+mj-lt"/>
              <a:buAutoNum type="arabicPeriod"/>
            </a:pPr>
            <a:r>
              <a:rPr lang="es-MX" sz="2000" dirty="0"/>
              <a:t>Orientar al lector interesado a informarse con mayor detalle sobre aspectos del contenido del documento. </a:t>
            </a:r>
          </a:p>
          <a:p>
            <a:pPr marL="457200" indent="-457200">
              <a:buFont typeface="+mj-lt"/>
              <a:buAutoNum type="arabicPeriod"/>
            </a:pPr>
            <a:r>
              <a:rPr lang="es-MX" sz="2000" dirty="0"/>
              <a:t>Permitir que, a partir de éstas, otros autores puedan investigar otros aspectos subyacentes de una determinada investigación. </a:t>
            </a:r>
          </a:p>
          <a:p>
            <a:pPr marL="457200" indent="-457200">
              <a:buFont typeface="+mj-lt"/>
              <a:buAutoNum type="arabicPeriod"/>
            </a:pPr>
            <a:r>
              <a:rPr lang="es-MX" sz="2000" dirty="0"/>
              <a:t>No investigar lo ya investigado.</a:t>
            </a:r>
            <a:endParaRPr lang="es-PE" sz="2000" dirty="0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42A22FED-DFD1-538D-E81C-48CD6430CFC5}"/>
              </a:ext>
            </a:extLst>
          </p:cNvPr>
          <p:cNvSpPr txBox="1"/>
          <p:nvPr/>
        </p:nvSpPr>
        <p:spPr>
          <a:xfrm>
            <a:off x="5390965" y="6260496"/>
            <a:ext cx="60945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PE" sz="1400" dirty="0">
                <a:hlinkClick r:id="rId2"/>
              </a:rPr>
              <a:t>https://www.scielo.org.mx/pdf/ib/v31n71/2448-8321-ib-31-71-00151.pdf</a:t>
            </a:r>
            <a:endParaRPr lang="es-PE" sz="1400" dirty="0"/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7D14757E-859B-8C56-5362-A52D760F40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4105" y="2013841"/>
            <a:ext cx="4071523" cy="4783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35216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0CC3296-902F-C837-FBA6-AA42DCA6D1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>
            <a:normAutofit/>
          </a:bodyPr>
          <a:lstStyle/>
          <a:p>
            <a:r>
              <a:rPr lang="es-PE" sz="2800" dirty="0"/>
              <a:t>IMPORTANCIA DE LAS REFERENCIAS BIBLIOGRÁFICAS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2124D50-14BD-2353-C4CD-E14723FD67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825625"/>
            <a:ext cx="10058400" cy="4351338"/>
          </a:xfrm>
        </p:spPr>
        <p:txBody>
          <a:bodyPr anchor="ctr"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s-MX" sz="2000" dirty="0"/>
              <a:t>La bibliografía, si bien constituye el último ítem de un trabajo de investigación, se comienza a elaborar apenas se define el tema y se empieza a buscar documentación. El investigador, a medida que avanza en su proyecto, debe ir documentando cada una de las fuentes de información utilizadas. 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s-MX" sz="2000" dirty="0"/>
              <a:t>Determinar la cantidad óptima de citas, el tipo de documentos a citar o las formas de citación dentro del texto son algunos de los aspectos más frecuentes que debe enfrentar todo investigador.</a:t>
            </a:r>
            <a:endParaRPr lang="es-PE" sz="2000" dirty="0"/>
          </a:p>
        </p:txBody>
      </p:sp>
    </p:spTree>
    <p:extLst>
      <p:ext uri="{BB962C8B-B14F-4D97-AF65-F5344CB8AC3E}">
        <p14:creationId xmlns:p14="http://schemas.microsoft.com/office/powerpoint/2010/main" val="14060815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29B6EA9-B773-3F16-1242-9BE8F4F0A4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>
            <a:normAutofit/>
          </a:bodyPr>
          <a:lstStyle/>
          <a:p>
            <a:r>
              <a:rPr lang="es-PE" sz="2800" dirty="0"/>
              <a:t>LA REFERENCIA BIBLIOGRAFICA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5AB5211-2B4D-49EC-7BCB-58B9A0E1CB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825625"/>
            <a:ext cx="10256519" cy="3622675"/>
          </a:xfrm>
        </p:spPr>
        <p:txBody>
          <a:bodyPr anchor="ctr">
            <a:normAutofit lnSpcReduction="10000"/>
          </a:bodyPr>
          <a:lstStyle/>
          <a:p>
            <a:pPr>
              <a:lnSpc>
                <a:spcPct val="150000"/>
              </a:lnSpc>
            </a:pPr>
            <a:r>
              <a:rPr lang="es-MX" dirty="0"/>
              <a:t>Las referencias bibliográficas constituyen un elemento esencial para garantizar la rigurosidad y el carácter científico de una publicación. </a:t>
            </a:r>
          </a:p>
          <a:p>
            <a:pPr>
              <a:lnSpc>
                <a:spcPct val="150000"/>
              </a:lnSpc>
            </a:pPr>
            <a:r>
              <a:rPr lang="es-MX" b="1" dirty="0"/>
              <a:t>Referencia bibliográfica </a:t>
            </a:r>
            <a:r>
              <a:rPr lang="es-MX" dirty="0"/>
              <a:t>es la fuente consultada y utilizada para la investigación, que es citada de forma individual en relación con algún elemento mencionado en el texto.</a:t>
            </a:r>
          </a:p>
          <a:p>
            <a:pPr>
              <a:lnSpc>
                <a:spcPct val="150000"/>
              </a:lnSpc>
            </a:pPr>
            <a:r>
              <a:rPr lang="es-MX" b="1" dirty="0"/>
              <a:t>Bibliografía</a:t>
            </a:r>
            <a:r>
              <a:rPr lang="es-MX" dirty="0"/>
              <a:t> es el listado completo de las fuentes (impresas o electrónicas) citadas en un trabajo (referencias bibliográficas). Se suelen presentar al final del mismo, ordenadas de forma alfabética o secuencial.</a:t>
            </a:r>
            <a:endParaRPr lang="es-PE" dirty="0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467AEC23-6408-C926-C7C3-EA2383B589D9}"/>
              </a:ext>
            </a:extLst>
          </p:cNvPr>
          <p:cNvSpPr txBox="1"/>
          <p:nvPr/>
        </p:nvSpPr>
        <p:spPr>
          <a:xfrm>
            <a:off x="1029629" y="5666423"/>
            <a:ext cx="60941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PE" sz="1400" dirty="0">
                <a:hlinkClick r:id="rId2"/>
              </a:rPr>
              <a:t>https://riunet.upv.es/bitstream/handle/10251/18996/Bellas%20Artes_24_01_2013_P_2_REFERENCIAS_BIBLIOGR%C3%81FICAS.pdf?sequence=3</a:t>
            </a:r>
            <a:endParaRPr lang="es-PE" sz="1400" dirty="0"/>
          </a:p>
        </p:txBody>
      </p:sp>
    </p:spTree>
    <p:extLst>
      <p:ext uri="{BB962C8B-B14F-4D97-AF65-F5344CB8AC3E}">
        <p14:creationId xmlns:p14="http://schemas.microsoft.com/office/powerpoint/2010/main" val="841036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D3772C9-02E5-FE1A-8F76-E20B0D8CD9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>
            <a:normAutofit/>
          </a:bodyPr>
          <a:lstStyle/>
          <a:p>
            <a:r>
              <a:rPr lang="es-PE" sz="2800" dirty="0"/>
              <a:t>MOTIVOS DE LA REFERENCIA BIBLIOGRAFICA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A65228C-9032-91D1-5825-E6D656A8D4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81100" y="1792171"/>
            <a:ext cx="6995160" cy="4351338"/>
          </a:xfrm>
        </p:spPr>
        <p:txBody>
          <a:bodyPr anchor="ctr">
            <a:normAutofit fontScale="92500" lnSpcReduction="20000"/>
          </a:bodyPr>
          <a:lstStyle/>
          <a:p>
            <a:pPr>
              <a:lnSpc>
                <a:spcPct val="150000"/>
              </a:lnSpc>
            </a:pPr>
            <a:r>
              <a:rPr lang="es-MX" sz="2400" dirty="0"/>
              <a:t>Dar a conocer trabajos previamente publicados que sirven de apoyatura a las informaciones, tesis, teorías etc. que mantenemos. </a:t>
            </a:r>
          </a:p>
          <a:p>
            <a:pPr>
              <a:lnSpc>
                <a:spcPct val="150000"/>
              </a:lnSpc>
            </a:pPr>
            <a:r>
              <a:rPr lang="es-MX" sz="2400" dirty="0"/>
              <a:t>Dar fiabilidad a nuestro trabajo documentado el origen de las afirmaciones y contenidos y permitiendo su verificación. </a:t>
            </a:r>
          </a:p>
          <a:p>
            <a:pPr>
              <a:lnSpc>
                <a:spcPct val="150000"/>
              </a:lnSpc>
            </a:pPr>
            <a:r>
              <a:rPr lang="es-MX" sz="2400" dirty="0"/>
              <a:t>Reconocer los méritos ajenos impidiendo el plagio.</a:t>
            </a:r>
          </a:p>
          <a:p>
            <a:pPr>
              <a:lnSpc>
                <a:spcPct val="150000"/>
              </a:lnSpc>
            </a:pPr>
            <a:r>
              <a:rPr lang="es-MX" sz="2400" dirty="0"/>
              <a:t>Permitir al lector ampliar determinados apartados del trabajo. </a:t>
            </a:r>
            <a:endParaRPr lang="es-PE" sz="2400" dirty="0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436CA0F2-C860-47F1-2C00-36ACC1EC5097}"/>
              </a:ext>
            </a:extLst>
          </p:cNvPr>
          <p:cNvSpPr txBox="1"/>
          <p:nvPr/>
        </p:nvSpPr>
        <p:spPr>
          <a:xfrm>
            <a:off x="8263684" y="2332558"/>
            <a:ext cx="3836021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PE" sz="1400" dirty="0">
                <a:hlinkClick r:id="rId2"/>
              </a:rPr>
              <a:t>http://www.bibliotecaminsal.cl/wp/wp-content/uploads/2015/06/Mercedes-Fernandez-Menendez.pdf</a:t>
            </a:r>
            <a:endParaRPr lang="es-PE" sz="1400" dirty="0"/>
          </a:p>
          <a:p>
            <a:endParaRPr lang="es-PE" sz="1400" dirty="0"/>
          </a:p>
        </p:txBody>
      </p:sp>
    </p:spTree>
    <p:extLst>
      <p:ext uri="{BB962C8B-B14F-4D97-AF65-F5344CB8AC3E}">
        <p14:creationId xmlns:p14="http://schemas.microsoft.com/office/powerpoint/2010/main" val="25813989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DD1591F-F7EB-7C0B-5665-9BD25333DB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>
            <a:normAutofit/>
          </a:bodyPr>
          <a:lstStyle/>
          <a:p>
            <a:r>
              <a:rPr lang="es-PE" sz="2800" dirty="0"/>
              <a:t>GESTORES BIBLIOGRAFICOS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3369219-14A7-E8B8-3A61-736B4A09DC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11580" y="1825625"/>
            <a:ext cx="10142219" cy="2921635"/>
          </a:xfrm>
        </p:spPr>
        <p:txBody>
          <a:bodyPr anchor="ctr">
            <a:normAutofit lnSpcReduction="10000"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s-MX" sz="2000" b="0" i="0" dirty="0">
                <a:solidFill>
                  <a:srgbClr val="555555"/>
                </a:solidFill>
                <a:effectLst/>
                <a:latin typeface="Convergence"/>
              </a:rPr>
              <a:t>Los </a:t>
            </a:r>
            <a:r>
              <a:rPr lang="es-MX" sz="2000" b="1" i="0" dirty="0">
                <a:solidFill>
                  <a:srgbClr val="555555"/>
                </a:solidFill>
                <a:effectLst/>
                <a:latin typeface="Convergence"/>
              </a:rPr>
              <a:t>gestores bibliográficos</a:t>
            </a:r>
            <a:r>
              <a:rPr lang="es-MX" sz="2000" b="0" i="0" dirty="0">
                <a:solidFill>
                  <a:srgbClr val="555555"/>
                </a:solidFill>
                <a:effectLst/>
                <a:latin typeface="Convergence"/>
              </a:rPr>
              <a:t> son herramientas que recogen las referencias bibliográficas de las bases de datos de investigación y permiten organizar las citas y la bibliografía para tus proyectos.</a:t>
            </a:r>
          </a:p>
          <a:p>
            <a:pPr marL="0" indent="0" algn="ctr">
              <a:lnSpc>
                <a:spcPct val="150000"/>
              </a:lnSpc>
              <a:buNone/>
            </a:pPr>
            <a:r>
              <a:rPr lang="es-MX" sz="2000" b="0" i="0" dirty="0">
                <a:solidFill>
                  <a:srgbClr val="555555"/>
                </a:solidFill>
                <a:effectLst/>
                <a:latin typeface="Convergence"/>
              </a:rPr>
              <a:t>Facilitan la intercalación de las referencias seleccionadas en los manuscritos; sirven de interfases para las búsquedas directas en algunos sistemas, y facilitan el trabajo colaborativo a través del intercambio de bibliografías.</a:t>
            </a:r>
            <a:endParaRPr lang="es-PE" sz="2000" dirty="0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E42D03C0-29E4-46D2-100D-D9DD2A41D3E0}"/>
              </a:ext>
            </a:extLst>
          </p:cNvPr>
          <p:cNvSpPr txBox="1"/>
          <p:nvPr/>
        </p:nvSpPr>
        <p:spPr>
          <a:xfrm>
            <a:off x="493442" y="5573236"/>
            <a:ext cx="3699416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PE" sz="1400" dirty="0">
                <a:hlinkClick r:id="rId2"/>
              </a:rPr>
              <a:t>https://meisys.es/noticias/la-importancia-de-una-bibliografia-correcta-y-como-conseguirlo/</a:t>
            </a:r>
            <a:endParaRPr lang="es-PE" sz="1400" dirty="0"/>
          </a:p>
          <a:p>
            <a:endParaRPr lang="es-PE" sz="1400" dirty="0"/>
          </a:p>
        </p:txBody>
      </p:sp>
    </p:spTree>
    <p:extLst>
      <p:ext uri="{BB962C8B-B14F-4D97-AF65-F5344CB8AC3E}">
        <p14:creationId xmlns:p14="http://schemas.microsoft.com/office/powerpoint/2010/main" val="25162828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8A09C57-D12D-BF0C-6D18-35904B5F46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>
            <a:normAutofit/>
          </a:bodyPr>
          <a:lstStyle/>
          <a:p>
            <a:r>
              <a:rPr lang="es-PE" sz="2800" dirty="0"/>
              <a:t>CITAS Y REFERENCIAS. USO.</a:t>
            </a:r>
          </a:p>
        </p:txBody>
      </p:sp>
      <p:sp>
        <p:nvSpPr>
          <p:cNvPr id="5" name="Marcador de contenido 4">
            <a:extLst>
              <a:ext uri="{FF2B5EF4-FFF2-40B4-BE49-F238E27FC236}">
                <a16:creationId xmlns:a16="http://schemas.microsoft.com/office/drawing/2014/main" id="{B13CA0E3-81AD-C984-E846-5FE4F87E55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1" y="1727380"/>
            <a:ext cx="9997440" cy="3614240"/>
          </a:xfrm>
        </p:spPr>
        <p:txBody>
          <a:bodyPr>
            <a:normAutofit fontScale="77500" lnSpcReduction="20000"/>
          </a:bodyPr>
          <a:lstStyle/>
          <a:p>
            <a:pPr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MX" sz="2000" i="0" dirty="0">
                <a:solidFill>
                  <a:srgbClr val="333333"/>
                </a:solidFill>
                <a:effectLst/>
                <a:latin typeface="Arial" panose="020B0604020202020204" pitchFamily="34" charset="0"/>
              </a:rPr>
              <a:t>Dar crédito a las ideas ajenas que usemos en un trabajo.</a:t>
            </a:r>
          </a:p>
          <a:p>
            <a:pPr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MX" sz="2000" i="0" dirty="0">
                <a:solidFill>
                  <a:srgbClr val="333333"/>
                </a:solidFill>
                <a:effectLst/>
                <a:latin typeface="Arial" panose="020B0604020202020204" pitchFamily="34" charset="0"/>
              </a:rPr>
              <a:t>En un sentido amplio, unen un trabajo actual con uno anterior.</a:t>
            </a:r>
          </a:p>
          <a:p>
            <a:pPr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MX" sz="2000" i="0" dirty="0">
                <a:solidFill>
                  <a:srgbClr val="333333"/>
                </a:solidFill>
                <a:effectLst/>
                <a:latin typeface="Arial" panose="020B0604020202020204" pitchFamily="34" charset="0"/>
              </a:rPr>
              <a:t>Evitar  el plagio.</a:t>
            </a:r>
          </a:p>
          <a:p>
            <a:pPr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MX" sz="2000" i="0" dirty="0">
                <a:solidFill>
                  <a:srgbClr val="333333"/>
                </a:solidFill>
                <a:effectLst/>
                <a:latin typeface="Arial" panose="020B0604020202020204" pitchFamily="34" charset="0"/>
              </a:rPr>
              <a:t>Identificar la publicación de la que fue tomado el tema o la idea referida en el texto.</a:t>
            </a:r>
          </a:p>
          <a:p>
            <a:pPr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MX" sz="2000" i="0" dirty="0">
                <a:solidFill>
                  <a:srgbClr val="333333"/>
                </a:solidFill>
                <a:effectLst/>
                <a:latin typeface="Arial" panose="020B0604020202020204" pitchFamily="34" charset="0"/>
              </a:rPr>
              <a:t>Facilitar la búsqueda de la fuente a los lectores del documento (para entender la idea, analizar los métodos empleados, localizar datos concretos).</a:t>
            </a:r>
          </a:p>
          <a:p>
            <a:pPr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MX" sz="2000" i="0" dirty="0">
                <a:solidFill>
                  <a:srgbClr val="333333"/>
                </a:solidFill>
                <a:effectLst/>
                <a:latin typeface="Arial" panose="020B0604020202020204" pitchFamily="34" charset="0"/>
              </a:rPr>
              <a:t>En general: para encontrar un documento en un catálogo de biblioteca, en una librería, en una base de datos y también para enlazar con documentos electrónicos.</a:t>
            </a:r>
          </a:p>
          <a:p>
            <a:pPr>
              <a:lnSpc>
                <a:spcPct val="150000"/>
              </a:lnSpc>
            </a:pPr>
            <a:endParaRPr lang="es-PE" sz="2000" dirty="0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FD2B0464-13CB-7CA6-9B25-A2421FAAE578}"/>
              </a:ext>
            </a:extLst>
          </p:cNvPr>
          <p:cNvSpPr txBox="1"/>
          <p:nvPr/>
        </p:nvSpPr>
        <p:spPr>
          <a:xfrm>
            <a:off x="1097280" y="5579395"/>
            <a:ext cx="447093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PE" sz="1400" dirty="0">
                <a:hlinkClick r:id="rId2"/>
              </a:rPr>
              <a:t>https://guiasbus.us.es/gestoresbibliograficos/porquecitar</a:t>
            </a:r>
            <a:endParaRPr lang="es-PE" sz="1400" dirty="0"/>
          </a:p>
          <a:p>
            <a:endParaRPr lang="es-PE" sz="1400" dirty="0"/>
          </a:p>
        </p:txBody>
      </p:sp>
    </p:spTree>
    <p:extLst>
      <p:ext uri="{BB962C8B-B14F-4D97-AF65-F5344CB8AC3E}">
        <p14:creationId xmlns:p14="http://schemas.microsoft.com/office/powerpoint/2010/main" val="27181203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7567E8A-F9D2-39DE-8EDD-FE4A5B783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>
            <a:normAutofit/>
          </a:bodyPr>
          <a:lstStyle/>
          <a:p>
            <a:pPr algn="ctr"/>
            <a:r>
              <a:rPr lang="es-PE" sz="2800" dirty="0"/>
              <a:t>TAREA 4: REFERENCIAS BIBLIOGRAFICAS</a:t>
            </a:r>
            <a:br>
              <a:rPr lang="es-PE" sz="2800" dirty="0"/>
            </a:br>
            <a:r>
              <a:rPr lang="es-PE" sz="1600" dirty="0"/>
              <a:t>(como parte del plan de investigación)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4D0A325-9017-D585-2FD8-8F2C44A474A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356946"/>
          </a:xfrm>
        </p:spPr>
        <p:txBody>
          <a:bodyPr anchor="ctr">
            <a:normAutofit fontScale="85000" lnSpcReduction="20000"/>
          </a:bodyPr>
          <a:lstStyle/>
          <a:p>
            <a:pPr lvl="1"/>
            <a:r>
              <a:rPr lang="es-PE" dirty="0">
                <a:solidFill>
                  <a:srgbClr val="FF0000"/>
                </a:solidFill>
              </a:rPr>
              <a:t>I. PLANTEAMIENTO DEL PROBLEMA</a:t>
            </a:r>
          </a:p>
          <a:p>
            <a:pPr lvl="2"/>
            <a:r>
              <a:rPr lang="es-PE" dirty="0">
                <a:solidFill>
                  <a:srgbClr val="FF0000"/>
                </a:solidFill>
              </a:rPr>
              <a:t>1.1 Análisis del contexto</a:t>
            </a:r>
          </a:p>
          <a:p>
            <a:pPr lvl="2"/>
            <a:r>
              <a:rPr lang="es-PE" dirty="0">
                <a:solidFill>
                  <a:srgbClr val="FF0000"/>
                </a:solidFill>
              </a:rPr>
              <a:t>1.2 Formulación del problema</a:t>
            </a:r>
          </a:p>
          <a:p>
            <a:pPr lvl="3"/>
            <a:r>
              <a:rPr lang="es-PE" dirty="0">
                <a:solidFill>
                  <a:srgbClr val="FF0000"/>
                </a:solidFill>
              </a:rPr>
              <a:t>1.2.1 Problema principal</a:t>
            </a:r>
          </a:p>
          <a:p>
            <a:pPr lvl="3"/>
            <a:r>
              <a:rPr lang="es-PE" dirty="0">
                <a:solidFill>
                  <a:srgbClr val="FF0000"/>
                </a:solidFill>
              </a:rPr>
              <a:t>1.2.2.Problemas específicos</a:t>
            </a:r>
          </a:p>
          <a:p>
            <a:pPr lvl="2"/>
            <a:r>
              <a:rPr lang="es-PE" dirty="0">
                <a:solidFill>
                  <a:srgbClr val="FF0000"/>
                </a:solidFill>
              </a:rPr>
              <a:t>1.3 Justificación de la investigación</a:t>
            </a:r>
          </a:p>
          <a:p>
            <a:pPr lvl="3"/>
            <a:r>
              <a:rPr lang="es-PE" dirty="0">
                <a:solidFill>
                  <a:srgbClr val="FF0000"/>
                </a:solidFill>
              </a:rPr>
              <a:t>1.3.1 Justificación Teórica</a:t>
            </a:r>
          </a:p>
          <a:p>
            <a:pPr lvl="3"/>
            <a:r>
              <a:rPr lang="es-PE" dirty="0">
                <a:solidFill>
                  <a:srgbClr val="FF0000"/>
                </a:solidFill>
              </a:rPr>
              <a:t>1.3.2 Justificación práctica</a:t>
            </a:r>
          </a:p>
          <a:p>
            <a:pPr lvl="3"/>
            <a:r>
              <a:rPr lang="es-PE" dirty="0">
                <a:solidFill>
                  <a:srgbClr val="FF0000"/>
                </a:solidFill>
              </a:rPr>
              <a:t>1.3.3 Justificación metodológica</a:t>
            </a:r>
          </a:p>
          <a:p>
            <a:pPr lvl="2"/>
            <a:r>
              <a:rPr lang="es-PE" dirty="0">
                <a:solidFill>
                  <a:srgbClr val="FF0000"/>
                </a:solidFill>
              </a:rPr>
              <a:t>1.4 Objetivos de la investigación</a:t>
            </a:r>
          </a:p>
          <a:p>
            <a:pPr lvl="3"/>
            <a:r>
              <a:rPr lang="es-PE" dirty="0">
                <a:solidFill>
                  <a:srgbClr val="FF0000"/>
                </a:solidFill>
              </a:rPr>
              <a:t>1.4.1 Objetivo principal</a:t>
            </a:r>
          </a:p>
          <a:p>
            <a:pPr lvl="3"/>
            <a:r>
              <a:rPr lang="es-PE" dirty="0">
                <a:solidFill>
                  <a:srgbClr val="FF0000"/>
                </a:solidFill>
              </a:rPr>
              <a:t>1.4.2 Objetivos específicos</a:t>
            </a:r>
          </a:p>
          <a:p>
            <a:pPr lvl="1"/>
            <a:r>
              <a:rPr lang="es-PE" dirty="0"/>
              <a:t>II. MARCO TEORICO</a:t>
            </a:r>
          </a:p>
          <a:p>
            <a:pPr lvl="1"/>
            <a:r>
              <a:rPr lang="es-PE" dirty="0"/>
              <a:t>III, HIPOTESIS DE LA INVESTIGACIÓN</a:t>
            </a:r>
          </a:p>
          <a:p>
            <a:pPr lvl="1"/>
            <a:r>
              <a:rPr lang="es-PE" dirty="0"/>
              <a:t>IV. METODOLOGÍA DE LA INVESTIGACION</a:t>
            </a:r>
          </a:p>
          <a:p>
            <a:pPr lvl="1"/>
            <a:r>
              <a:rPr lang="es-PE" dirty="0"/>
              <a:t>V. PRESUPUESTO</a:t>
            </a:r>
          </a:p>
          <a:p>
            <a:pPr lvl="1"/>
            <a:r>
              <a:rPr lang="es-PE" dirty="0"/>
              <a:t>VI. CRONOGRAMA DE INVESTIGACIÓN</a:t>
            </a:r>
          </a:p>
          <a:p>
            <a:pPr lvl="1"/>
            <a:r>
              <a:rPr lang="es-PE" dirty="0">
                <a:solidFill>
                  <a:srgbClr val="FF0000"/>
                </a:solidFill>
              </a:rPr>
              <a:t>VII. REFERENCIAS BIBLIOGRÁFICAS</a:t>
            </a:r>
          </a:p>
          <a:p>
            <a:pPr lvl="1"/>
            <a:r>
              <a:rPr lang="es-PE" dirty="0"/>
              <a:t>ANEXOS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483E2CCB-D319-0B60-2477-D873C9D516E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004482" y="2265573"/>
            <a:ext cx="4349318" cy="1603375"/>
          </a:xfrm>
        </p:spPr>
        <p:txBody>
          <a:bodyPr anchor="ctr">
            <a:normAutofit fontScale="85000" lnSpcReduction="20000"/>
          </a:bodyPr>
          <a:lstStyle/>
          <a:p>
            <a:r>
              <a:rPr lang="es-PE" sz="2000" dirty="0"/>
              <a:t>Identifique e incluya en el Plan de investigación Económica 30 documentos que su grupo aplicará en la investigación que está realizando. </a:t>
            </a:r>
          </a:p>
          <a:p>
            <a:r>
              <a:rPr lang="es-PE" sz="2000" dirty="0"/>
              <a:t>Los documentos deben ser desde el año 2015 hasta 2025.</a:t>
            </a:r>
          </a:p>
          <a:p>
            <a:r>
              <a:rPr lang="es-PE" sz="2000" dirty="0"/>
              <a:t>Aplique las normas APA, Séptima edición.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01AF27D9-2132-DB48-7880-FFE1CF50C838}"/>
              </a:ext>
            </a:extLst>
          </p:cNvPr>
          <p:cNvSpPr txBox="1"/>
          <p:nvPr/>
        </p:nvSpPr>
        <p:spPr>
          <a:xfrm>
            <a:off x="5777609" y="5741015"/>
            <a:ext cx="609456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PE" sz="1200" dirty="0">
                <a:hlinkClick r:id="rId2"/>
              </a:rPr>
              <a:t>https://upg.administracion.unmsm.edu.pe/images/tesis/DIRECTIVA-080-TESIS.pdf</a:t>
            </a:r>
            <a:endParaRPr lang="es-PE" sz="1200" dirty="0"/>
          </a:p>
          <a:p>
            <a:endParaRPr lang="es-PE" sz="1200" dirty="0"/>
          </a:p>
        </p:txBody>
      </p:sp>
    </p:spTree>
    <p:extLst>
      <p:ext uri="{BB962C8B-B14F-4D97-AF65-F5344CB8AC3E}">
        <p14:creationId xmlns:p14="http://schemas.microsoft.com/office/powerpoint/2010/main" val="2292111004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ción">
  <a:themeElements>
    <a:clrScheme name="Retrospección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Retrospección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ción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4452</TotalTime>
  <Words>737</Words>
  <Application>Microsoft Office PowerPoint</Application>
  <PresentationFormat>Panorámica</PresentationFormat>
  <Paragraphs>82</Paragraphs>
  <Slides>12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12</vt:i4>
      </vt:variant>
    </vt:vector>
  </HeadingPairs>
  <TitlesOfParts>
    <vt:vector size="18" baseType="lpstr">
      <vt:lpstr>Arial</vt:lpstr>
      <vt:lpstr>Calibri</vt:lpstr>
      <vt:lpstr>Calibri Light</vt:lpstr>
      <vt:lpstr>Convergence</vt:lpstr>
      <vt:lpstr>Roboto</vt:lpstr>
      <vt:lpstr>Retrospección</vt:lpstr>
      <vt:lpstr>TEMA 4:  LAS REFERENCIAS BIBLIOGRAFICAS</vt:lpstr>
      <vt:lpstr>Impacto de los fondos  en el mercado de capitales peruano 2010 - 2022</vt:lpstr>
      <vt:lpstr>EJEMPLOS DE REFERENCIAS BIBLIOGRÁFICAS</vt:lpstr>
      <vt:lpstr>REVISIÓN BIBLIOGRAFICA</vt:lpstr>
      <vt:lpstr>LO QUE PERMITE LA REVISION BIBLIOGRAFICA</vt:lpstr>
      <vt:lpstr>LOS LOGROS DE LA REVISIÓN</vt:lpstr>
      <vt:lpstr>IMPORTANCIA DE LAS REFERENCIAS BIBLIOGRÁFICAS</vt:lpstr>
      <vt:lpstr>LA REFERENCIA BIBLIOGRAFICA</vt:lpstr>
      <vt:lpstr>MOTIVOS DE LA REFERENCIA BIBLIOGRAFICA</vt:lpstr>
      <vt:lpstr>GESTORES BIBLIOGRAFICOS</vt:lpstr>
      <vt:lpstr>CITAS Y REFERENCIAS. USO.</vt:lpstr>
      <vt:lpstr>TAREA 4: REFERENCIAS BIBLIOGRAFICAS (como parte del plan de investigación)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CURSO METODOLOGIA DE LA INVESTIGACION ECONÓMICA</dc:title>
  <dc:creator>pedro barrientos</dc:creator>
  <cp:lastModifiedBy>UlisexxX</cp:lastModifiedBy>
  <cp:revision>31</cp:revision>
  <dcterms:created xsi:type="dcterms:W3CDTF">2022-09-14T15:10:21Z</dcterms:created>
  <dcterms:modified xsi:type="dcterms:W3CDTF">2026-01-21T15:20:44Z</dcterms:modified>
</cp:coreProperties>
</file>