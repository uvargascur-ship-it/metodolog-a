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33" r:id="rId2"/>
    <p:sldId id="757" r:id="rId3"/>
    <p:sldId id="758" r:id="rId4"/>
    <p:sldId id="749" r:id="rId5"/>
    <p:sldId id="752" r:id="rId6"/>
    <p:sldId id="750" r:id="rId7"/>
    <p:sldId id="751" r:id="rId8"/>
    <p:sldId id="756" r:id="rId9"/>
    <p:sldId id="753" r:id="rId10"/>
    <p:sldId id="755" r:id="rId11"/>
    <p:sldId id="754" r:id="rId12"/>
    <p:sldId id="74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8" autoAdjust="0"/>
    <p:restoredTop sz="94660"/>
  </p:normalViewPr>
  <p:slideViewPr>
    <p:cSldViewPr snapToGrid="0">
      <p:cViewPr varScale="1">
        <p:scale>
          <a:sx n="84" d="100"/>
          <a:sy n="84" d="100"/>
        </p:scale>
        <p:origin x="76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39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101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55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536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9969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2149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40453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9792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131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9377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406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24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scielo.org.mx/pdf/ib/v31n71/2448-8321-ib-31-71-00151.pdf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riunet.upv.es/bitstream/handle/10251/45679/TFM_Mar%EDa%20Jes%FAs%20Gadea.pdf?sequence=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lo.org.mx/pdf/ib/v31n71/2448-8321-ib-31-71-00151.pdf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lo.org.mx/pdf/ib/v31n71/2448-8321-ib-31-71-00151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scielo.org.mx/pdf/ib/v31n71/2448-8321-ib-31-71-00151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riunet.upv.es/bitstream/handle/10251/18996/Bellas%20Artes_24_01_2013_P_2_REFERENCIAS_BIBLIOGR%C3%81FICAS.pdf?sequence=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ibliotecaminsal.cl/wp/wp-content/uploads/2015/06/Mercedes-Fernandez-Menendez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eisys.es/noticias/la-importancia-de-una-bibliografia-correcta-y-como-conseguirlo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uiasbus.us.es/gestoresbibliograficos/porquecitar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upg.administracion.unmsm.edu.pe/images/tesis/DIRECTIVA-080-TESIS.pdf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87E447-5764-0A7D-8227-BED4ACC948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PE" sz="3600" dirty="0"/>
              <a:t>TEMA 4: </a:t>
            </a:r>
            <a:br>
              <a:rPr lang="es-PE" sz="3600" dirty="0"/>
            </a:br>
            <a:r>
              <a:rPr lang="es-PE" sz="3600" dirty="0"/>
              <a:t>LAS REFERENCIAS BIBLIOGRAFICAS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28C09AEE-2084-F8D3-598F-B5D0FBAB0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390" y="5118604"/>
            <a:ext cx="10998820" cy="1655762"/>
          </a:xfrm>
        </p:spPr>
        <p:txBody>
          <a:bodyPr anchor="ctr">
            <a:normAutofit/>
          </a:bodyPr>
          <a:lstStyle/>
          <a:p>
            <a:pPr algn="l"/>
            <a:r>
              <a:rPr lang="es-PE" sz="1400" dirty="0"/>
              <a:t>Fuente: Martin, s. &amp; Lafuente, V. (2017). Referencias bibliográficas: indicadores para su evaluación en trabajos científicos. Investigación bibliotecológica, vol. 31, </a:t>
            </a:r>
            <a:r>
              <a:rPr lang="es-PE" sz="1400" dirty="0" err="1"/>
              <a:t>num</a:t>
            </a:r>
            <a:r>
              <a:rPr lang="es-PE" sz="1400" dirty="0"/>
              <a:t>. 71. México. </a:t>
            </a:r>
            <a:r>
              <a:rPr lang="es-PE" sz="1400" dirty="0">
                <a:hlinkClick r:id="rId2"/>
              </a:rPr>
              <a:t>https://www.scielo.org.mx/pdf/ib/v31n71/2448-8321-ib-31-71-00151.pdf</a:t>
            </a:r>
            <a:endParaRPr lang="es-PE" sz="1400" dirty="0"/>
          </a:p>
          <a:p>
            <a:pPr algn="l"/>
            <a:endParaRPr lang="es-PE" sz="1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5BF4C27-D08E-6A9A-1D1B-183697E66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647643"/>
            <a:ext cx="2389839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74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789F0-5F79-EB3D-C194-E1C00F0E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2800" dirty="0">
                <a:solidFill>
                  <a:srgbClr val="202124"/>
                </a:solidFill>
                <a:latin typeface="Roboto" panose="02000000000000000000" pitchFamily="2" charset="0"/>
              </a:rPr>
              <a:t>Impacto de los fondos  en el mercado de capitales peruano 2010 - 2022</a:t>
            </a:r>
            <a:endParaRPr lang="es-PE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3BFC13-947C-B97D-36F3-0DA3D0BC8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91400" cy="4583058"/>
          </a:xfrm>
        </p:spPr>
        <p:txBody>
          <a:bodyPr anchor="ctr">
            <a:normAutofit fontScale="6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PE" dirty="0"/>
              <a:t>II. MARCO TEORICO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PE" dirty="0"/>
              <a:t>	2.1 Antecedentes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PE" dirty="0"/>
              <a:t>	2.2 Marco teórico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PE" dirty="0"/>
              <a:t>		2.2.1 Mercado de capitales peruano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PE" dirty="0"/>
              <a:t>		2.2.2 Fondos de fondos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PE" dirty="0"/>
              <a:t>		2.2.3 Fondos de Fondos en el periodo COVID 19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PE" dirty="0"/>
              <a:t>		2.2.4 Experiencias de los fondos de fondos en Latinoamérica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PE" dirty="0"/>
              <a:t>		2.2.5 Organismos reguladores de los fondos de fondos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PE" dirty="0"/>
              <a:t>	2.2 Marco conceptual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PE" dirty="0"/>
              <a:t>		(relación de conceptos, definiciones de conceptos y reconocimiento del autor)</a:t>
            </a:r>
          </a:p>
        </p:txBody>
      </p:sp>
      <p:sp>
        <p:nvSpPr>
          <p:cNvPr id="4" name="Cerrar llave 3">
            <a:extLst>
              <a:ext uri="{FF2B5EF4-FFF2-40B4-BE49-F238E27FC236}">
                <a16:creationId xmlns:a16="http://schemas.microsoft.com/office/drawing/2014/main" id="{DF2541BF-DC47-8F03-17CE-D4EB7DA0C686}"/>
              </a:ext>
            </a:extLst>
          </p:cNvPr>
          <p:cNvSpPr/>
          <p:nvPr/>
        </p:nvSpPr>
        <p:spPr>
          <a:xfrm>
            <a:off x="7899187" y="3496235"/>
            <a:ext cx="245889" cy="25357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FEB809-D7B1-4DBA-9988-0B0141185577}"/>
              </a:ext>
            </a:extLst>
          </p:cNvPr>
          <p:cNvSpPr txBox="1"/>
          <p:nvPr/>
        </p:nvSpPr>
        <p:spPr>
          <a:xfrm>
            <a:off x="8644538" y="4625788"/>
            <a:ext cx="1721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Un esquema tentativo</a:t>
            </a:r>
          </a:p>
        </p:txBody>
      </p:sp>
    </p:spTree>
    <p:extLst>
      <p:ext uri="{BB962C8B-B14F-4D97-AF65-F5344CB8AC3E}">
        <p14:creationId xmlns:p14="http://schemas.microsoft.com/office/powerpoint/2010/main" val="411337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7AEAA-45A5-97FF-25D1-514CA5B1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2800" dirty="0"/>
              <a:t>EJEMPLOS DE REFERENCIAS BIBLIOGRÁFICAS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8AE510-0EEF-3DE9-D39D-2182997A6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000" dirty="0"/>
              <a:t>Gadea Moya, M. J. (2014). Caracterización del capital riesgo impacto de FOND-ICO Global, primer fondo de fondos público español. </a:t>
            </a:r>
            <a:r>
              <a:rPr lang="es-MX" sz="2000" dirty="0">
                <a:hlinkClick r:id="rId2"/>
              </a:rPr>
              <a:t>https://riunet.upv.es/bitstream/handle/10251/45679/TFM_Mar%EDa%20Jes%FAs%20Gadea.pdf?sequence=1</a:t>
            </a:r>
            <a:endParaRPr lang="es-MX" sz="2000" dirty="0"/>
          </a:p>
          <a:p>
            <a:r>
              <a:rPr lang="es-MX" sz="2000" dirty="0"/>
              <a:t>Irazusta, P., Sánchez </a:t>
            </a:r>
            <a:r>
              <a:rPr lang="es-MX" sz="2000" dirty="0" err="1"/>
              <a:t>Monjo</a:t>
            </a:r>
            <a:r>
              <a:rPr lang="es-MX" sz="2000" dirty="0"/>
              <a:t>, M., &amp; Posadas, C. (2020). Los fondos de fondos de capital riesgo: análisis regulatorio y fiscal. Revista Española de Capital Riesgo, (1). https://web.s.ebscohost.com/abstract?direct=true&amp;profile=ehost&amp;scope=site&amp;authtype=crawler&amp;jrnl=18872697&amp;AN=143487070&amp;h=200F7yMOhBn9xsMt4nts9MaYl2hTkbXrwr0aFOzrJ9Wv1JLxtUcBSRbAFKsTE78HsoElXajo4ya889OF%2fclQvQ%3d%3d&amp;crl=c&amp;resultNs=AdminWebAuth&amp;resultLocal=ErrCrlNotAuth&amp;crlhashurl=login.aspx%3fdirect%3dtrue%26profile%3dehost%26scope%3dsite%26authtype%3dcrawler%26jrnl%3d18872697%26AN%3d143487070</a:t>
            </a:r>
          </a:p>
          <a:p>
            <a:endParaRPr lang="es-MX" sz="2000" dirty="0"/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2155606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43DB5D2-AA22-8594-5172-F307616EB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2850652"/>
            <a:ext cx="5524500" cy="33996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75868C-F0B0-8F45-84E9-E1915DAF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2800" dirty="0"/>
              <a:t>REVISIÓN BIBLIOGRAFICA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ADF276-13D0-2DD1-7715-1E1CB8AAD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952" y="1741786"/>
            <a:ext cx="6790677" cy="3503074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s-MX" sz="2000" dirty="0"/>
              <a:t>La revisión bibliográfica constituye una etapa esencial en el desarrollo de un trabajo científico y académico. Implica consultar distintas fuentes de información (catálogos, bases de datos, buscadores, repositorios, etc.) y recuperar documentos en distintos formatos. Este proceso también es conocido como búsqueda documental, revisión de antecedentes o investigación bibliográfica o documental.</a:t>
            </a:r>
            <a:endParaRPr lang="es-PE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25F781-D506-B117-2110-D833B8EDDB43}"/>
              </a:ext>
            </a:extLst>
          </p:cNvPr>
          <p:cNvSpPr txBox="1"/>
          <p:nvPr/>
        </p:nvSpPr>
        <p:spPr>
          <a:xfrm>
            <a:off x="268549" y="5988734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hlinkClick r:id="rId3"/>
              </a:rPr>
              <a:t>https://www.scielo.org.mx/pdf/ib/v31n71/2448-8321-ib-31-71-00151.pdf</a:t>
            </a:r>
            <a:endParaRPr lang="es-PE" sz="1400" dirty="0"/>
          </a:p>
          <a:p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9048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562BD-D5FA-0F2D-166B-84211E50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2800" dirty="0"/>
              <a:t>LO QUE PERMITE LA REVISION BIBLIOGRAFICA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512766-BCA2-DA1D-7A8A-296305666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098" y="2757221"/>
            <a:ext cx="6231673" cy="247874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2000" dirty="0"/>
              <a:t>A partir de esa revisión bibliográfica, el investigador va construyendo el marco teórico, documentando antecedentes y elaborando la bibliografía que se incluye al final de un trabajo científico o académico. Las bibliografías permiten, entre otros aspectos: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2A22FED-DFD1-538D-E81C-48CD6430CFC5}"/>
              </a:ext>
            </a:extLst>
          </p:cNvPr>
          <p:cNvSpPr txBox="1"/>
          <p:nvPr/>
        </p:nvSpPr>
        <p:spPr>
          <a:xfrm>
            <a:off x="5390965" y="6260496"/>
            <a:ext cx="6094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hlinkClick r:id="rId2"/>
              </a:rPr>
              <a:t>https://www.scielo.org.mx/pdf/ib/v31n71/2448-8321-ib-31-71-00151.pdf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415512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562BD-D5FA-0F2D-166B-84211E50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PE" sz="2800" dirty="0"/>
              <a:t>LOS LOGROS DE LA REVISIÓN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512766-BCA2-DA1D-7A8A-296305666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878509"/>
            <a:ext cx="8238945" cy="422036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000" dirty="0"/>
              <a:t>Garantizar que el investigador se ha documentado correctamente.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Identificar las fuentes originales de conceptos, métodos y técnicas provenientes de investigaciones, estudios y experiencias anteriores.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Apoyar los hechos y opiniones que el autor quiere expresar.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Ofrecer un sustento teórico.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Orientar al lector interesado a informarse con mayor detalle sobre aspectos del contenido del documento.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Permitir que, a partir de éstas, otros autores puedan investigar otros aspectos subyacentes de una determinada investigación.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No investigar lo ya investigado.</a:t>
            </a:r>
            <a:endParaRPr lang="es-PE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2A22FED-DFD1-538D-E81C-48CD6430CFC5}"/>
              </a:ext>
            </a:extLst>
          </p:cNvPr>
          <p:cNvSpPr txBox="1"/>
          <p:nvPr/>
        </p:nvSpPr>
        <p:spPr>
          <a:xfrm>
            <a:off x="5390965" y="6260496"/>
            <a:ext cx="6094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hlinkClick r:id="rId2"/>
              </a:rPr>
              <a:t>https://www.scielo.org.mx/pdf/ib/v31n71/2448-8321-ib-31-71-00151.pdf</a:t>
            </a:r>
            <a:endParaRPr lang="es-PE" sz="1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D14757E-859B-8C56-5362-A52D760F4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105" y="2013841"/>
            <a:ext cx="4071523" cy="478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21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C3296-902F-C837-FBA6-AA42DCA6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PE" sz="2800" dirty="0"/>
              <a:t>IMPORTANCIA DE LAS REFERENCIAS BIBLIOGRÁFICAS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124D50-14BD-2353-C4CD-E14723FD6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25625"/>
            <a:ext cx="10058400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2000" dirty="0"/>
              <a:t>La bibliografía, si bien constituye el último ítem de un trabajo de investigación, se comienza a elaborar apenas se define el tema y se empieza a buscar documentación. El investigador, a medida que avanza en su proyecto, debe ir documentando cada una de las fuentes de información utilizadas.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2000" dirty="0"/>
              <a:t>Determinar la cantidad óptima de citas, el tipo de documentos a citar o las formas de citación dentro del texto son algunos de los aspectos más frecuentes que debe enfrentar todo investigador.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1406081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B6EA9-B773-3F16-1242-9BE8F4F0A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PE" sz="2800" dirty="0"/>
              <a:t>LA REFERENCIA BIBLIOGRAFICA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AB5211-2B4D-49EC-7BCB-58B9A0E1C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25625"/>
            <a:ext cx="10256519" cy="3622675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Las referencias bibliográficas constituyen un elemento esencial para garantizar la rigurosidad y el carácter científico de una publicación. </a:t>
            </a:r>
          </a:p>
          <a:p>
            <a:pPr>
              <a:lnSpc>
                <a:spcPct val="150000"/>
              </a:lnSpc>
            </a:pPr>
            <a:r>
              <a:rPr lang="es-MX" b="1" dirty="0"/>
              <a:t>Referencia bibliográfica </a:t>
            </a:r>
            <a:r>
              <a:rPr lang="es-MX" dirty="0"/>
              <a:t>es la fuente consultada y utilizada para la investigación, que es citada de forma individual en relación con algún elemento mencionado en el texto.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Bibliografía</a:t>
            </a:r>
            <a:r>
              <a:rPr lang="es-MX" dirty="0"/>
              <a:t> es el listado completo de las fuentes (impresas o electrónicas) citadas en un trabajo (referencias bibliográficas). Se suelen presentar al final del mismo, ordenadas de forma alfabética o secuencial.</a:t>
            </a:r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7AEC23-6408-C926-C7C3-EA2383B589D9}"/>
              </a:ext>
            </a:extLst>
          </p:cNvPr>
          <p:cNvSpPr txBox="1"/>
          <p:nvPr/>
        </p:nvSpPr>
        <p:spPr>
          <a:xfrm>
            <a:off x="1029629" y="5666423"/>
            <a:ext cx="6094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hlinkClick r:id="rId2"/>
              </a:rPr>
              <a:t>https://riunet.upv.es/bitstream/handle/10251/18996/Bellas%20Artes_24_01_2013_P_2_REFERENCIAS_BIBLIOGR%C3%81FICAS.pdf?sequence=3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84103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772C9-02E5-FE1A-8F76-E20B0D8C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PE" sz="2800" dirty="0"/>
              <a:t>MOTIVOS DE LA REFERENCIA BIBLIOGRAFICA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65228C-9032-91D1-5825-E6D656A8D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792171"/>
            <a:ext cx="6995160" cy="4351338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MX" sz="2400" dirty="0"/>
              <a:t>Dar a conocer trabajos previamente publicados que sirven de apoyatura a las informaciones, tesis, teorías etc. que mantenemos. </a:t>
            </a:r>
          </a:p>
          <a:p>
            <a:pPr>
              <a:lnSpc>
                <a:spcPct val="150000"/>
              </a:lnSpc>
            </a:pPr>
            <a:r>
              <a:rPr lang="es-MX" sz="2400" dirty="0"/>
              <a:t>Dar fiabilidad a nuestro trabajo documentado el origen de las afirmaciones y contenidos y permitiendo su verificación. </a:t>
            </a:r>
          </a:p>
          <a:p>
            <a:pPr>
              <a:lnSpc>
                <a:spcPct val="150000"/>
              </a:lnSpc>
            </a:pPr>
            <a:r>
              <a:rPr lang="es-MX" sz="2400" dirty="0"/>
              <a:t>Reconocer los méritos ajenos impidiendo el plagio.</a:t>
            </a:r>
          </a:p>
          <a:p>
            <a:pPr>
              <a:lnSpc>
                <a:spcPct val="150000"/>
              </a:lnSpc>
            </a:pPr>
            <a:r>
              <a:rPr lang="es-MX" sz="2400" dirty="0"/>
              <a:t>Permitir al lector ampliar determinados apartados del trabajo. </a:t>
            </a:r>
            <a:endParaRPr lang="es-PE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6CA0F2-C860-47F1-2C00-36ACC1EC5097}"/>
              </a:ext>
            </a:extLst>
          </p:cNvPr>
          <p:cNvSpPr txBox="1"/>
          <p:nvPr/>
        </p:nvSpPr>
        <p:spPr>
          <a:xfrm>
            <a:off x="8263684" y="2332558"/>
            <a:ext cx="38360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hlinkClick r:id="rId2"/>
              </a:rPr>
              <a:t>http://www.bibliotecaminsal.cl/wp/wp-content/uploads/2015/06/Mercedes-Fernandez-Menendez.pdf</a:t>
            </a:r>
            <a:endParaRPr lang="es-PE" sz="1400" dirty="0"/>
          </a:p>
          <a:p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258139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1591F-F7EB-7C0B-5665-9BD25333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PE" sz="2800" dirty="0"/>
              <a:t>GESTORES BIBLIOGRAFICOS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369219-14A7-E8B8-3A61-736B4A09D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580" y="1825625"/>
            <a:ext cx="10142219" cy="2921635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s-MX" sz="2000" b="0" i="0" dirty="0">
                <a:solidFill>
                  <a:srgbClr val="555555"/>
                </a:solidFill>
                <a:effectLst/>
                <a:latin typeface="Convergence"/>
              </a:rPr>
              <a:t>Los </a:t>
            </a:r>
            <a:r>
              <a:rPr lang="es-MX" sz="2000" b="1" i="0" dirty="0">
                <a:solidFill>
                  <a:srgbClr val="555555"/>
                </a:solidFill>
                <a:effectLst/>
                <a:latin typeface="Convergence"/>
              </a:rPr>
              <a:t>gestores bibliográficos</a:t>
            </a:r>
            <a:r>
              <a:rPr lang="es-MX" sz="2000" b="0" i="0" dirty="0">
                <a:solidFill>
                  <a:srgbClr val="555555"/>
                </a:solidFill>
                <a:effectLst/>
                <a:latin typeface="Convergence"/>
              </a:rPr>
              <a:t> son herramientas que recogen las referencias bibliográficas de las bases de datos de investigación y permiten organizar las citas y la bibliografía para tus proyectos.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MX" sz="2000" b="0" i="0" dirty="0">
                <a:solidFill>
                  <a:srgbClr val="555555"/>
                </a:solidFill>
                <a:effectLst/>
                <a:latin typeface="Convergence"/>
              </a:rPr>
              <a:t>Facilitan la intercalación de las referencias seleccionadas en los manuscritos; sirven de interfases para las búsquedas directas en algunos sistemas, y facilitan el trabajo colaborativo a través del intercambio de bibliografías.</a:t>
            </a:r>
            <a:endParaRPr lang="es-PE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42D03C0-29E4-46D2-100D-D9DD2A41D3E0}"/>
              </a:ext>
            </a:extLst>
          </p:cNvPr>
          <p:cNvSpPr txBox="1"/>
          <p:nvPr/>
        </p:nvSpPr>
        <p:spPr>
          <a:xfrm>
            <a:off x="493442" y="5573236"/>
            <a:ext cx="36994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hlinkClick r:id="rId2"/>
              </a:rPr>
              <a:t>https://meisys.es/noticias/la-importancia-de-una-bibliografia-correcta-y-como-conseguirlo/</a:t>
            </a:r>
            <a:endParaRPr lang="es-PE" sz="1400" dirty="0"/>
          </a:p>
          <a:p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251628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09C57-D12D-BF0C-6D18-35904B5F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PE" sz="2800" dirty="0"/>
              <a:t>CITAS Y REFERENCIAS. USO.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13CA0E3-81AD-C984-E846-5FE4F87E5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727380"/>
            <a:ext cx="9997440" cy="361424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Dar crédito a las ideas ajenas que usemos en un trabajo.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En un sentido amplio, unen un trabajo actual con uno anterior.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Evitar  el plagio.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Identificar la publicación de la que fue tomado el tema o la idea referida en el texto.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Facilitar la búsqueda de la fuente a los lectores del documento (para entender la idea, analizar los métodos empleados, localizar datos concretos).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En general: para encontrar un documento en un catálogo de biblioteca, en una librería, en una base de datos y también para enlazar con documentos electrónicos.</a:t>
            </a:r>
          </a:p>
          <a:p>
            <a:pPr>
              <a:lnSpc>
                <a:spcPct val="150000"/>
              </a:lnSpc>
            </a:pPr>
            <a:endParaRPr lang="es-PE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D2B0464-13CB-7CA6-9B25-A2421FAAE578}"/>
              </a:ext>
            </a:extLst>
          </p:cNvPr>
          <p:cNvSpPr txBox="1"/>
          <p:nvPr/>
        </p:nvSpPr>
        <p:spPr>
          <a:xfrm>
            <a:off x="1097280" y="5579395"/>
            <a:ext cx="4470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hlinkClick r:id="rId2"/>
              </a:rPr>
              <a:t>https://guiasbus.us.es/gestoresbibliograficos/porquecitar</a:t>
            </a:r>
            <a:endParaRPr lang="es-PE" sz="1400" dirty="0"/>
          </a:p>
          <a:p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2718120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67E8A-F9D2-39DE-8EDD-FE4A5B78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s-PE" sz="2800" dirty="0"/>
              <a:t>TAREA 4: REFERENCIAS BIBLIOGRAFICAS</a:t>
            </a:r>
            <a:br>
              <a:rPr lang="es-PE" sz="2800" dirty="0"/>
            </a:br>
            <a:r>
              <a:rPr lang="es-PE" sz="1600" dirty="0"/>
              <a:t>(como parte del plan de investigación)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D0A325-9017-D585-2FD8-8F2C44A47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356946"/>
          </a:xfrm>
        </p:spPr>
        <p:txBody>
          <a:bodyPr anchor="ctr">
            <a:normAutofit fontScale="85000" lnSpcReduction="20000"/>
          </a:bodyPr>
          <a:lstStyle/>
          <a:p>
            <a:pPr lvl="1"/>
            <a:r>
              <a:rPr lang="es-PE" dirty="0">
                <a:solidFill>
                  <a:srgbClr val="FF0000"/>
                </a:solidFill>
              </a:rPr>
              <a:t>I. PLANTEAMIENTO DEL PROBLEMA</a:t>
            </a:r>
          </a:p>
          <a:p>
            <a:pPr lvl="2"/>
            <a:r>
              <a:rPr lang="es-PE" dirty="0">
                <a:solidFill>
                  <a:srgbClr val="FF0000"/>
                </a:solidFill>
              </a:rPr>
              <a:t>1.1 Análisis del contexto</a:t>
            </a:r>
          </a:p>
          <a:p>
            <a:pPr lvl="2"/>
            <a:r>
              <a:rPr lang="es-PE" dirty="0">
                <a:solidFill>
                  <a:srgbClr val="FF0000"/>
                </a:solidFill>
              </a:rPr>
              <a:t>1.2 Formulación del problema</a:t>
            </a:r>
          </a:p>
          <a:p>
            <a:pPr lvl="3"/>
            <a:r>
              <a:rPr lang="es-PE" dirty="0">
                <a:solidFill>
                  <a:srgbClr val="FF0000"/>
                </a:solidFill>
              </a:rPr>
              <a:t>1.2.1 Problema principal</a:t>
            </a:r>
          </a:p>
          <a:p>
            <a:pPr lvl="3"/>
            <a:r>
              <a:rPr lang="es-PE" dirty="0">
                <a:solidFill>
                  <a:srgbClr val="FF0000"/>
                </a:solidFill>
              </a:rPr>
              <a:t>1.2.2.Problemas específicos</a:t>
            </a:r>
          </a:p>
          <a:p>
            <a:pPr lvl="2"/>
            <a:r>
              <a:rPr lang="es-PE" dirty="0">
                <a:solidFill>
                  <a:srgbClr val="FF0000"/>
                </a:solidFill>
              </a:rPr>
              <a:t>1.3 Justificación de la investigación</a:t>
            </a:r>
          </a:p>
          <a:p>
            <a:pPr lvl="3"/>
            <a:r>
              <a:rPr lang="es-PE" dirty="0">
                <a:solidFill>
                  <a:srgbClr val="FF0000"/>
                </a:solidFill>
              </a:rPr>
              <a:t>1.3.1 Justificación Teórica</a:t>
            </a:r>
          </a:p>
          <a:p>
            <a:pPr lvl="3"/>
            <a:r>
              <a:rPr lang="es-PE" dirty="0">
                <a:solidFill>
                  <a:srgbClr val="FF0000"/>
                </a:solidFill>
              </a:rPr>
              <a:t>1.3.2 Justificación práctica</a:t>
            </a:r>
          </a:p>
          <a:p>
            <a:pPr lvl="3"/>
            <a:r>
              <a:rPr lang="es-PE" dirty="0">
                <a:solidFill>
                  <a:srgbClr val="FF0000"/>
                </a:solidFill>
              </a:rPr>
              <a:t>1.3.3 Justificación metodológica</a:t>
            </a:r>
          </a:p>
          <a:p>
            <a:pPr lvl="2"/>
            <a:r>
              <a:rPr lang="es-PE" dirty="0">
                <a:solidFill>
                  <a:srgbClr val="FF0000"/>
                </a:solidFill>
              </a:rPr>
              <a:t>1.4 Objetivos de la investigación</a:t>
            </a:r>
          </a:p>
          <a:p>
            <a:pPr lvl="3"/>
            <a:r>
              <a:rPr lang="es-PE" dirty="0">
                <a:solidFill>
                  <a:srgbClr val="FF0000"/>
                </a:solidFill>
              </a:rPr>
              <a:t>1.4.1 Objetivo principal</a:t>
            </a:r>
          </a:p>
          <a:p>
            <a:pPr lvl="3"/>
            <a:r>
              <a:rPr lang="es-PE" dirty="0">
                <a:solidFill>
                  <a:srgbClr val="FF0000"/>
                </a:solidFill>
              </a:rPr>
              <a:t>1.4.2 Objetivos específicos</a:t>
            </a:r>
          </a:p>
          <a:p>
            <a:pPr lvl="1"/>
            <a:r>
              <a:rPr lang="es-PE" dirty="0"/>
              <a:t>II. MARCO TEORICO</a:t>
            </a:r>
          </a:p>
          <a:p>
            <a:pPr lvl="1"/>
            <a:r>
              <a:rPr lang="es-PE" dirty="0"/>
              <a:t>III, HIPOTESIS DE LA INVESTIGACIÓN</a:t>
            </a:r>
          </a:p>
          <a:p>
            <a:pPr lvl="1"/>
            <a:r>
              <a:rPr lang="es-PE" dirty="0"/>
              <a:t>IV. METODOLOGÍA DE LA INVESTIGACION</a:t>
            </a:r>
          </a:p>
          <a:p>
            <a:pPr lvl="1"/>
            <a:r>
              <a:rPr lang="es-PE" dirty="0"/>
              <a:t>V. PRESUPUESTO</a:t>
            </a:r>
          </a:p>
          <a:p>
            <a:pPr lvl="1"/>
            <a:r>
              <a:rPr lang="es-PE" dirty="0"/>
              <a:t>VI. CRONOGRAMA DE INVESTIGACIÓN</a:t>
            </a:r>
          </a:p>
          <a:p>
            <a:pPr lvl="1"/>
            <a:r>
              <a:rPr lang="es-PE" dirty="0">
                <a:solidFill>
                  <a:srgbClr val="FF0000"/>
                </a:solidFill>
              </a:rPr>
              <a:t>VII. REFERENCIAS BIBLIOGRÁFICAS</a:t>
            </a:r>
          </a:p>
          <a:p>
            <a:pPr lvl="1"/>
            <a:r>
              <a:rPr lang="es-PE" dirty="0"/>
              <a:t>ANEXOS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83E2CCB-D319-0B60-2477-D873C9D51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04482" y="2265573"/>
            <a:ext cx="4349318" cy="1603375"/>
          </a:xfrm>
        </p:spPr>
        <p:txBody>
          <a:bodyPr anchor="ctr">
            <a:normAutofit fontScale="85000" lnSpcReduction="20000"/>
          </a:bodyPr>
          <a:lstStyle/>
          <a:p>
            <a:r>
              <a:rPr lang="es-PE" sz="2000" dirty="0"/>
              <a:t>Identifique e incluya en el Plan de investigación Económica 30 documentos que su grupo aplicará en la investigación que está realizando. </a:t>
            </a:r>
          </a:p>
          <a:p>
            <a:r>
              <a:rPr lang="es-PE" sz="2000" dirty="0"/>
              <a:t>Los documentos deben ser desde el año 2015 hasta 2025.</a:t>
            </a:r>
          </a:p>
          <a:p>
            <a:r>
              <a:rPr lang="es-PE" sz="2000" dirty="0"/>
              <a:t>Aplique las normas APA, Séptima edición.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AF27D9-2132-DB48-7880-FFE1CF50C838}"/>
              </a:ext>
            </a:extLst>
          </p:cNvPr>
          <p:cNvSpPr txBox="1"/>
          <p:nvPr/>
        </p:nvSpPr>
        <p:spPr>
          <a:xfrm>
            <a:off x="5777609" y="5741015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dirty="0">
                <a:hlinkClick r:id="rId2"/>
              </a:rPr>
              <a:t>https://upg.administracion.unmsm.edu.pe/images/tesis/DIRECTIVA-080-TESIS.pdf</a:t>
            </a:r>
            <a:endParaRPr lang="es-PE" sz="1200" dirty="0"/>
          </a:p>
          <a:p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22921110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3394</TotalTime>
  <Words>1228</Words>
  <Application>Microsoft Office PowerPoint</Application>
  <PresentationFormat>Panorámica</PresentationFormat>
  <Paragraphs>82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Convergence</vt:lpstr>
      <vt:lpstr>Roboto</vt:lpstr>
      <vt:lpstr>Retrospección</vt:lpstr>
      <vt:lpstr>TEMA 4:  LAS REFERENCIAS BIBLIOGRAFICAS</vt:lpstr>
      <vt:lpstr>Impacto de los fondos  en el mercado de capitales peruano 2010 - 2022</vt:lpstr>
      <vt:lpstr>EJEMPLOS DE REFERENCIAS BIBLIOGRÁFICAS</vt:lpstr>
      <vt:lpstr>REVISIÓN BIBLIOGRAFICA</vt:lpstr>
      <vt:lpstr>LO QUE PERMITE LA REVISION BIBLIOGRAFICA</vt:lpstr>
      <vt:lpstr>LOS LOGROS DE LA REVISIÓN</vt:lpstr>
      <vt:lpstr>IMPORTANCIA DE LAS REFERENCIAS BIBLIOGRÁFICAS</vt:lpstr>
      <vt:lpstr>LA REFERENCIA BIBLIOGRAFICA</vt:lpstr>
      <vt:lpstr>MOTIVOS DE LA REFERENCIA BIBLIOGRAFICA</vt:lpstr>
      <vt:lpstr>GESTORES BIBLIOGRAFICOS</vt:lpstr>
      <vt:lpstr>CITAS Y REFERENCIAS. USO.</vt:lpstr>
      <vt:lpstr>TAREA 4: REFERENCIAS BIBLIOGRAFICAS (como parte del plan de investigación)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METODOLOGIA DE LA INVESTIGACION ECONÓMICA</dc:title>
  <dc:creator>pedro barrientos</dc:creator>
  <cp:lastModifiedBy>Pedro Barrientos Felipa</cp:lastModifiedBy>
  <cp:revision>28</cp:revision>
  <dcterms:created xsi:type="dcterms:W3CDTF">2022-09-14T15:10:21Z</dcterms:created>
  <dcterms:modified xsi:type="dcterms:W3CDTF">2026-01-20T00:26:00Z</dcterms:modified>
</cp:coreProperties>
</file>